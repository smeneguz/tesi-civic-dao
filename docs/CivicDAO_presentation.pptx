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559" r:id="rId2"/>
    <p:sldId id="560" r:id="rId3"/>
    <p:sldId id="561" r:id="rId4"/>
    <p:sldId id="562" r:id="rId5"/>
    <p:sldId id="563" r:id="rId6"/>
    <p:sldId id="564" r:id="rId7"/>
    <p:sldId id="565" r:id="rId8"/>
    <p:sldId id="566" r:id="rId9"/>
    <p:sldId id="567" r:id="rId10"/>
    <p:sldId id="568" r:id="rId11"/>
    <p:sldId id="569" r:id="rId12"/>
    <p:sldId id="570" r:id="rId13"/>
    <p:sldId id="571" r:id="rId14"/>
    <p:sldId id="572" r:id="rId15"/>
    <p:sldId id="471" r:id="rId16"/>
    <p:sldId id="550" r:id="rId17"/>
    <p:sldId id="551" r:id="rId18"/>
    <p:sldId id="552" r:id="rId19"/>
    <p:sldId id="553" r:id="rId20"/>
    <p:sldId id="554" r:id="rId21"/>
    <p:sldId id="555" r:id="rId22"/>
    <p:sldId id="556" r:id="rId23"/>
    <p:sldId id="557" r:id="rId24"/>
    <p:sldId id="558" r:id="rId25"/>
    <p:sldId id="573" r:id="rId26"/>
    <p:sldId id="486" r:id="rId27"/>
    <p:sldId id="515" r:id="rId28"/>
    <p:sldId id="516" r:id="rId29"/>
    <p:sldId id="487" r:id="rId30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10" y="4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5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579" y="0"/>
            <a:ext cx="518379" cy="6168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1141" y="1056371"/>
            <a:ext cx="1223517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357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57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57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57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579" y="0"/>
            <a:ext cx="518379" cy="6168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7295" y="243570"/>
            <a:ext cx="3903345" cy="379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357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9130" y="1122095"/>
            <a:ext cx="3681095" cy="1395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4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575" y="41"/>
            <a:ext cx="2534382" cy="3239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579" y="0"/>
            <a:ext cx="518379" cy="6168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770051"/>
            <a:ext cx="3588385" cy="1411605"/>
          </a:xfrm>
          <a:custGeom>
            <a:avLst/>
            <a:gdLst/>
            <a:ahLst/>
            <a:cxnLst/>
            <a:rect l="l" t="t" r="r" b="b"/>
            <a:pathLst>
              <a:path w="3588385" h="1411605">
                <a:moveTo>
                  <a:pt x="3588131" y="0"/>
                </a:moveTo>
                <a:lnTo>
                  <a:pt x="0" y="0"/>
                </a:lnTo>
                <a:lnTo>
                  <a:pt x="0" y="1411363"/>
                </a:lnTo>
                <a:lnTo>
                  <a:pt x="3588131" y="1411363"/>
                </a:lnTo>
                <a:lnTo>
                  <a:pt x="35881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61149" y="829523"/>
            <a:ext cx="7156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CivicDAO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1</a:t>
            </a:fld>
            <a:r>
              <a:rPr spc="-20" dirty="0"/>
              <a:t>/14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1149" y="1001601"/>
            <a:ext cx="2492375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499"/>
              </a:lnSpc>
              <a:spcBef>
                <a:spcPts val="100"/>
              </a:spcBef>
            </a:pPr>
            <a:r>
              <a:rPr sz="900" spc="-10" dirty="0">
                <a:solidFill>
                  <a:srgbClr val="003576"/>
                </a:solidFill>
                <a:latin typeface="Calibri"/>
                <a:cs typeface="Calibri"/>
              </a:rPr>
              <a:t>Design</a:t>
            </a:r>
            <a:r>
              <a:rPr sz="900" spc="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and</a:t>
            </a:r>
            <a:r>
              <a:rPr sz="900" spc="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003576"/>
                </a:solidFill>
                <a:latin typeface="Calibri"/>
                <a:cs typeface="Calibri"/>
              </a:rPr>
              <a:t>Implementation</a:t>
            </a:r>
            <a:r>
              <a:rPr sz="900" spc="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of</a:t>
            </a:r>
            <a:r>
              <a:rPr sz="900" spc="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a</a:t>
            </a:r>
            <a:r>
              <a:rPr sz="900" spc="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576"/>
                </a:solidFill>
                <a:latin typeface="Calibri"/>
                <a:cs typeface="Calibri"/>
              </a:rPr>
              <a:t>Neighborhood</a:t>
            </a:r>
            <a:r>
              <a:rPr sz="900" spc="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003576"/>
                </a:solidFill>
                <a:latin typeface="Calibri"/>
                <a:cs typeface="Calibri"/>
              </a:rPr>
              <a:t>DAO</a:t>
            </a:r>
            <a:r>
              <a:rPr sz="900" spc="50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for the </a:t>
            </a:r>
            <a:r>
              <a:rPr sz="900" spc="-10" dirty="0">
                <a:solidFill>
                  <a:srgbClr val="003576"/>
                </a:solidFill>
                <a:latin typeface="Calibri"/>
                <a:cs typeface="Calibri"/>
              </a:rPr>
              <a:t>Participatory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576"/>
                </a:solidFill>
                <a:latin typeface="Calibri"/>
                <a:cs typeface="Calibri"/>
              </a:rPr>
              <a:t>Governance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 of </a:t>
            </a:r>
            <a:r>
              <a:rPr sz="900" spc="-10" dirty="0">
                <a:solidFill>
                  <a:srgbClr val="003576"/>
                </a:solidFill>
                <a:latin typeface="Calibri"/>
                <a:cs typeface="Calibri"/>
              </a:rPr>
              <a:t>Common</a:t>
            </a: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576"/>
                </a:solidFill>
                <a:latin typeface="Calibri"/>
                <a:cs typeface="Calibri"/>
              </a:rPr>
              <a:t>Goods</a:t>
            </a:r>
            <a:endParaRPr lang="it-IT" sz="900" spc="-10" dirty="0">
              <a:solidFill>
                <a:srgbClr val="003576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25499"/>
              </a:lnSpc>
              <a:spcBef>
                <a:spcPts val="100"/>
              </a:spcBef>
            </a:pPr>
            <a:endParaRPr lang="it-IT" sz="900" spc="-10" dirty="0">
              <a:solidFill>
                <a:srgbClr val="003576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25499"/>
              </a:lnSpc>
              <a:spcBef>
                <a:spcPts val="100"/>
              </a:spcBef>
            </a:pPr>
            <a:r>
              <a:rPr sz="900" i="1" spc="-10" dirty="0">
                <a:solidFill>
                  <a:schemeClr val="tx1"/>
                </a:solidFill>
                <a:latin typeface="Calibri"/>
                <a:cs typeface="Calibri"/>
              </a:rPr>
              <a:t>Master’s</a:t>
            </a:r>
            <a:r>
              <a:rPr sz="900" i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chemeClr val="tx1"/>
                </a:solidFill>
                <a:latin typeface="Calibri"/>
                <a:cs typeface="Calibri"/>
              </a:rPr>
              <a:t>Degree</a:t>
            </a:r>
            <a:r>
              <a:rPr sz="900" i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900" i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chemeClr val="tx1"/>
                </a:solidFill>
                <a:latin typeface="Calibri"/>
                <a:cs typeface="Calibri"/>
              </a:rPr>
              <a:t>Cybersecurity</a:t>
            </a:r>
            <a:endParaRPr sz="900" i="1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ts val="930"/>
              </a:lnSpc>
              <a:spcBef>
                <a:spcPts val="375"/>
              </a:spcBef>
            </a:pPr>
            <a:r>
              <a:rPr sz="800" b="1" spc="-10" dirty="0">
                <a:latin typeface="Calibri"/>
                <a:cs typeface="Calibri"/>
              </a:rPr>
              <a:t>Andrea</a:t>
            </a:r>
            <a:r>
              <a:rPr sz="800" b="1" spc="5" dirty="0">
                <a:latin typeface="Calibri"/>
                <a:cs typeface="Calibri"/>
              </a:rPr>
              <a:t> </a:t>
            </a:r>
            <a:r>
              <a:rPr sz="800" b="1" spc="-20" dirty="0">
                <a:latin typeface="Calibri"/>
                <a:cs typeface="Calibri"/>
              </a:rPr>
              <a:t>Bobò</a:t>
            </a:r>
            <a:endParaRPr sz="800" dirty="0">
              <a:latin typeface="Calibri"/>
              <a:cs typeface="Calibri"/>
            </a:endParaRPr>
          </a:p>
          <a:p>
            <a:pPr marL="12700">
              <a:lnSpc>
                <a:spcPts val="675"/>
              </a:lnSpc>
            </a:pPr>
            <a:r>
              <a:rPr sz="600" dirty="0">
                <a:latin typeface="Calibri"/>
                <a:cs typeface="Calibri"/>
              </a:rPr>
              <a:t>Supervisor:</a:t>
            </a:r>
            <a:r>
              <a:rPr sz="600" spc="50" dirty="0">
                <a:latin typeface="Calibri"/>
                <a:cs typeface="Calibri"/>
              </a:rPr>
              <a:t> </a:t>
            </a:r>
            <a:r>
              <a:rPr sz="600" spc="-20" dirty="0">
                <a:latin typeface="Calibri"/>
                <a:cs typeface="Calibri"/>
              </a:rPr>
              <a:t>Prof.</a:t>
            </a:r>
            <a:r>
              <a:rPr sz="600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Danilo</a:t>
            </a:r>
            <a:r>
              <a:rPr sz="600" spc="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Bazzanella</a:t>
            </a:r>
            <a:endParaRPr sz="600" dirty="0">
              <a:latin typeface="Calibri"/>
              <a:cs typeface="Calibri"/>
            </a:endParaRPr>
          </a:p>
          <a:p>
            <a:pPr marL="12700">
              <a:lnSpc>
                <a:spcPts val="710"/>
              </a:lnSpc>
            </a:pPr>
            <a:r>
              <a:rPr sz="600" spc="-10" dirty="0">
                <a:latin typeface="Calibri"/>
                <a:cs typeface="Calibri"/>
              </a:rPr>
              <a:t>Co-</a:t>
            </a:r>
            <a:r>
              <a:rPr sz="600" dirty="0">
                <a:latin typeface="Calibri"/>
                <a:cs typeface="Calibri"/>
              </a:rPr>
              <a:t>supervisors:</a:t>
            </a:r>
            <a:r>
              <a:rPr sz="600" spc="55" dirty="0">
                <a:latin typeface="Calibri"/>
                <a:cs typeface="Calibri"/>
              </a:rPr>
              <a:t> </a:t>
            </a:r>
            <a:r>
              <a:rPr sz="600" spc="-30" dirty="0">
                <a:latin typeface="Calibri"/>
                <a:cs typeface="Calibri"/>
              </a:rPr>
              <a:t>Dr.</a:t>
            </a:r>
            <a:r>
              <a:rPr sz="600" spc="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Alfredo</a:t>
            </a:r>
            <a:r>
              <a:rPr sz="600" spc="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Favenza,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30" dirty="0">
                <a:latin typeface="Calibri"/>
                <a:cs typeface="Calibri"/>
              </a:rPr>
              <a:t>Dr.</a:t>
            </a:r>
            <a:r>
              <a:rPr sz="600" spc="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Silvio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Meneguzzo</a:t>
            </a:r>
            <a:endParaRPr sz="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600" spc="-10" dirty="0">
                <a:latin typeface="Calibri"/>
                <a:cs typeface="Calibri"/>
              </a:rPr>
              <a:t>Graduation</a:t>
            </a:r>
            <a:r>
              <a:rPr sz="600" spc="20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Session</a:t>
            </a:r>
            <a:r>
              <a:rPr sz="600" spc="20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–</a:t>
            </a:r>
            <a:r>
              <a:rPr sz="600" spc="20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October</a:t>
            </a:r>
            <a:r>
              <a:rPr sz="600" spc="20" dirty="0">
                <a:latin typeface="Calibri"/>
                <a:cs typeface="Calibri"/>
              </a:rPr>
              <a:t> </a:t>
            </a:r>
            <a:r>
              <a:rPr sz="600" spc="-20" dirty="0">
                <a:latin typeface="Calibri"/>
                <a:cs typeface="Calibri"/>
              </a:rPr>
              <a:t>2026</a:t>
            </a:r>
            <a:endParaRPr sz="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4612000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2</a:t>
            </a:fld>
            <a:r>
              <a:rPr spc="-20" dirty="0"/>
              <a:t>/14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0B5254-3CC1-40BF-A7BF-A6A834A14FDF}"/>
              </a:ext>
            </a:extLst>
          </p:cNvPr>
          <p:cNvSpPr/>
          <p:nvPr/>
        </p:nvSpPr>
        <p:spPr>
          <a:xfrm>
            <a:off x="711200" y="1143000"/>
            <a:ext cx="228600" cy="228600"/>
          </a:xfrm>
          <a:prstGeom prst="ellipse">
            <a:avLst/>
          </a:prstGeom>
          <a:solidFill>
            <a:srgbClr val="00357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8B40F0-4E1D-41E5-AA7D-1FC8BFB5C80F}"/>
              </a:ext>
            </a:extLst>
          </p:cNvPr>
          <p:cNvSpPr txBox="1"/>
          <p:nvPr/>
        </p:nvSpPr>
        <p:spPr>
          <a:xfrm>
            <a:off x="1066800" y="1107209"/>
            <a:ext cx="406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576"/>
                </a:solidFill>
                <a:latin typeface="Calibri"/>
                <a:ea typeface="Calibri"/>
                <a:cs typeface="Calibri"/>
              </a:rPr>
              <a:t>State of the art</a:t>
            </a:r>
            <a:endParaRPr lang="it-IT" sz="1200" b="1" dirty="0">
              <a:solidFill>
                <a:srgbClr val="00357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D384A2D-C8BA-4AF0-BB99-C0338D693DB1}"/>
              </a:ext>
            </a:extLst>
          </p:cNvPr>
          <p:cNvSpPr/>
          <p:nvPr/>
        </p:nvSpPr>
        <p:spPr>
          <a:xfrm>
            <a:off x="711200" y="1498600"/>
            <a:ext cx="228600" cy="228600"/>
          </a:xfrm>
          <a:prstGeom prst="ellipse">
            <a:avLst/>
          </a:prstGeom>
          <a:solidFill>
            <a:srgbClr val="00357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64D8A8-1942-43FC-8FA5-CEB660164EE7}"/>
              </a:ext>
            </a:extLst>
          </p:cNvPr>
          <p:cNvSpPr txBox="1"/>
          <p:nvPr/>
        </p:nvSpPr>
        <p:spPr>
          <a:xfrm>
            <a:off x="1066800" y="1460500"/>
            <a:ext cx="406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200" b="1">
                <a:solidFill>
                  <a:srgbClr val="003576"/>
                </a:solidFill>
                <a:latin typeface="Calibri"/>
                <a:ea typeface="Calibri"/>
                <a:cs typeface="Calibri"/>
              </a:rPr>
              <a:t>Design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741324-7C37-497E-83C6-08CED50E6A62}"/>
              </a:ext>
            </a:extLst>
          </p:cNvPr>
          <p:cNvSpPr/>
          <p:nvPr/>
        </p:nvSpPr>
        <p:spPr>
          <a:xfrm>
            <a:off x="711200" y="1854200"/>
            <a:ext cx="228600" cy="228600"/>
          </a:xfrm>
          <a:prstGeom prst="ellipse">
            <a:avLst/>
          </a:prstGeom>
          <a:solidFill>
            <a:srgbClr val="00357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508A42-71DA-4E1B-81FC-B377D86D56FA}"/>
              </a:ext>
            </a:extLst>
          </p:cNvPr>
          <p:cNvSpPr txBox="1"/>
          <p:nvPr/>
        </p:nvSpPr>
        <p:spPr>
          <a:xfrm>
            <a:off x="1066800" y="1816100"/>
            <a:ext cx="406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200" b="1">
                <a:solidFill>
                  <a:srgbClr val="003576"/>
                </a:solidFill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D65565-9BF1-4F19-A807-C7109F837CC0}"/>
              </a:ext>
            </a:extLst>
          </p:cNvPr>
          <p:cNvSpPr/>
          <p:nvPr/>
        </p:nvSpPr>
        <p:spPr>
          <a:xfrm>
            <a:off x="711200" y="2209800"/>
            <a:ext cx="228600" cy="228600"/>
          </a:xfrm>
          <a:prstGeom prst="ellipse">
            <a:avLst/>
          </a:prstGeom>
          <a:solidFill>
            <a:srgbClr val="00357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32418B-6042-4810-9FB7-9DC2DADC76C8}"/>
              </a:ext>
            </a:extLst>
          </p:cNvPr>
          <p:cNvSpPr txBox="1"/>
          <p:nvPr/>
        </p:nvSpPr>
        <p:spPr>
          <a:xfrm>
            <a:off x="1066800" y="2171700"/>
            <a:ext cx="406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200" b="1">
                <a:solidFill>
                  <a:srgbClr val="003576"/>
                </a:solidFill>
                <a:latin typeface="Calibri"/>
                <a:ea typeface="Calibri"/>
                <a:cs typeface="Calibri"/>
              </a:rPr>
              <a:t>Results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AB38E99-3A6F-4714-BC4F-6E523CE25992}"/>
              </a:ext>
            </a:extLst>
          </p:cNvPr>
          <p:cNvSpPr/>
          <p:nvPr/>
        </p:nvSpPr>
        <p:spPr>
          <a:xfrm>
            <a:off x="711200" y="2565400"/>
            <a:ext cx="228600" cy="228600"/>
          </a:xfrm>
          <a:prstGeom prst="ellipse">
            <a:avLst/>
          </a:prstGeom>
          <a:solidFill>
            <a:srgbClr val="00357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68768-0DCB-4A73-BA07-1D7E5D464CF6}"/>
              </a:ext>
            </a:extLst>
          </p:cNvPr>
          <p:cNvSpPr txBox="1"/>
          <p:nvPr/>
        </p:nvSpPr>
        <p:spPr>
          <a:xfrm>
            <a:off x="1066800" y="2527300"/>
            <a:ext cx="406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200" b="1" dirty="0" err="1">
                <a:solidFill>
                  <a:srgbClr val="003576"/>
                </a:solidFill>
                <a:latin typeface="Calibri"/>
                <a:ea typeface="Calibri"/>
                <a:cs typeface="Calibri"/>
              </a:rPr>
              <a:t>Conclusions</a:t>
            </a:r>
            <a:endParaRPr lang="it-IT" sz="1200" b="1" dirty="0">
              <a:solidFill>
                <a:srgbClr val="00357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07987-E695-43AF-B064-271B2C7B88A1}"/>
              </a:ext>
            </a:extLst>
          </p:cNvPr>
          <p:cNvSpPr/>
          <p:nvPr/>
        </p:nvSpPr>
        <p:spPr>
          <a:xfrm>
            <a:off x="711200" y="787400"/>
            <a:ext cx="228600" cy="228600"/>
          </a:xfrm>
          <a:prstGeom prst="ellipse">
            <a:avLst/>
          </a:prstGeom>
          <a:solidFill>
            <a:srgbClr val="00357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35E77-F41B-45D1-A56C-D2A7CA4EB659}"/>
              </a:ext>
            </a:extLst>
          </p:cNvPr>
          <p:cNvSpPr txBox="1"/>
          <p:nvPr/>
        </p:nvSpPr>
        <p:spPr>
          <a:xfrm>
            <a:off x="1066800" y="749300"/>
            <a:ext cx="406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200" b="1" dirty="0">
                <a:solidFill>
                  <a:srgbClr val="003576"/>
                </a:solidFill>
                <a:latin typeface="Calibri"/>
                <a:ea typeface="Calibri"/>
                <a:cs typeface="Calibri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024725060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DAOs</a:t>
            </a:r>
            <a:r>
              <a:rPr spc="85" dirty="0"/>
              <a:t> </a:t>
            </a:r>
            <a:r>
              <a:rPr dirty="0"/>
              <a:t>in</a:t>
            </a:r>
            <a:r>
              <a:rPr spc="85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spc="-20" dirty="0"/>
              <a:t>nutshell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1</a:t>
            </a:r>
            <a:r>
              <a:rPr sz="900" b="0" spc="130" dirty="0">
                <a:latin typeface="Calibri"/>
                <a:cs typeface="Calibri"/>
              </a:rPr>
              <a:t> </a:t>
            </a:r>
            <a:r>
              <a:rPr sz="900" b="0" spc="-10" dirty="0">
                <a:latin typeface="Calibri"/>
                <a:cs typeface="Calibri"/>
              </a:rPr>
              <a:t>Background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3</a:t>
            </a:fld>
            <a:r>
              <a:rPr spc="-20" dirty="0"/>
              <a:t>/14</a:t>
            </a:r>
          </a:p>
        </p:txBody>
      </p:sp>
      <p:sp>
        <p:nvSpPr>
          <p:cNvPr id="101" name="Intro"/>
          <p:cNvSpPr txBox="1"/>
          <p:nvPr/>
        </p:nvSpPr>
        <p:spPr>
          <a:xfrm>
            <a:off x="355600" y="685800"/>
            <a:ext cx="5054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900" b="1" dirty="0">
                <a:solidFill>
                  <a:srgbClr val="404040"/>
                </a:solidFill>
                <a:latin typeface="Calibri"/>
                <a:cs typeface="Calibri"/>
              </a:rPr>
              <a:t>Decentralized Autonomous Organization</a:t>
            </a:r>
            <a:r>
              <a:rPr lang="en-US" sz="900" dirty="0">
                <a:solidFill>
                  <a:srgbClr val="404040"/>
                </a:solidFill>
                <a:latin typeface="Calibri"/>
                <a:cs typeface="Calibri"/>
              </a:rPr>
              <a:t>: a community that makes and enforces collective decisions without a central authority, driven by an on-chain governance.</a:t>
            </a:r>
          </a:p>
        </p:txBody>
      </p:sp>
      <p:sp>
        <p:nvSpPr>
          <p:cNvPr id="102" name="Flow 1"/>
          <p:cNvSpPr txBox="1"/>
          <p:nvPr/>
        </p:nvSpPr>
        <p:spPr>
          <a:xfrm>
            <a:off x="355600" y="1308100"/>
            <a:ext cx="1092200" cy="482600"/>
          </a:xfrm>
          <a:prstGeom prst="roundRect">
            <a:avLst>
              <a:gd name="adj" fmla="val 9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404040"/>
                </a:solidFill>
                <a:latin typeface="Calibri"/>
                <a:cs typeface="Calibri"/>
              </a:rPr>
              <a:t>Proposal</a:t>
            </a:r>
          </a:p>
        </p:txBody>
      </p:sp>
      <p:sp>
        <p:nvSpPr>
          <p:cNvPr id="103" name="Flow 2"/>
          <p:cNvSpPr txBox="1"/>
          <p:nvPr/>
        </p:nvSpPr>
        <p:spPr>
          <a:xfrm>
            <a:off x="1676400" y="1308100"/>
            <a:ext cx="1092200" cy="482600"/>
          </a:xfrm>
          <a:prstGeom prst="roundRect">
            <a:avLst>
              <a:gd name="adj" fmla="val 9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404040"/>
                </a:solidFill>
                <a:latin typeface="Calibri"/>
                <a:cs typeface="Calibri"/>
              </a:rPr>
              <a:t>Discussion</a:t>
            </a:r>
          </a:p>
        </p:txBody>
      </p:sp>
      <p:sp>
        <p:nvSpPr>
          <p:cNvPr id="104" name="Flow 3"/>
          <p:cNvSpPr txBox="1"/>
          <p:nvPr/>
        </p:nvSpPr>
        <p:spPr>
          <a:xfrm>
            <a:off x="2997200" y="1308100"/>
            <a:ext cx="1092200" cy="482600"/>
          </a:xfrm>
          <a:prstGeom prst="roundRect">
            <a:avLst>
              <a:gd name="adj" fmla="val 9000"/>
            </a:avLst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FFFFFF"/>
                </a:solidFill>
                <a:latin typeface="Calibri"/>
                <a:cs typeface="Calibri"/>
              </a:rPr>
              <a:t>Vote</a:t>
            </a:r>
          </a:p>
        </p:txBody>
      </p:sp>
      <p:sp>
        <p:nvSpPr>
          <p:cNvPr id="105" name="Flow 4"/>
          <p:cNvSpPr txBox="1"/>
          <p:nvPr/>
        </p:nvSpPr>
        <p:spPr>
          <a:xfrm>
            <a:off x="4318000" y="1308100"/>
            <a:ext cx="1092200" cy="482600"/>
          </a:xfrm>
          <a:prstGeom prst="roundRect">
            <a:avLst>
              <a:gd name="adj" fmla="val 9000"/>
            </a:avLst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</a:p>
        </p:txBody>
      </p:sp>
      <p:sp>
        <p:nvSpPr>
          <p:cNvPr id="106" name="Arrow 1"/>
          <p:cNvSpPr txBox="1"/>
          <p:nvPr/>
        </p:nvSpPr>
        <p:spPr>
          <a:xfrm>
            <a:off x="1473200" y="1498600"/>
            <a:ext cx="177800" cy="101600"/>
          </a:xfrm>
          <a:prstGeom prst="rightArrow">
            <a:avLst/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07" name="Arrow 2"/>
          <p:cNvSpPr txBox="1"/>
          <p:nvPr/>
        </p:nvSpPr>
        <p:spPr>
          <a:xfrm>
            <a:off x="2794000" y="1498600"/>
            <a:ext cx="177800" cy="101600"/>
          </a:xfrm>
          <a:prstGeom prst="rightArrow">
            <a:avLst/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08" name="Arrow 3"/>
          <p:cNvSpPr txBox="1"/>
          <p:nvPr/>
        </p:nvSpPr>
        <p:spPr>
          <a:xfrm>
            <a:off x="4114800" y="1498600"/>
            <a:ext cx="177800" cy="101600"/>
          </a:xfrm>
          <a:prstGeom prst="rightArrow">
            <a:avLst/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11" name="Card head 1"/>
          <p:cNvSpPr txBox="1"/>
          <p:nvPr/>
        </p:nvSpPr>
        <p:spPr>
          <a:xfrm>
            <a:off x="355600" y="2133600"/>
            <a:ext cx="1600200" cy="203200"/>
          </a:xfrm>
          <a:prstGeom prst="rect">
            <a:avLst/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FFFFFF"/>
                </a:solidFill>
                <a:latin typeface="Calibri"/>
                <a:cs typeface="Calibri"/>
              </a:rPr>
              <a:t>Smart contracts</a:t>
            </a:r>
          </a:p>
        </p:txBody>
      </p:sp>
      <p:sp>
        <p:nvSpPr>
          <p:cNvPr id="112" name="Card body 1"/>
          <p:cNvSpPr txBox="1"/>
          <p:nvPr/>
        </p:nvSpPr>
        <p:spPr>
          <a:xfrm>
            <a:off x="355600" y="2336800"/>
            <a:ext cx="1600200" cy="533400"/>
          </a:xfrm>
          <a:prstGeom prst="rect">
            <a:avLst/>
          </a:prstGeom>
          <a:solidFill>
            <a:srgbClr val="EBEBE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404040"/>
                </a:solidFill>
                <a:latin typeface="Calibri"/>
                <a:cs typeface="Calibri"/>
              </a:rPr>
              <a:t>Self-executing code that enforces the DAO’s rules</a:t>
            </a:r>
          </a:p>
        </p:txBody>
      </p:sp>
      <p:sp>
        <p:nvSpPr>
          <p:cNvPr id="113" name="Card head 2"/>
          <p:cNvSpPr txBox="1"/>
          <p:nvPr/>
        </p:nvSpPr>
        <p:spPr>
          <a:xfrm>
            <a:off x="2082800" y="2133600"/>
            <a:ext cx="1600200" cy="203200"/>
          </a:xfrm>
          <a:prstGeom prst="rect">
            <a:avLst/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FFFFFF"/>
                </a:solidFill>
                <a:latin typeface="Calibri"/>
                <a:cs typeface="Calibri"/>
              </a:rPr>
              <a:t>Distributed Ledger</a:t>
            </a:r>
          </a:p>
        </p:txBody>
      </p:sp>
      <p:sp>
        <p:nvSpPr>
          <p:cNvPr id="114" name="Card body 2"/>
          <p:cNvSpPr txBox="1"/>
          <p:nvPr/>
        </p:nvSpPr>
        <p:spPr>
          <a:xfrm>
            <a:off x="2082800" y="2336800"/>
            <a:ext cx="1600200" cy="533400"/>
          </a:xfrm>
          <a:prstGeom prst="rect">
            <a:avLst/>
          </a:prstGeom>
          <a:solidFill>
            <a:srgbClr val="EBEBE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404040"/>
                </a:solidFill>
                <a:latin typeface="Calibri"/>
                <a:cs typeface="Calibri"/>
              </a:rPr>
              <a:t>Shared and immutable record of all transactions </a:t>
            </a:r>
          </a:p>
        </p:txBody>
      </p:sp>
      <p:sp>
        <p:nvSpPr>
          <p:cNvPr id="115" name="Card head 3"/>
          <p:cNvSpPr txBox="1"/>
          <p:nvPr/>
        </p:nvSpPr>
        <p:spPr>
          <a:xfrm>
            <a:off x="3810000" y="2133600"/>
            <a:ext cx="1600200" cy="203200"/>
          </a:xfrm>
          <a:prstGeom prst="rect">
            <a:avLst/>
          </a:prstGeom>
          <a:solidFill>
            <a:srgbClr val="00357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dirty="0">
                <a:solidFill>
                  <a:srgbClr val="FFFFFF"/>
                </a:solidFill>
                <a:latin typeface="Calibri"/>
                <a:cs typeface="Calibri"/>
              </a:rPr>
              <a:t>Voting Mechanisms</a:t>
            </a:r>
          </a:p>
        </p:txBody>
      </p:sp>
      <p:sp>
        <p:nvSpPr>
          <p:cNvPr id="116" name="Card body 3"/>
          <p:cNvSpPr txBox="1"/>
          <p:nvPr/>
        </p:nvSpPr>
        <p:spPr>
          <a:xfrm>
            <a:off x="3810000" y="2336800"/>
            <a:ext cx="1600200" cy="533400"/>
          </a:xfrm>
          <a:prstGeom prst="rect">
            <a:avLst/>
          </a:prstGeom>
          <a:solidFill>
            <a:srgbClr val="EBEBE6"/>
          </a:solidFill>
          <a:ln>
            <a:noFill/>
          </a:ln>
        </p:spPr>
        <p:txBody>
          <a:bodyPr wrap="square" lIns="36000" tIns="14400" rIns="36000" bIns="14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404040"/>
                </a:solidFill>
                <a:latin typeface="Calibri"/>
                <a:cs typeface="Calibri"/>
              </a:rPr>
              <a:t>How members take collective decisions</a:t>
            </a:r>
          </a:p>
        </p:txBody>
      </p:sp>
    </p:spTree>
    <p:extLst>
      <p:ext uri="{BB962C8B-B14F-4D97-AF65-F5344CB8AC3E}">
        <p14:creationId xmlns:p14="http://schemas.microsoft.com/office/powerpoint/2010/main" val="3882070158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lang="en-US" dirty="0"/>
              <a:t>Existing approaches and their limits</a:t>
            </a:r>
            <a:endParaRPr spc="-20" dirty="0"/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2 State of the art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4</a:t>
            </a:fld>
            <a:r>
              <a:rPr spc="-20" dirty="0"/>
              <a:t>/14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860297"/>
            <a:ext cx="1638935" cy="1583690"/>
            <a:chOff x="309193" y="860297"/>
            <a:chExt cx="1638935" cy="1583690"/>
          </a:xfrm>
        </p:grpSpPr>
        <p:sp>
          <p:nvSpPr>
            <p:cNvPr id="4" name="object 4"/>
            <p:cNvSpPr/>
            <p:nvPr/>
          </p:nvSpPr>
          <p:spPr>
            <a:xfrm>
              <a:off x="309193" y="860297"/>
              <a:ext cx="1638935" cy="194310"/>
            </a:xfrm>
            <a:custGeom>
              <a:avLst/>
              <a:gdLst/>
              <a:ahLst/>
              <a:cxnLst/>
              <a:rect l="l" t="t" r="r" b="b"/>
              <a:pathLst>
                <a:path w="1638935" h="194309">
                  <a:moveTo>
                    <a:pt x="158798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3812"/>
                  </a:lnTo>
                  <a:lnTo>
                    <a:pt x="1638783" y="193812"/>
                  </a:lnTo>
                  <a:lnTo>
                    <a:pt x="1638783" y="50800"/>
                  </a:lnTo>
                  <a:lnTo>
                    <a:pt x="1634775" y="31075"/>
                  </a:lnTo>
                  <a:lnTo>
                    <a:pt x="1623861" y="14922"/>
                  </a:lnTo>
                  <a:lnTo>
                    <a:pt x="1607708" y="4008"/>
                  </a:lnTo>
                  <a:lnTo>
                    <a:pt x="1587983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041463"/>
              <a:ext cx="1638784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9193" y="1085728"/>
              <a:ext cx="1638935" cy="1358265"/>
            </a:xfrm>
            <a:custGeom>
              <a:avLst/>
              <a:gdLst/>
              <a:ahLst/>
              <a:cxnLst/>
              <a:rect l="l" t="t" r="r" b="b"/>
              <a:pathLst>
                <a:path w="1638935" h="1358264">
                  <a:moveTo>
                    <a:pt x="1638783" y="0"/>
                  </a:moveTo>
                  <a:lnTo>
                    <a:pt x="0" y="0"/>
                  </a:lnTo>
                  <a:lnTo>
                    <a:pt x="0" y="1306926"/>
                  </a:lnTo>
                  <a:lnTo>
                    <a:pt x="4008" y="1326650"/>
                  </a:lnTo>
                  <a:lnTo>
                    <a:pt x="14922" y="1342803"/>
                  </a:lnTo>
                  <a:lnTo>
                    <a:pt x="31075" y="1353717"/>
                  </a:lnTo>
                  <a:lnTo>
                    <a:pt x="50800" y="1357726"/>
                  </a:lnTo>
                  <a:lnTo>
                    <a:pt x="1587983" y="1357726"/>
                  </a:lnTo>
                  <a:lnTo>
                    <a:pt x="1607708" y="1353717"/>
                  </a:lnTo>
                  <a:lnTo>
                    <a:pt x="1623861" y="1342803"/>
                  </a:lnTo>
                  <a:lnTo>
                    <a:pt x="1634775" y="1326650"/>
                  </a:lnTo>
                  <a:lnTo>
                    <a:pt x="1638783" y="1306926"/>
                  </a:lnTo>
                  <a:lnTo>
                    <a:pt x="1638783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0671" y="785821"/>
            <a:ext cx="956310" cy="4400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Civic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platforms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900" i="1" dirty="0">
                <a:solidFill>
                  <a:srgbClr val="3F3F3F"/>
                </a:solidFill>
                <a:latin typeface="Calibri"/>
                <a:cs typeface="Calibri"/>
              </a:rPr>
              <a:t>Decidim,</a:t>
            </a:r>
            <a:r>
              <a:rPr sz="900" i="1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3F3F3F"/>
                </a:solidFill>
                <a:latin typeface="Calibri"/>
                <a:cs typeface="Calibri"/>
              </a:rPr>
              <a:t>Consul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137" y="1291292"/>
            <a:ext cx="1397635" cy="11239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7640" marR="201930" indent="-155575">
              <a:lnSpc>
                <a:spcPct val="101499"/>
              </a:lnSpc>
              <a:spcBef>
                <a:spcPts val="80"/>
              </a:spcBef>
              <a:buClr>
                <a:srgbClr val="0E8153"/>
              </a:buClr>
              <a:buFont typeface="PMingLiU-ExtB"/>
              <a:buChar char="✓"/>
              <a:tabLst>
                <a:tab pos="167640" algn="l"/>
              </a:tabLst>
            </a:pPr>
            <a:r>
              <a:rPr lang="it-IT" sz="900" spc="-1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900" spc="-10" dirty="0" err="1">
                <a:solidFill>
                  <a:srgbClr val="3F3F3F"/>
                </a:solidFill>
                <a:latin typeface="Calibri"/>
                <a:cs typeface="Calibri"/>
              </a:rPr>
              <a:t>nstitutionalized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scale</a:t>
            </a:r>
            <a:endParaRPr sz="900" dirty="0">
              <a:latin typeface="Calibri"/>
              <a:cs typeface="Calibri"/>
            </a:endParaRPr>
          </a:p>
          <a:p>
            <a:pPr marL="167640" marR="5080" indent="-134620">
              <a:lnSpc>
                <a:spcPct val="101499"/>
              </a:lnSpc>
              <a:spcBef>
                <a:spcPts val="495"/>
              </a:spcBef>
            </a:pPr>
            <a:r>
              <a:rPr sz="900" dirty="0">
                <a:solidFill>
                  <a:srgbClr val="BD3B37"/>
                </a:solidFill>
                <a:latin typeface="PMingLiU-ExtB"/>
                <a:cs typeface="PMingLiU-ExtB"/>
              </a:rPr>
              <a:t>C</a:t>
            </a:r>
            <a:r>
              <a:rPr sz="900" spc="320" dirty="0">
                <a:solidFill>
                  <a:srgbClr val="BD3B37"/>
                </a:solidFill>
                <a:latin typeface="PMingLiU-ExtB"/>
                <a:cs typeface="PMingLiU-ExtB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Broaden</a:t>
            </a:r>
            <a:r>
              <a:rPr sz="9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participation,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but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do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redistribute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endParaRPr sz="900" dirty="0">
              <a:latin typeface="Calibri"/>
              <a:cs typeface="Calibri"/>
            </a:endParaRPr>
          </a:p>
          <a:p>
            <a:pPr marL="167640" marR="224790" indent="-134620">
              <a:lnSpc>
                <a:spcPct val="101499"/>
              </a:lnSpc>
              <a:spcBef>
                <a:spcPts val="500"/>
              </a:spcBef>
            </a:pPr>
            <a:r>
              <a:rPr sz="900" dirty="0">
                <a:solidFill>
                  <a:srgbClr val="BD3B37"/>
                </a:solidFill>
                <a:latin typeface="PMingLiU-ExtB"/>
                <a:cs typeface="PMingLiU-ExtB"/>
              </a:rPr>
              <a:t>C</a:t>
            </a:r>
            <a:r>
              <a:rPr sz="900" spc="260" dirty="0">
                <a:solidFill>
                  <a:srgbClr val="BD3B37"/>
                </a:solidFill>
                <a:latin typeface="PMingLiU-ExtB"/>
                <a:cs typeface="PMingLiU-ExtB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Nothing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prevents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administration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ignoring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outcome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60612" y="860297"/>
            <a:ext cx="1638935" cy="1435735"/>
            <a:chOff x="2060612" y="860297"/>
            <a:chExt cx="1638935" cy="1435735"/>
          </a:xfrm>
        </p:grpSpPr>
        <p:sp>
          <p:nvSpPr>
            <p:cNvPr id="10" name="object 10"/>
            <p:cNvSpPr/>
            <p:nvPr/>
          </p:nvSpPr>
          <p:spPr>
            <a:xfrm>
              <a:off x="2060612" y="860297"/>
              <a:ext cx="1638935" cy="189230"/>
            </a:xfrm>
            <a:custGeom>
              <a:avLst/>
              <a:gdLst/>
              <a:ahLst/>
              <a:cxnLst/>
              <a:rect l="l" t="t" r="r" b="b"/>
              <a:pathLst>
                <a:path w="1638935" h="189230">
                  <a:moveTo>
                    <a:pt x="158798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919"/>
                  </a:lnTo>
                  <a:lnTo>
                    <a:pt x="1638783" y="188919"/>
                  </a:lnTo>
                  <a:lnTo>
                    <a:pt x="1638783" y="50800"/>
                  </a:lnTo>
                  <a:lnTo>
                    <a:pt x="1634775" y="31075"/>
                  </a:lnTo>
                  <a:lnTo>
                    <a:pt x="1623861" y="14922"/>
                  </a:lnTo>
                  <a:lnTo>
                    <a:pt x="1607708" y="4008"/>
                  </a:lnTo>
                  <a:lnTo>
                    <a:pt x="1587983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0612" y="1036561"/>
              <a:ext cx="1638784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60612" y="1080836"/>
              <a:ext cx="1638935" cy="1215390"/>
            </a:xfrm>
            <a:custGeom>
              <a:avLst/>
              <a:gdLst/>
              <a:ahLst/>
              <a:cxnLst/>
              <a:rect l="l" t="t" r="r" b="b"/>
              <a:pathLst>
                <a:path w="1638935" h="1215389">
                  <a:moveTo>
                    <a:pt x="1638783" y="0"/>
                  </a:moveTo>
                  <a:lnTo>
                    <a:pt x="0" y="0"/>
                  </a:lnTo>
                  <a:lnTo>
                    <a:pt x="0" y="1163965"/>
                  </a:lnTo>
                  <a:lnTo>
                    <a:pt x="4008" y="1183689"/>
                  </a:lnTo>
                  <a:lnTo>
                    <a:pt x="14922" y="1199842"/>
                  </a:lnTo>
                  <a:lnTo>
                    <a:pt x="31075" y="1210757"/>
                  </a:lnTo>
                  <a:lnTo>
                    <a:pt x="50800" y="1214765"/>
                  </a:lnTo>
                  <a:lnTo>
                    <a:pt x="1587983" y="1214765"/>
                  </a:lnTo>
                  <a:lnTo>
                    <a:pt x="1607708" y="1210757"/>
                  </a:lnTo>
                  <a:lnTo>
                    <a:pt x="1623861" y="1199842"/>
                  </a:lnTo>
                  <a:lnTo>
                    <a:pt x="1634775" y="1183689"/>
                  </a:lnTo>
                  <a:lnTo>
                    <a:pt x="1638783" y="1163965"/>
                  </a:lnTo>
                  <a:lnTo>
                    <a:pt x="1638783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1631" y="792340"/>
            <a:ext cx="1197610" cy="4286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Token-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2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DAOs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lang="it-IT" sz="900" i="1" spc="-10" dirty="0" err="1">
                <a:solidFill>
                  <a:srgbClr val="3F3F3F"/>
                </a:solidFill>
                <a:latin typeface="Calibri"/>
                <a:cs typeface="Calibri"/>
              </a:rPr>
              <a:t>Uniswap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20556" y="1286390"/>
            <a:ext cx="1421130" cy="8329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7640" marR="5080" indent="-155575">
              <a:lnSpc>
                <a:spcPct val="101499"/>
              </a:lnSpc>
              <a:spcBef>
                <a:spcPts val="80"/>
              </a:spcBef>
              <a:buClr>
                <a:srgbClr val="0E8153"/>
              </a:buClr>
              <a:buFont typeface="PMingLiU-ExtB"/>
              <a:buChar char="✓"/>
              <a:tabLst>
                <a:tab pos="167640" algn="l"/>
              </a:tabLst>
            </a:pP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Tamper-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evident,</a:t>
            </a:r>
            <a:r>
              <a:rPr sz="9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verifiable,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self-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executing</a:t>
            </a:r>
            <a:r>
              <a:rPr sz="9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decisions</a:t>
            </a:r>
            <a:endParaRPr sz="900" dirty="0">
              <a:latin typeface="Calibri"/>
              <a:cs typeface="Calibri"/>
            </a:endParaRPr>
          </a:p>
          <a:p>
            <a:pPr marL="167640" marR="197485" indent="-134620">
              <a:lnSpc>
                <a:spcPct val="101499"/>
              </a:lnSpc>
              <a:spcBef>
                <a:spcPts val="495"/>
              </a:spcBef>
            </a:pPr>
            <a:r>
              <a:rPr sz="900" dirty="0">
                <a:solidFill>
                  <a:srgbClr val="BD3B37"/>
                </a:solidFill>
                <a:latin typeface="PMingLiU-ExtB"/>
                <a:cs typeface="PMingLiU-ExtB"/>
              </a:rPr>
              <a:t>C</a:t>
            </a:r>
            <a:r>
              <a:rPr sz="900" spc="240" dirty="0">
                <a:solidFill>
                  <a:srgbClr val="BD3B37"/>
                </a:solidFill>
                <a:latin typeface="PMingLiU-ExtB"/>
                <a:cs typeface="PMingLiU-ExtB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Plutocracy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chronic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voter</a:t>
            </a:r>
            <a:r>
              <a:rPr sz="9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apathy</a:t>
            </a:r>
            <a:endParaRPr sz="900" dirty="0">
              <a:latin typeface="Calibri"/>
              <a:cs typeface="Calibri"/>
            </a:endParaRPr>
          </a:p>
          <a:p>
            <a:pPr marL="167640" marR="248285" indent="-134620">
              <a:lnSpc>
                <a:spcPct val="101499"/>
              </a:lnSpc>
              <a:spcBef>
                <a:spcPts val="500"/>
              </a:spcBef>
            </a:pPr>
            <a:r>
              <a:rPr sz="900" dirty="0">
                <a:solidFill>
                  <a:srgbClr val="BD3B37"/>
                </a:solidFill>
                <a:latin typeface="PMingLiU-ExtB"/>
                <a:cs typeface="PMingLiU-ExtB"/>
              </a:rPr>
              <a:t>C</a:t>
            </a:r>
            <a:r>
              <a:rPr sz="900" spc="295" dirty="0">
                <a:solidFill>
                  <a:srgbClr val="BD3B37"/>
                </a:solidFill>
                <a:latin typeface="PMingLiU-ExtB"/>
                <a:cs typeface="PMingLiU-ExtB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Uncertain legal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status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12031" y="860297"/>
            <a:ext cx="1638935" cy="1583878"/>
            <a:chOff x="3812031" y="860297"/>
            <a:chExt cx="1638935" cy="1583878"/>
          </a:xfrm>
        </p:grpSpPr>
        <p:sp>
          <p:nvSpPr>
            <p:cNvPr id="16" name="object 16"/>
            <p:cNvSpPr/>
            <p:nvPr/>
          </p:nvSpPr>
          <p:spPr>
            <a:xfrm>
              <a:off x="3812031" y="860297"/>
              <a:ext cx="1638935" cy="189230"/>
            </a:xfrm>
            <a:custGeom>
              <a:avLst/>
              <a:gdLst/>
              <a:ahLst/>
              <a:cxnLst/>
              <a:rect l="l" t="t" r="r" b="b"/>
              <a:pathLst>
                <a:path w="1638935" h="189230">
                  <a:moveTo>
                    <a:pt x="158798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919"/>
                  </a:lnTo>
                  <a:lnTo>
                    <a:pt x="1638783" y="188919"/>
                  </a:lnTo>
                  <a:lnTo>
                    <a:pt x="1638783" y="50800"/>
                  </a:lnTo>
                  <a:lnTo>
                    <a:pt x="1634775" y="31075"/>
                  </a:lnTo>
                  <a:lnTo>
                    <a:pt x="1623861" y="14922"/>
                  </a:lnTo>
                  <a:lnTo>
                    <a:pt x="1607708" y="4008"/>
                  </a:lnTo>
                  <a:lnTo>
                    <a:pt x="1587983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2031" y="1036561"/>
              <a:ext cx="1638784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12031" y="1080830"/>
              <a:ext cx="1638935" cy="1363345"/>
            </a:xfrm>
            <a:custGeom>
              <a:avLst/>
              <a:gdLst/>
              <a:ahLst/>
              <a:cxnLst/>
              <a:rect l="l" t="t" r="r" b="b"/>
              <a:pathLst>
                <a:path w="1638935" h="1217930">
                  <a:moveTo>
                    <a:pt x="1638783" y="0"/>
                  </a:moveTo>
                  <a:lnTo>
                    <a:pt x="0" y="0"/>
                  </a:lnTo>
                  <a:lnTo>
                    <a:pt x="0" y="1166522"/>
                  </a:lnTo>
                  <a:lnTo>
                    <a:pt x="4008" y="1186247"/>
                  </a:lnTo>
                  <a:lnTo>
                    <a:pt x="14922" y="1202400"/>
                  </a:lnTo>
                  <a:lnTo>
                    <a:pt x="31075" y="1213314"/>
                  </a:lnTo>
                  <a:lnTo>
                    <a:pt x="50800" y="1217323"/>
                  </a:lnTo>
                  <a:lnTo>
                    <a:pt x="1587983" y="1217323"/>
                  </a:lnTo>
                  <a:lnTo>
                    <a:pt x="1607708" y="1213314"/>
                  </a:lnTo>
                  <a:lnTo>
                    <a:pt x="1623861" y="1202400"/>
                  </a:lnTo>
                  <a:lnTo>
                    <a:pt x="1634775" y="1186247"/>
                  </a:lnTo>
                  <a:lnTo>
                    <a:pt x="1638783" y="1166522"/>
                  </a:lnTo>
                  <a:lnTo>
                    <a:pt x="1638783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02227" y="792340"/>
            <a:ext cx="1457960" cy="4286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7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Public-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sector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DAOs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900" i="1" spc="-10" dirty="0" err="1">
                <a:solidFill>
                  <a:srgbClr val="3F3F3F"/>
                </a:solidFill>
                <a:latin typeface="Calibri"/>
                <a:cs typeface="Calibri"/>
              </a:rPr>
              <a:t>eGov</a:t>
            </a:r>
            <a:r>
              <a:rPr sz="900" i="1" spc="-10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900" i="1" spc="-20" dirty="0">
                <a:solidFill>
                  <a:srgbClr val="3F3F3F"/>
                </a:solidFill>
                <a:latin typeface="Calibri"/>
                <a:cs typeface="Calibri"/>
              </a:rPr>
              <a:t>DAO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92930" y="1286390"/>
            <a:ext cx="1326515" cy="76944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7640" marR="5080" indent="-155575">
              <a:lnSpc>
                <a:spcPct val="101499"/>
              </a:lnSpc>
              <a:spcBef>
                <a:spcPts val="80"/>
              </a:spcBef>
              <a:buClr>
                <a:srgbClr val="0E8153"/>
              </a:buClr>
              <a:buFont typeface="PMingLiU-ExtB"/>
              <a:buChar char="✓"/>
              <a:tabLst>
                <a:tab pos="167640" algn="l"/>
              </a:tabLst>
            </a:pPr>
            <a:r>
              <a:rPr lang="en-US" sz="900" spc="-10" dirty="0">
                <a:solidFill>
                  <a:srgbClr val="3F3F3F"/>
                </a:solidFill>
                <a:latin typeface="Calibri"/>
                <a:cs typeface="Calibri"/>
              </a:rPr>
              <a:t>Models and automates public procurement</a:t>
            </a:r>
            <a:endParaRPr sz="900" dirty="0">
              <a:latin typeface="Calibri"/>
              <a:cs typeface="Calibri"/>
            </a:endParaRPr>
          </a:p>
          <a:p>
            <a:pPr marL="146685" marR="5080" indent="-134620">
              <a:lnSpc>
                <a:spcPct val="101499"/>
              </a:lnSpc>
              <a:spcBef>
                <a:spcPts val="495"/>
              </a:spcBef>
            </a:pPr>
            <a:r>
              <a:rPr lang="en-US" sz="900" dirty="0">
                <a:solidFill>
                  <a:srgbClr val="BD3B37"/>
                </a:solidFill>
                <a:latin typeface="PMingLiU-ExtB"/>
                <a:cs typeface="PMingLiU-ExtB"/>
              </a:rPr>
              <a:t>C</a:t>
            </a:r>
            <a:r>
              <a:rPr lang="en-US" sz="900" spc="275" dirty="0">
                <a:solidFill>
                  <a:srgbClr val="BD3B37"/>
                </a:solidFill>
                <a:latin typeface="PMingLiU-ExtB"/>
                <a:cs typeface="PMingLiU-ExtB"/>
              </a:rPr>
              <a:t> </a:t>
            </a:r>
            <a:r>
              <a:rPr lang="en-US" sz="900" spc="-10" dirty="0">
                <a:solidFill>
                  <a:srgbClr val="3F3F3F"/>
                </a:solidFill>
                <a:latin typeface="Calibri"/>
                <a:cs typeface="Calibri"/>
              </a:rPr>
              <a:t>Decentralized in name only, approvals depend on a central authority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236718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Q4 connector">
            <a:extLst>
              <a:ext uri="{FF2B5EF4-FFF2-40B4-BE49-F238E27FC236}">
                <a16:creationId xmlns:a16="http://schemas.microsoft.com/office/drawing/2014/main" id="{CF3B960C-6894-4640-83C3-1409F1E2A392}"/>
              </a:ext>
            </a:extLst>
          </p:cNvPr>
          <p:cNvSpPr/>
          <p:nvPr/>
        </p:nvSpPr>
        <p:spPr>
          <a:xfrm>
            <a:off x="4584700" y="1905000"/>
            <a:ext cx="10160" cy="355600"/>
          </a:xfrm>
          <a:prstGeom prst="rect">
            <a:avLst/>
          </a:prstGeom>
          <a:solidFill>
            <a:srgbClr val="A6A6A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SQ2 connector">
            <a:extLst>
              <a:ext uri="{FF2B5EF4-FFF2-40B4-BE49-F238E27FC236}">
                <a16:creationId xmlns:a16="http://schemas.microsoft.com/office/drawing/2014/main" id="{86054810-852A-4955-BC5B-6C2A909A796D}"/>
              </a:ext>
            </a:extLst>
          </p:cNvPr>
          <p:cNvSpPr/>
          <p:nvPr/>
        </p:nvSpPr>
        <p:spPr>
          <a:xfrm>
            <a:off x="2844800" y="1905000"/>
            <a:ext cx="10160" cy="355600"/>
          </a:xfrm>
          <a:prstGeom prst="rect">
            <a:avLst/>
          </a:prstGeom>
          <a:solidFill>
            <a:srgbClr val="A6A6A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SQ1 connector">
            <a:extLst>
              <a:ext uri="{FF2B5EF4-FFF2-40B4-BE49-F238E27FC236}">
                <a16:creationId xmlns:a16="http://schemas.microsoft.com/office/drawing/2014/main" id="{21C17DB4-0285-423C-A542-192F84C073A0}"/>
              </a:ext>
            </a:extLst>
          </p:cNvPr>
          <p:cNvSpPr/>
          <p:nvPr/>
        </p:nvSpPr>
        <p:spPr>
          <a:xfrm>
            <a:off x="1104900" y="1905000"/>
            <a:ext cx="10160" cy="355600"/>
          </a:xfrm>
          <a:prstGeom prst="rect">
            <a:avLst/>
          </a:prstGeom>
          <a:solidFill>
            <a:srgbClr val="A6A6A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Research</a:t>
            </a:r>
            <a:r>
              <a:rPr spc="40" dirty="0"/>
              <a:t> </a:t>
            </a:r>
            <a:r>
              <a:rPr spc="-10" dirty="0"/>
              <a:t>question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2 State of the art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5</a:t>
            </a:fld>
            <a:r>
              <a:rPr spc="-20" dirty="0"/>
              <a:t>/14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3793" y="1141126"/>
            <a:ext cx="5142230" cy="756285"/>
            <a:chOff x="309193" y="999819"/>
            <a:chExt cx="5142230" cy="756285"/>
          </a:xfrm>
        </p:grpSpPr>
        <p:sp>
          <p:nvSpPr>
            <p:cNvPr id="4" name="object 4"/>
            <p:cNvSpPr/>
            <p:nvPr/>
          </p:nvSpPr>
          <p:spPr>
            <a:xfrm>
              <a:off x="309193" y="999819"/>
              <a:ext cx="5142230" cy="189230"/>
            </a:xfrm>
            <a:custGeom>
              <a:avLst/>
              <a:gdLst/>
              <a:ahLst/>
              <a:cxnLst/>
              <a:rect l="l" t="t" r="r" b="b"/>
              <a:pathLst>
                <a:path w="5142230" h="18923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9215"/>
                  </a:lnTo>
                  <a:lnTo>
                    <a:pt x="5141666" y="189215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76375"/>
              <a:ext cx="51416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9193" y="1220660"/>
              <a:ext cx="5142230" cy="535305"/>
            </a:xfrm>
            <a:custGeom>
              <a:avLst/>
              <a:gdLst/>
              <a:ahLst/>
              <a:cxnLst/>
              <a:rect l="l" t="t" r="r" b="b"/>
              <a:pathLst>
                <a:path w="5142230" h="535305">
                  <a:moveTo>
                    <a:pt x="5141666" y="0"/>
                  </a:moveTo>
                  <a:lnTo>
                    <a:pt x="0" y="0"/>
                  </a:lnTo>
                  <a:lnTo>
                    <a:pt x="0" y="484111"/>
                  </a:lnTo>
                  <a:lnTo>
                    <a:pt x="4008" y="503836"/>
                  </a:lnTo>
                  <a:lnTo>
                    <a:pt x="14922" y="519989"/>
                  </a:lnTo>
                  <a:lnTo>
                    <a:pt x="31075" y="530903"/>
                  </a:lnTo>
                  <a:lnTo>
                    <a:pt x="50800" y="534911"/>
                  </a:lnTo>
                  <a:lnTo>
                    <a:pt x="5090865" y="534911"/>
                  </a:lnTo>
                  <a:lnTo>
                    <a:pt x="5110590" y="530903"/>
                  </a:lnTo>
                  <a:lnTo>
                    <a:pt x="5126743" y="519989"/>
                  </a:lnTo>
                  <a:lnTo>
                    <a:pt x="5137657" y="503836"/>
                  </a:lnTo>
                  <a:lnTo>
                    <a:pt x="5141666" y="48411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1894" y="1089025"/>
            <a:ext cx="4895850" cy="7804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944370">
              <a:lnSpc>
                <a:spcPct val="100000"/>
              </a:lnSpc>
              <a:spcBef>
                <a:spcPts val="35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endParaRPr sz="1200" dirty="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19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governance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mechanisms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civic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DAO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keep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legally responsible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11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body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guarantor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compliance,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degenerating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re-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centralization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nullifies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citizen participation?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SQ1 box">
            <a:extLst>
              <a:ext uri="{FF2B5EF4-FFF2-40B4-BE49-F238E27FC236}">
                <a16:creationId xmlns:a16="http://schemas.microsoft.com/office/drawing/2014/main" id="{7C7C0F6D-0904-4C51-8D98-4A88DBF72048}"/>
              </a:ext>
            </a:extLst>
          </p:cNvPr>
          <p:cNvSpPr/>
          <p:nvPr/>
        </p:nvSpPr>
        <p:spPr>
          <a:xfrm>
            <a:off x="279400" y="2260600"/>
            <a:ext cx="1663700" cy="609600"/>
          </a:xfrm>
          <a:prstGeom prst="roundRect">
            <a:avLst/>
          </a:prstGeom>
          <a:solidFill>
            <a:srgbClr val="EAEFF7"/>
          </a:solidFill>
          <a:ln w="25400" cap="flat" cmpd="sng" algn="ctr">
            <a:solidFill>
              <a:srgbClr val="1F38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anchor="ctr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GB" sz="1100" b="1" dirty="0">
                <a:solidFill>
                  <a:srgbClr val="1F3864"/>
                </a:solidFill>
              </a:rPr>
              <a:t>SQ1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  <a:buNone/>
            </a:pPr>
            <a:r>
              <a:rPr lang="en-GB" sz="950" b="0" dirty="0">
                <a:solidFill>
                  <a:srgbClr val="000000"/>
                </a:solidFill>
              </a:rPr>
              <a:t>Legitimacy from </a:t>
            </a:r>
            <a:r>
              <a:rPr lang="en-GB" sz="950" b="1" dirty="0">
                <a:solidFill>
                  <a:srgbClr val="000000"/>
                </a:solidFill>
              </a:rPr>
              <a:t>residency</a:t>
            </a:r>
            <a:r>
              <a:rPr lang="en-GB" sz="950" b="0" dirty="0">
                <a:solidFill>
                  <a:srgbClr val="000000"/>
                </a:solidFill>
              </a:rPr>
              <a:t>, not </a:t>
            </a:r>
            <a:r>
              <a:rPr lang="en-GB" sz="950" b="1" dirty="0">
                <a:solidFill>
                  <a:srgbClr val="000000"/>
                </a:solidFill>
              </a:rPr>
              <a:t>capital</a:t>
            </a:r>
          </a:p>
        </p:txBody>
      </p:sp>
      <p:sp>
        <p:nvSpPr>
          <p:cNvPr id="27" name="SQ2 box">
            <a:extLst>
              <a:ext uri="{FF2B5EF4-FFF2-40B4-BE49-F238E27FC236}">
                <a16:creationId xmlns:a16="http://schemas.microsoft.com/office/drawing/2014/main" id="{BD350A59-EBA3-4078-9A36-38FBC3B1F321}"/>
              </a:ext>
            </a:extLst>
          </p:cNvPr>
          <p:cNvSpPr/>
          <p:nvPr/>
        </p:nvSpPr>
        <p:spPr>
          <a:xfrm>
            <a:off x="2019300" y="2260600"/>
            <a:ext cx="1663700" cy="609600"/>
          </a:xfrm>
          <a:prstGeom prst="roundRect">
            <a:avLst/>
          </a:prstGeom>
          <a:solidFill>
            <a:srgbClr val="EAEFF7"/>
          </a:solidFill>
          <a:ln w="25400" cap="flat" cmpd="sng" algn="ctr">
            <a:solidFill>
              <a:srgbClr val="1F38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anchor="ctr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GB" sz="1100" b="1" dirty="0">
                <a:solidFill>
                  <a:srgbClr val="1F3864"/>
                </a:solidFill>
              </a:rPr>
              <a:t>SQ2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  <a:buNone/>
            </a:pPr>
            <a:r>
              <a:rPr lang="en-GB" sz="950" b="1" dirty="0">
                <a:solidFill>
                  <a:srgbClr val="000000"/>
                </a:solidFill>
              </a:rPr>
              <a:t>Public body</a:t>
            </a:r>
            <a:r>
              <a:rPr lang="en-GB" sz="950" b="0" dirty="0">
                <a:solidFill>
                  <a:srgbClr val="000000"/>
                </a:solidFill>
              </a:rPr>
              <a:t> in, no </a:t>
            </a:r>
            <a:r>
              <a:rPr lang="en-GB" sz="950" b="1" dirty="0">
                <a:solidFill>
                  <a:srgbClr val="000000"/>
                </a:solidFill>
              </a:rPr>
              <a:t>veto</a:t>
            </a:r>
            <a:r>
              <a:rPr lang="en-GB" sz="950" b="0" dirty="0">
                <a:solidFill>
                  <a:srgbClr val="000000"/>
                </a:solidFill>
              </a:rPr>
              <a:t> on the merit</a:t>
            </a:r>
          </a:p>
        </p:txBody>
      </p:sp>
      <p:sp>
        <p:nvSpPr>
          <p:cNvPr id="31" name="SQ4 box">
            <a:extLst>
              <a:ext uri="{FF2B5EF4-FFF2-40B4-BE49-F238E27FC236}">
                <a16:creationId xmlns:a16="http://schemas.microsoft.com/office/drawing/2014/main" id="{4F311FF5-4D3C-49C3-B982-FCC8BBD9EA35}"/>
              </a:ext>
            </a:extLst>
          </p:cNvPr>
          <p:cNvSpPr/>
          <p:nvPr/>
        </p:nvSpPr>
        <p:spPr>
          <a:xfrm>
            <a:off x="3759200" y="2260600"/>
            <a:ext cx="1663700" cy="609600"/>
          </a:xfrm>
          <a:prstGeom prst="roundRect">
            <a:avLst/>
          </a:prstGeom>
          <a:solidFill>
            <a:srgbClr val="EAEFF7"/>
          </a:solidFill>
          <a:ln w="25400" cap="flat" cmpd="sng" algn="ctr">
            <a:solidFill>
              <a:srgbClr val="1F38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anchor="ctr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GB" sz="1100" b="1" dirty="0">
                <a:solidFill>
                  <a:srgbClr val="1F3864"/>
                </a:solidFill>
              </a:rPr>
              <a:t>SQ3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  <a:buNone/>
            </a:pPr>
            <a:r>
              <a:rPr lang="en-GB" sz="950" b="1" dirty="0">
                <a:solidFill>
                  <a:srgbClr val="000000"/>
                </a:solidFill>
              </a:rPr>
              <a:t>Participation</a:t>
            </a:r>
            <a:r>
              <a:rPr lang="en-GB" sz="950" b="0" dirty="0">
                <a:solidFill>
                  <a:srgbClr val="000000"/>
                </a:solidFill>
              </a:rPr>
              <a:t> sustained </a:t>
            </a:r>
            <a:r>
              <a:rPr lang="en-GB" sz="950" b="1" dirty="0">
                <a:solidFill>
                  <a:srgbClr val="000000"/>
                </a:solidFill>
              </a:rPr>
              <a:t>over time</a:t>
            </a:r>
          </a:p>
        </p:txBody>
      </p:sp>
    </p:spTree>
    <p:extLst>
      <p:ext uri="{BB962C8B-B14F-4D97-AF65-F5344CB8AC3E}">
        <p14:creationId xmlns:p14="http://schemas.microsoft.com/office/powerpoint/2010/main" val="518447306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CivicDAO</a:t>
            </a:r>
            <a:endParaRPr spc="-10" dirty="0"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6</a:t>
            </a:fld>
            <a:r>
              <a:rPr spc="-20" dirty="0"/>
              <a:t>/14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0926" y="914090"/>
            <a:ext cx="1803400" cy="180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95"/>
              </a:spcBef>
              <a:buClr>
                <a:srgbClr val="003576"/>
              </a:buClr>
              <a:buFont typeface="Calibri"/>
              <a:buAutoNum type="arabicPeriod"/>
              <a:tabLst>
                <a:tab pos="166370" algn="l"/>
              </a:tabLst>
            </a:pPr>
            <a:r>
              <a:rPr lang="en-US" sz="900" b="1" dirty="0">
                <a:solidFill>
                  <a:srgbClr val="3F3F3F"/>
                </a:solidFill>
                <a:latin typeface="Calibri"/>
                <a:cs typeface="Calibri"/>
              </a:rPr>
              <a:t>Hybrid architecture</a:t>
            </a:r>
            <a:endParaRPr sz="900" dirty="0">
              <a:latin typeface="Calibri"/>
              <a:cs typeface="Calibri"/>
            </a:endParaRPr>
          </a:p>
          <a:p>
            <a:pPr marL="168275">
              <a:lnSpc>
                <a:spcPct val="100000"/>
              </a:lnSpc>
            </a:pPr>
            <a:r>
              <a:rPr lang="en-US" sz="900" dirty="0">
                <a:solidFill>
                  <a:srgbClr val="3F3F3F"/>
                </a:solidFill>
                <a:latin typeface="Calibri"/>
                <a:cs typeface="Calibri"/>
              </a:rPr>
              <a:t>on-chain governance + legal wrapper (ETS)</a:t>
            </a:r>
            <a:endParaRPr sz="900" dirty="0">
              <a:latin typeface="Calibri"/>
              <a:cs typeface="Calibri"/>
            </a:endParaRPr>
          </a:p>
          <a:p>
            <a:pPr marL="166370" indent="-153670">
              <a:lnSpc>
                <a:spcPct val="100000"/>
              </a:lnSpc>
              <a:spcBef>
                <a:spcPts val="400"/>
              </a:spcBef>
              <a:buClr>
                <a:srgbClr val="003576"/>
              </a:buClr>
              <a:buFont typeface="Calibri"/>
              <a:buAutoNum type="arabicPeriod" startAt="2"/>
              <a:tabLst>
                <a:tab pos="166370" algn="l"/>
              </a:tabLst>
            </a:pPr>
            <a:r>
              <a:rPr lang="en-US" sz="900" b="1" dirty="0">
                <a:solidFill>
                  <a:srgbClr val="3F3F3F"/>
                </a:solidFill>
                <a:latin typeface="Calibri"/>
                <a:cs typeface="Calibri"/>
              </a:rPr>
              <a:t>Membership from residency</a:t>
            </a:r>
            <a:endParaRPr sz="900" dirty="0">
              <a:latin typeface="Calibri"/>
              <a:cs typeface="Calibri"/>
            </a:endParaRPr>
          </a:p>
          <a:p>
            <a:pPr marL="168275">
              <a:lnSpc>
                <a:spcPct val="100000"/>
              </a:lnSpc>
            </a:pPr>
            <a:r>
              <a:rPr lang="en-US" sz="900" dirty="0">
                <a:solidFill>
                  <a:srgbClr val="3F3F3F"/>
                </a:solidFill>
                <a:latin typeface="Calibri"/>
                <a:cs typeface="Calibri"/>
              </a:rPr>
              <a:t>soulbound citizenship token, one person, one vote</a:t>
            </a:r>
            <a:endParaRPr sz="900" dirty="0">
              <a:latin typeface="Calibri"/>
              <a:cs typeface="Calibri"/>
            </a:endParaRPr>
          </a:p>
          <a:p>
            <a:pPr marL="166370" indent="-153670">
              <a:lnSpc>
                <a:spcPct val="100000"/>
              </a:lnSpc>
              <a:spcBef>
                <a:spcPts val="400"/>
              </a:spcBef>
              <a:buClr>
                <a:srgbClr val="003576"/>
              </a:buClr>
              <a:buFont typeface="Calibri"/>
              <a:buAutoNum type="arabicPeriod" startAt="3"/>
              <a:tabLst>
                <a:tab pos="166370" algn="l"/>
              </a:tabLst>
            </a:pPr>
            <a:r>
              <a:rPr lang="en-US" sz="900" b="1" dirty="0">
                <a:solidFill>
                  <a:srgbClr val="3F3F3F"/>
                </a:solidFill>
                <a:latin typeface="Calibri"/>
                <a:cs typeface="Calibri"/>
              </a:rPr>
              <a:t>Two separate flows</a:t>
            </a:r>
            <a:endParaRPr sz="900" dirty="0">
              <a:latin typeface="Calibri"/>
              <a:cs typeface="Calibri"/>
            </a:endParaRPr>
          </a:p>
          <a:p>
            <a:pPr marL="168275">
              <a:lnSpc>
                <a:spcPct val="100000"/>
              </a:lnSpc>
            </a:pPr>
            <a:r>
              <a:rPr lang="en-US" sz="900" dirty="0">
                <a:solidFill>
                  <a:srgbClr val="3F3F3F"/>
                </a:solidFill>
                <a:latin typeface="Calibri"/>
                <a:cs typeface="Calibri"/>
              </a:rPr>
              <a:t>each built on an existing legal instrument: collaboration agreements (private) and participatory budgeting (public). No new law required.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16781" y="1518792"/>
            <a:ext cx="946150" cy="442595"/>
            <a:chOff x="3416781" y="1518792"/>
            <a:chExt cx="946150" cy="442595"/>
          </a:xfrm>
        </p:grpSpPr>
        <p:sp>
          <p:nvSpPr>
            <p:cNvPr id="7" name="object 7"/>
            <p:cNvSpPr/>
            <p:nvPr/>
          </p:nvSpPr>
          <p:spPr>
            <a:xfrm>
              <a:off x="3421861" y="1523872"/>
              <a:ext cx="935990" cy="432434"/>
            </a:xfrm>
            <a:custGeom>
              <a:avLst/>
              <a:gdLst/>
              <a:ahLst/>
              <a:cxnLst/>
              <a:rect l="l" t="t" r="r" b="b"/>
              <a:pathLst>
                <a:path w="935989" h="432435">
                  <a:moveTo>
                    <a:pt x="91020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06698"/>
                  </a:lnTo>
                  <a:lnTo>
                    <a:pt x="1988" y="416548"/>
                  </a:lnTo>
                  <a:lnTo>
                    <a:pt x="7411" y="424592"/>
                  </a:lnTo>
                  <a:lnTo>
                    <a:pt x="15455" y="430015"/>
                  </a:lnTo>
                  <a:lnTo>
                    <a:pt x="25305" y="432004"/>
                  </a:lnTo>
                  <a:lnTo>
                    <a:pt x="910204" y="432004"/>
                  </a:lnTo>
                  <a:lnTo>
                    <a:pt x="920054" y="430015"/>
                  </a:lnTo>
                  <a:lnTo>
                    <a:pt x="928098" y="424592"/>
                  </a:lnTo>
                  <a:lnTo>
                    <a:pt x="933521" y="416548"/>
                  </a:lnTo>
                  <a:lnTo>
                    <a:pt x="935509" y="406698"/>
                  </a:lnTo>
                  <a:lnTo>
                    <a:pt x="935509" y="25305"/>
                  </a:lnTo>
                  <a:lnTo>
                    <a:pt x="933521" y="15455"/>
                  </a:lnTo>
                  <a:lnTo>
                    <a:pt x="928098" y="7411"/>
                  </a:lnTo>
                  <a:lnTo>
                    <a:pt x="920054" y="1988"/>
                  </a:lnTo>
                  <a:lnTo>
                    <a:pt x="910204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21861" y="1523872"/>
              <a:ext cx="935990" cy="432434"/>
            </a:xfrm>
            <a:custGeom>
              <a:avLst/>
              <a:gdLst/>
              <a:ahLst/>
              <a:cxnLst/>
              <a:rect l="l" t="t" r="r" b="b"/>
              <a:pathLst>
                <a:path w="935989" h="432435">
                  <a:moveTo>
                    <a:pt x="91020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06698"/>
                  </a:lnTo>
                  <a:lnTo>
                    <a:pt x="1988" y="416548"/>
                  </a:lnTo>
                  <a:lnTo>
                    <a:pt x="7411" y="424592"/>
                  </a:lnTo>
                  <a:lnTo>
                    <a:pt x="15455" y="430015"/>
                  </a:lnTo>
                  <a:lnTo>
                    <a:pt x="25305" y="432004"/>
                  </a:lnTo>
                  <a:lnTo>
                    <a:pt x="910204" y="432004"/>
                  </a:lnTo>
                  <a:lnTo>
                    <a:pt x="920054" y="430015"/>
                  </a:lnTo>
                  <a:lnTo>
                    <a:pt x="928098" y="424592"/>
                  </a:lnTo>
                  <a:lnTo>
                    <a:pt x="933521" y="416548"/>
                  </a:lnTo>
                  <a:lnTo>
                    <a:pt x="935509" y="406698"/>
                  </a:lnTo>
                  <a:lnTo>
                    <a:pt x="935509" y="25305"/>
                  </a:lnTo>
                  <a:lnTo>
                    <a:pt x="933521" y="15455"/>
                  </a:lnTo>
                  <a:lnTo>
                    <a:pt x="928098" y="7411"/>
                  </a:lnTo>
                  <a:lnTo>
                    <a:pt x="920054" y="1988"/>
                  </a:lnTo>
                  <a:lnTo>
                    <a:pt x="910204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47122" y="1581284"/>
            <a:ext cx="885190" cy="28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CivicDAO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r>
              <a:rPr sz="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governance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25559" y="902961"/>
            <a:ext cx="968375" cy="414020"/>
            <a:chOff x="2325559" y="902961"/>
            <a:chExt cx="968375" cy="414020"/>
          </a:xfrm>
        </p:grpSpPr>
        <p:sp>
          <p:nvSpPr>
            <p:cNvPr id="11" name="object 11"/>
            <p:cNvSpPr/>
            <p:nvPr/>
          </p:nvSpPr>
          <p:spPr>
            <a:xfrm>
              <a:off x="2330639" y="908041"/>
              <a:ext cx="958215" cy="403860"/>
            </a:xfrm>
            <a:custGeom>
              <a:avLst/>
              <a:gdLst/>
              <a:ahLst/>
              <a:cxnLst/>
              <a:rect l="l" t="t" r="r" b="b"/>
              <a:pathLst>
                <a:path w="958214" h="403859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78345"/>
                  </a:lnTo>
                  <a:lnTo>
                    <a:pt x="1988" y="388195"/>
                  </a:lnTo>
                  <a:lnTo>
                    <a:pt x="7411" y="396239"/>
                  </a:lnTo>
                  <a:lnTo>
                    <a:pt x="15455" y="401662"/>
                  </a:lnTo>
                  <a:lnTo>
                    <a:pt x="25305" y="403650"/>
                  </a:lnTo>
                  <a:lnTo>
                    <a:pt x="932620" y="403650"/>
                  </a:lnTo>
                  <a:lnTo>
                    <a:pt x="942470" y="401662"/>
                  </a:lnTo>
                  <a:lnTo>
                    <a:pt x="950514" y="396239"/>
                  </a:lnTo>
                  <a:lnTo>
                    <a:pt x="955937" y="388195"/>
                  </a:lnTo>
                  <a:lnTo>
                    <a:pt x="957926" y="378345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30639" y="908041"/>
              <a:ext cx="958215" cy="403860"/>
            </a:xfrm>
            <a:custGeom>
              <a:avLst/>
              <a:gdLst/>
              <a:ahLst/>
              <a:cxnLst/>
              <a:rect l="l" t="t" r="r" b="b"/>
              <a:pathLst>
                <a:path w="958214" h="403859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78345"/>
                  </a:lnTo>
                  <a:lnTo>
                    <a:pt x="1988" y="388195"/>
                  </a:lnTo>
                  <a:lnTo>
                    <a:pt x="7411" y="396239"/>
                  </a:lnTo>
                  <a:lnTo>
                    <a:pt x="15455" y="401662"/>
                  </a:lnTo>
                  <a:lnTo>
                    <a:pt x="25305" y="403650"/>
                  </a:lnTo>
                  <a:lnTo>
                    <a:pt x="932620" y="403650"/>
                  </a:lnTo>
                  <a:lnTo>
                    <a:pt x="942470" y="401662"/>
                  </a:lnTo>
                  <a:lnTo>
                    <a:pt x="950514" y="396239"/>
                  </a:lnTo>
                  <a:lnTo>
                    <a:pt x="955937" y="388195"/>
                  </a:lnTo>
                  <a:lnTo>
                    <a:pt x="957926" y="378345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93987" y="903108"/>
            <a:ext cx="431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Residents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7302" y="1023301"/>
            <a:ext cx="7245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131445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soulbound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citizenship</a:t>
            </a:r>
            <a:r>
              <a:rPr sz="8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token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25559" y="2102876"/>
            <a:ext cx="968375" cy="534035"/>
            <a:chOff x="2325559" y="2102876"/>
            <a:chExt cx="968375" cy="534035"/>
          </a:xfrm>
        </p:grpSpPr>
        <p:sp>
          <p:nvSpPr>
            <p:cNvPr id="16" name="object 16"/>
            <p:cNvSpPr/>
            <p:nvPr/>
          </p:nvSpPr>
          <p:spPr>
            <a:xfrm>
              <a:off x="2330639" y="2107956"/>
              <a:ext cx="958215" cy="523875"/>
            </a:xfrm>
            <a:custGeom>
              <a:avLst/>
              <a:gdLst/>
              <a:ahLst/>
              <a:cxnLst/>
              <a:rect l="l" t="t" r="r" b="b"/>
              <a:pathLst>
                <a:path w="958214" h="523875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98546"/>
                  </a:lnTo>
                  <a:lnTo>
                    <a:pt x="1988" y="508396"/>
                  </a:lnTo>
                  <a:lnTo>
                    <a:pt x="7411" y="516440"/>
                  </a:lnTo>
                  <a:lnTo>
                    <a:pt x="15455" y="521863"/>
                  </a:lnTo>
                  <a:lnTo>
                    <a:pt x="25305" y="523851"/>
                  </a:lnTo>
                  <a:lnTo>
                    <a:pt x="932620" y="523851"/>
                  </a:lnTo>
                  <a:lnTo>
                    <a:pt x="942470" y="521863"/>
                  </a:lnTo>
                  <a:lnTo>
                    <a:pt x="950514" y="516440"/>
                  </a:lnTo>
                  <a:lnTo>
                    <a:pt x="955937" y="508396"/>
                  </a:lnTo>
                  <a:lnTo>
                    <a:pt x="957926" y="498546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solidFill>
              <a:srgbClr val="F5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0639" y="2107956"/>
              <a:ext cx="958215" cy="523875"/>
            </a:xfrm>
            <a:custGeom>
              <a:avLst/>
              <a:gdLst/>
              <a:ahLst/>
              <a:cxnLst/>
              <a:rect l="l" t="t" r="r" b="b"/>
              <a:pathLst>
                <a:path w="958214" h="523875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98546"/>
                  </a:lnTo>
                  <a:lnTo>
                    <a:pt x="1988" y="508396"/>
                  </a:lnTo>
                  <a:lnTo>
                    <a:pt x="7411" y="516440"/>
                  </a:lnTo>
                  <a:lnTo>
                    <a:pt x="15455" y="521863"/>
                  </a:lnTo>
                  <a:lnTo>
                    <a:pt x="25305" y="523851"/>
                  </a:lnTo>
                  <a:lnTo>
                    <a:pt x="932620" y="523851"/>
                  </a:lnTo>
                  <a:lnTo>
                    <a:pt x="942470" y="521863"/>
                  </a:lnTo>
                  <a:lnTo>
                    <a:pt x="950514" y="516440"/>
                  </a:lnTo>
                  <a:lnTo>
                    <a:pt x="955937" y="508396"/>
                  </a:lnTo>
                  <a:lnTo>
                    <a:pt x="957926" y="498546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ln w="10122">
              <a:solidFill>
                <a:srgbClr val="C89A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33789" y="2103017"/>
            <a:ext cx="552450" cy="508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algn="ctr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Municipality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onboarding,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budgeting,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compliance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85586" y="900910"/>
            <a:ext cx="968375" cy="418465"/>
            <a:chOff x="4485586" y="900910"/>
            <a:chExt cx="968375" cy="418465"/>
          </a:xfrm>
        </p:grpSpPr>
        <p:sp>
          <p:nvSpPr>
            <p:cNvPr id="20" name="object 20"/>
            <p:cNvSpPr/>
            <p:nvPr/>
          </p:nvSpPr>
          <p:spPr>
            <a:xfrm>
              <a:off x="4490666" y="905990"/>
              <a:ext cx="958215" cy="408305"/>
            </a:xfrm>
            <a:custGeom>
              <a:avLst/>
              <a:gdLst/>
              <a:ahLst/>
              <a:cxnLst/>
              <a:rect l="l" t="t" r="r" b="b"/>
              <a:pathLst>
                <a:path w="958214" h="408305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82447"/>
                  </a:lnTo>
                  <a:lnTo>
                    <a:pt x="1988" y="392297"/>
                  </a:lnTo>
                  <a:lnTo>
                    <a:pt x="7411" y="400341"/>
                  </a:lnTo>
                  <a:lnTo>
                    <a:pt x="15455" y="405764"/>
                  </a:lnTo>
                  <a:lnTo>
                    <a:pt x="25305" y="407753"/>
                  </a:lnTo>
                  <a:lnTo>
                    <a:pt x="932620" y="407753"/>
                  </a:lnTo>
                  <a:lnTo>
                    <a:pt x="942470" y="405764"/>
                  </a:lnTo>
                  <a:lnTo>
                    <a:pt x="950514" y="400341"/>
                  </a:lnTo>
                  <a:lnTo>
                    <a:pt x="955937" y="392297"/>
                  </a:lnTo>
                  <a:lnTo>
                    <a:pt x="957926" y="382447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90666" y="905990"/>
              <a:ext cx="958215" cy="408305"/>
            </a:xfrm>
            <a:custGeom>
              <a:avLst/>
              <a:gdLst/>
              <a:ahLst/>
              <a:cxnLst/>
              <a:rect l="l" t="t" r="r" b="b"/>
              <a:pathLst>
                <a:path w="958214" h="408305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82447"/>
                  </a:lnTo>
                  <a:lnTo>
                    <a:pt x="1988" y="392297"/>
                  </a:lnTo>
                  <a:lnTo>
                    <a:pt x="7411" y="400341"/>
                  </a:lnTo>
                  <a:lnTo>
                    <a:pt x="15455" y="405764"/>
                  </a:lnTo>
                  <a:lnTo>
                    <a:pt x="25305" y="407753"/>
                  </a:lnTo>
                  <a:lnTo>
                    <a:pt x="932620" y="407753"/>
                  </a:lnTo>
                  <a:lnTo>
                    <a:pt x="942470" y="405764"/>
                  </a:lnTo>
                  <a:lnTo>
                    <a:pt x="950514" y="400341"/>
                  </a:lnTo>
                  <a:lnTo>
                    <a:pt x="955937" y="392297"/>
                  </a:lnTo>
                  <a:lnTo>
                    <a:pt x="957926" y="382447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33455" y="905152"/>
            <a:ext cx="87249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Legal</a:t>
            </a:r>
            <a:r>
              <a:rPr sz="8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wrapper</a:t>
            </a:r>
            <a:r>
              <a:rPr sz="8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(ETS)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standing</a:t>
            </a:r>
            <a:r>
              <a:rPr sz="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toward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third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parties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485586" y="2170761"/>
            <a:ext cx="968375" cy="398780"/>
            <a:chOff x="4485586" y="2170761"/>
            <a:chExt cx="968375" cy="398780"/>
          </a:xfrm>
        </p:grpSpPr>
        <p:sp>
          <p:nvSpPr>
            <p:cNvPr id="24" name="object 24"/>
            <p:cNvSpPr/>
            <p:nvPr/>
          </p:nvSpPr>
          <p:spPr>
            <a:xfrm>
              <a:off x="4490666" y="2175841"/>
              <a:ext cx="958215" cy="388620"/>
            </a:xfrm>
            <a:custGeom>
              <a:avLst/>
              <a:gdLst/>
              <a:ahLst/>
              <a:cxnLst/>
              <a:rect l="l" t="t" r="r" b="b"/>
              <a:pathLst>
                <a:path w="958214" h="388619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62776"/>
                  </a:lnTo>
                  <a:lnTo>
                    <a:pt x="1988" y="372626"/>
                  </a:lnTo>
                  <a:lnTo>
                    <a:pt x="7411" y="380670"/>
                  </a:lnTo>
                  <a:lnTo>
                    <a:pt x="15455" y="386093"/>
                  </a:lnTo>
                  <a:lnTo>
                    <a:pt x="25305" y="388082"/>
                  </a:lnTo>
                  <a:lnTo>
                    <a:pt x="932620" y="388082"/>
                  </a:lnTo>
                  <a:lnTo>
                    <a:pt x="942470" y="386093"/>
                  </a:lnTo>
                  <a:lnTo>
                    <a:pt x="950514" y="380670"/>
                  </a:lnTo>
                  <a:lnTo>
                    <a:pt x="955937" y="372626"/>
                  </a:lnTo>
                  <a:lnTo>
                    <a:pt x="957926" y="362776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90666" y="2175841"/>
              <a:ext cx="958215" cy="388620"/>
            </a:xfrm>
            <a:custGeom>
              <a:avLst/>
              <a:gdLst/>
              <a:ahLst/>
              <a:cxnLst/>
              <a:rect l="l" t="t" r="r" b="b"/>
              <a:pathLst>
                <a:path w="958214" h="388619">
                  <a:moveTo>
                    <a:pt x="932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62776"/>
                  </a:lnTo>
                  <a:lnTo>
                    <a:pt x="1988" y="372626"/>
                  </a:lnTo>
                  <a:lnTo>
                    <a:pt x="7411" y="380670"/>
                  </a:lnTo>
                  <a:lnTo>
                    <a:pt x="15455" y="386093"/>
                  </a:lnTo>
                  <a:lnTo>
                    <a:pt x="25305" y="388082"/>
                  </a:lnTo>
                  <a:lnTo>
                    <a:pt x="932620" y="388082"/>
                  </a:lnTo>
                  <a:lnTo>
                    <a:pt x="942470" y="386093"/>
                  </a:lnTo>
                  <a:lnTo>
                    <a:pt x="950514" y="380670"/>
                  </a:lnTo>
                  <a:lnTo>
                    <a:pt x="955937" y="372626"/>
                  </a:lnTo>
                  <a:lnTo>
                    <a:pt x="957926" y="362776"/>
                  </a:lnTo>
                  <a:lnTo>
                    <a:pt x="957926" y="25305"/>
                  </a:lnTo>
                  <a:lnTo>
                    <a:pt x="955937" y="15455"/>
                  </a:lnTo>
                  <a:lnTo>
                    <a:pt x="950514" y="7411"/>
                  </a:lnTo>
                  <a:lnTo>
                    <a:pt x="942470" y="1988"/>
                  </a:lnTo>
                  <a:lnTo>
                    <a:pt x="932620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608321" y="2170898"/>
            <a:ext cx="722630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Local</a:t>
            </a:r>
            <a:r>
              <a:rPr sz="8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businesses</a:t>
            </a:r>
            <a:endParaRPr sz="800" dirty="0">
              <a:latin typeface="Calibri"/>
              <a:cs typeface="Calibri"/>
            </a:endParaRPr>
          </a:p>
          <a:p>
            <a:pPr algn="ctr">
              <a:lnSpc>
                <a:spcPts val="944"/>
              </a:lnSpc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credit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circuit,</a:t>
            </a:r>
            <a:endParaRPr sz="800" dirty="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800" b="1" spc="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</a:p>
        </p:txBody>
      </p:sp>
      <p:grpSp>
        <p:nvGrpSpPr>
          <p:cNvPr id="27" name="object 27"/>
          <p:cNvGrpSpPr/>
          <p:nvPr/>
        </p:nvGrpSpPr>
        <p:grpSpPr>
          <a:xfrm>
            <a:off x="2804523" y="1311673"/>
            <a:ext cx="603250" cy="373380"/>
            <a:chOff x="2804523" y="1311673"/>
            <a:chExt cx="603250" cy="373380"/>
          </a:xfrm>
        </p:grpSpPr>
        <p:sp>
          <p:nvSpPr>
            <p:cNvPr id="28" name="object 28"/>
            <p:cNvSpPr/>
            <p:nvPr/>
          </p:nvSpPr>
          <p:spPr>
            <a:xfrm>
              <a:off x="2809603" y="1316753"/>
              <a:ext cx="563245" cy="347345"/>
            </a:xfrm>
            <a:custGeom>
              <a:avLst/>
              <a:gdLst/>
              <a:ahLst/>
              <a:cxnLst/>
              <a:rect l="l" t="t" r="r" b="b"/>
              <a:pathLst>
                <a:path w="563245" h="347344">
                  <a:moveTo>
                    <a:pt x="0" y="0"/>
                  </a:moveTo>
                  <a:lnTo>
                    <a:pt x="0" y="347205"/>
                  </a:lnTo>
                  <a:lnTo>
                    <a:pt x="562762" y="347205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61143" y="1648326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61143" y="1648326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2804523" y="1795079"/>
            <a:ext cx="603250" cy="313055"/>
            <a:chOff x="2804523" y="1795079"/>
            <a:chExt cx="603250" cy="313055"/>
          </a:xfrm>
        </p:grpSpPr>
        <p:sp>
          <p:nvSpPr>
            <p:cNvPr id="33" name="object 33"/>
            <p:cNvSpPr/>
            <p:nvPr/>
          </p:nvSpPr>
          <p:spPr>
            <a:xfrm>
              <a:off x="2809603" y="1815790"/>
              <a:ext cx="563245" cy="287655"/>
            </a:xfrm>
            <a:custGeom>
              <a:avLst/>
              <a:gdLst/>
              <a:ahLst/>
              <a:cxnLst/>
              <a:rect l="l" t="t" r="r" b="b"/>
              <a:pathLst>
                <a:path w="563245" h="287655">
                  <a:moveTo>
                    <a:pt x="0" y="287104"/>
                  </a:moveTo>
                  <a:lnTo>
                    <a:pt x="0" y="0"/>
                  </a:lnTo>
                  <a:lnTo>
                    <a:pt x="562762" y="0"/>
                  </a:lnTo>
                </a:path>
              </a:pathLst>
            </a:custGeom>
            <a:ln w="10122">
              <a:solidFill>
                <a:srgbClr val="B48B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61143" y="180015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8B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61143" y="180015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B48B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357352" y="1328138"/>
            <a:ext cx="633095" cy="340995"/>
            <a:chOff x="4357352" y="1328138"/>
            <a:chExt cx="633095" cy="340995"/>
          </a:xfrm>
        </p:grpSpPr>
        <p:sp>
          <p:nvSpPr>
            <p:cNvPr id="38" name="object 38"/>
            <p:cNvSpPr/>
            <p:nvPr/>
          </p:nvSpPr>
          <p:spPr>
            <a:xfrm>
              <a:off x="4362432" y="1363238"/>
              <a:ext cx="607695" cy="300990"/>
            </a:xfrm>
            <a:custGeom>
              <a:avLst/>
              <a:gdLst/>
              <a:ahLst/>
              <a:cxnLst/>
              <a:rect l="l" t="t" r="r" b="b"/>
              <a:pathLst>
                <a:path w="607695" h="300989">
                  <a:moveTo>
                    <a:pt x="0" y="300719"/>
                  </a:moveTo>
                  <a:lnTo>
                    <a:pt x="607197" y="300719"/>
                  </a:lnTo>
                  <a:lnTo>
                    <a:pt x="607197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53998" y="1333218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0" y="41243"/>
                  </a:moveTo>
                  <a:lnTo>
                    <a:pt x="15631" y="27490"/>
                  </a:lnTo>
                  <a:lnTo>
                    <a:pt x="31263" y="41243"/>
                  </a:lnTo>
                  <a:lnTo>
                    <a:pt x="15631" y="0"/>
                  </a:lnTo>
                  <a:lnTo>
                    <a:pt x="0" y="41243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53998" y="1333218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15631" y="0"/>
                  </a:moveTo>
                  <a:lnTo>
                    <a:pt x="0" y="41243"/>
                  </a:lnTo>
                  <a:lnTo>
                    <a:pt x="15631" y="27490"/>
                  </a:lnTo>
                  <a:lnTo>
                    <a:pt x="31263" y="41243"/>
                  </a:lnTo>
                  <a:lnTo>
                    <a:pt x="15631" y="0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4371785" y="1795098"/>
            <a:ext cx="619125" cy="366395"/>
            <a:chOff x="4371785" y="1795098"/>
            <a:chExt cx="619125" cy="366395"/>
          </a:xfrm>
        </p:grpSpPr>
        <p:sp>
          <p:nvSpPr>
            <p:cNvPr id="43" name="object 43"/>
            <p:cNvSpPr/>
            <p:nvPr/>
          </p:nvSpPr>
          <p:spPr>
            <a:xfrm>
              <a:off x="4406866" y="1815790"/>
              <a:ext cx="563245" cy="311150"/>
            </a:xfrm>
            <a:custGeom>
              <a:avLst/>
              <a:gdLst/>
              <a:ahLst/>
              <a:cxnLst/>
              <a:rect l="l" t="t" r="r" b="b"/>
              <a:pathLst>
                <a:path w="563245" h="311150">
                  <a:moveTo>
                    <a:pt x="0" y="0"/>
                  </a:moveTo>
                  <a:lnTo>
                    <a:pt x="562762" y="0"/>
                  </a:lnTo>
                  <a:lnTo>
                    <a:pt x="562762" y="310555"/>
                  </a:lnTo>
                </a:path>
              </a:pathLst>
            </a:custGeom>
            <a:ln w="10122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76846" y="180015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31263"/>
                  </a:moveTo>
                  <a:lnTo>
                    <a:pt x="27490" y="15631"/>
                  </a:lnTo>
                  <a:lnTo>
                    <a:pt x="41243" y="0"/>
                  </a:lnTo>
                  <a:lnTo>
                    <a:pt x="0" y="15631"/>
                  </a:lnTo>
                  <a:lnTo>
                    <a:pt x="41243" y="31263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76846" y="180015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15631"/>
                  </a:moveTo>
                  <a:lnTo>
                    <a:pt x="41243" y="31263"/>
                  </a:lnTo>
                  <a:lnTo>
                    <a:pt x="27490" y="15631"/>
                  </a:lnTo>
                  <a:lnTo>
                    <a:pt x="41243" y="0"/>
                  </a:lnTo>
                  <a:lnTo>
                    <a:pt x="0" y="15631"/>
                  </a:lnTo>
                  <a:close/>
                </a:path>
              </a:pathLst>
            </a:custGeom>
            <a:ln w="10122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53998" y="2115122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31263" y="0"/>
                  </a:move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lnTo>
                    <a:pt x="31263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53998" y="2115122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15631" y="41243"/>
                  </a:moveTo>
                  <a:lnTo>
                    <a:pt x="31263" y="0"/>
                  </a:ln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close/>
                </a:path>
              </a:pathLst>
            </a:custGeom>
            <a:ln w="10122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47294" y="422962"/>
            <a:ext cx="1879600" cy="2032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3 Design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5260216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248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/>
              <a:t>What can a neighborhood do with CivicDAO?</a:t>
            </a:r>
            <a:endParaRPr sz="1500" spc="-10" dirty="0"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7</a:t>
            </a:fld>
            <a:r>
              <a:rPr spc="-20" dirty="0"/>
              <a:t>/14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22962"/>
            <a:ext cx="1879600" cy="2032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3 Design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00" name="tb201"/>
          <p:cNvSpPr txBox="1"/>
          <p:nvPr/>
        </p:nvSpPr>
        <p:spPr>
          <a:xfrm>
            <a:off x="254000" y="749300"/>
            <a:ext cx="241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003576"/>
                </a:solidFill>
                <a:latin typeface="Calibri"/>
                <a:cs typeface="Calibri"/>
              </a:rPr>
              <a:t>Done by citizens</a:t>
            </a:r>
          </a:p>
        </p:txBody>
      </p:sp>
      <p:sp>
        <p:nvSpPr>
          <p:cNvPr id="201" name="tb202"/>
          <p:cNvSpPr txBox="1"/>
          <p:nvPr/>
        </p:nvSpPr>
        <p:spPr>
          <a:xfrm>
            <a:off x="254000" y="927100"/>
            <a:ext cx="2413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i="1" dirty="0">
                <a:solidFill>
                  <a:srgbClr val="797979"/>
                </a:solidFill>
                <a:latin typeface="Calibri"/>
                <a:cs typeface="Calibri"/>
              </a:rPr>
              <a:t>private flow</a:t>
            </a:r>
          </a:p>
        </p:txBody>
      </p:sp>
      <p:sp>
        <p:nvSpPr>
          <p:cNvPr id="202" name="tb203"/>
          <p:cNvSpPr txBox="1"/>
          <p:nvPr/>
        </p:nvSpPr>
        <p:spPr>
          <a:xfrm>
            <a:off x="3098800" y="749300"/>
            <a:ext cx="241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B48B12"/>
                </a:solidFill>
                <a:latin typeface="Calibri"/>
                <a:cs typeface="Calibri"/>
              </a:rPr>
              <a:t>Done by the Municipality</a:t>
            </a:r>
          </a:p>
        </p:txBody>
      </p:sp>
      <p:sp>
        <p:nvSpPr>
          <p:cNvPr id="203" name="tb204"/>
          <p:cNvSpPr txBox="1"/>
          <p:nvPr/>
        </p:nvSpPr>
        <p:spPr>
          <a:xfrm>
            <a:off x="3098800" y="927100"/>
            <a:ext cx="2413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i="1" dirty="0">
                <a:solidFill>
                  <a:srgbClr val="797979"/>
                </a:solidFill>
                <a:latin typeface="Calibri"/>
                <a:cs typeface="Calibri"/>
              </a:rPr>
              <a:t>public flow</a:t>
            </a:r>
          </a:p>
        </p:txBody>
      </p:sp>
      <p:sp>
        <p:nvSpPr>
          <p:cNvPr id="204" name="card205"/>
          <p:cNvSpPr/>
          <p:nvPr/>
        </p:nvSpPr>
        <p:spPr>
          <a:xfrm>
            <a:off x="254000" y="11684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9525">
            <a:solidFill>
              <a:srgbClr val="003576"/>
            </a:solidFill>
          </a:ln>
        </p:spPr>
        <p:txBody>
          <a:bodyPr wrap="square" lIns="304800" tIns="25400" rIns="76200" bIns="25400" anchor="ctr"/>
          <a:lstStyle/>
          <a:p>
            <a:pPr algn="l">
              <a:lnSpc>
                <a:spcPct val="100000"/>
              </a:lnSpc>
            </a:pPr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Park clean-up and care</a:t>
            </a:r>
          </a:p>
        </p:txBody>
      </p:sp>
      <p:sp>
        <p:nvSpPr>
          <p:cNvPr id="205" name="card206"/>
          <p:cNvSpPr/>
          <p:nvPr/>
        </p:nvSpPr>
        <p:spPr>
          <a:xfrm>
            <a:off x="3098800" y="11684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F5ECD4"/>
          </a:solidFill>
          <a:ln w="9525">
            <a:solidFill>
              <a:srgbClr val="C89A13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Street lighting</a:t>
            </a:r>
          </a:p>
        </p:txBody>
      </p:sp>
      <p:sp>
        <p:nvSpPr>
          <p:cNvPr id="206" name="card207"/>
          <p:cNvSpPr/>
          <p:nvPr/>
        </p:nvSpPr>
        <p:spPr>
          <a:xfrm>
            <a:off x="254000" y="15748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9525">
            <a:solidFill>
              <a:srgbClr val="003576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Community garden</a:t>
            </a:r>
          </a:p>
        </p:txBody>
      </p:sp>
      <p:sp>
        <p:nvSpPr>
          <p:cNvPr id="207" name="card208"/>
          <p:cNvSpPr/>
          <p:nvPr/>
        </p:nvSpPr>
        <p:spPr>
          <a:xfrm>
            <a:off x="3098800" y="15748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F5ECD4"/>
          </a:solidFill>
          <a:ln w="9525">
            <a:solidFill>
              <a:srgbClr val="C89A13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New playground equipment</a:t>
            </a:r>
          </a:p>
        </p:txBody>
      </p:sp>
      <p:sp>
        <p:nvSpPr>
          <p:cNvPr id="208" name="card209"/>
          <p:cNvSpPr/>
          <p:nvPr/>
        </p:nvSpPr>
        <p:spPr>
          <a:xfrm>
            <a:off x="254000" y="19812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9525">
            <a:solidFill>
              <a:srgbClr val="003576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Mural painted by residents</a:t>
            </a:r>
          </a:p>
        </p:txBody>
      </p:sp>
      <p:sp>
        <p:nvSpPr>
          <p:cNvPr id="209" name="card210"/>
          <p:cNvSpPr/>
          <p:nvPr/>
        </p:nvSpPr>
        <p:spPr>
          <a:xfrm>
            <a:off x="3098800" y="19812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F5ECD4"/>
          </a:solidFill>
          <a:ln w="9525">
            <a:solidFill>
              <a:srgbClr val="C89A13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Safer pedestrian crossings</a:t>
            </a:r>
          </a:p>
        </p:txBody>
      </p:sp>
      <p:sp>
        <p:nvSpPr>
          <p:cNvPr id="210" name="card211"/>
          <p:cNvSpPr/>
          <p:nvPr/>
        </p:nvSpPr>
        <p:spPr>
          <a:xfrm>
            <a:off x="254000" y="23876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9525">
            <a:solidFill>
              <a:srgbClr val="003576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Workshops and events</a:t>
            </a:r>
          </a:p>
        </p:txBody>
      </p:sp>
      <p:sp>
        <p:nvSpPr>
          <p:cNvPr id="211" name="card212"/>
          <p:cNvSpPr/>
          <p:nvPr/>
        </p:nvSpPr>
        <p:spPr>
          <a:xfrm>
            <a:off x="3098800" y="2387600"/>
            <a:ext cx="2413000" cy="330200"/>
          </a:xfrm>
          <a:prstGeom prst="roundRect">
            <a:avLst>
              <a:gd name="adj" fmla="val 12000"/>
            </a:avLst>
          </a:prstGeom>
          <a:solidFill>
            <a:srgbClr val="F5ECD4"/>
          </a:solidFill>
          <a:ln w="9525">
            <a:solidFill>
              <a:srgbClr val="C89A13"/>
            </a:solidFill>
          </a:ln>
        </p:spPr>
        <p:txBody>
          <a:bodyPr wrap="square" lIns="304800" tIns="25400" rIns="76200" bIns="25400" anchor="ctr"/>
          <a:lstStyle/>
          <a:p>
            <a:pPr algn="l"/>
            <a:r>
              <a:rPr lang="en-US" sz="1200" b="1" dirty="0">
                <a:solidFill>
                  <a:srgbClr val="3F3F3F"/>
                </a:solidFill>
                <a:latin typeface="Calibri"/>
                <a:cs typeface="Calibri"/>
              </a:rPr>
              <a:t>Renovation of a civic building</a:t>
            </a:r>
          </a:p>
        </p:txBody>
      </p:sp>
      <p:pic>
        <p:nvPicPr>
          <p:cNvPr id="214" name="Graphic 214" descr="Park clean-u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1257300"/>
            <a:ext cx="152400" cy="152400"/>
          </a:xfrm>
          <a:prstGeom prst="rect">
            <a:avLst/>
          </a:prstGeom>
        </p:spPr>
      </p:pic>
      <p:pic>
        <p:nvPicPr>
          <p:cNvPr id="215" name="Graphic 215" descr="Community gard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1663700"/>
            <a:ext cx="152400" cy="152400"/>
          </a:xfrm>
          <a:prstGeom prst="rect">
            <a:avLst/>
          </a:prstGeom>
        </p:spPr>
      </p:pic>
      <p:pic>
        <p:nvPicPr>
          <p:cNvPr id="216" name="Graphic 216" descr="Mur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70100"/>
            <a:ext cx="152400" cy="152400"/>
          </a:xfrm>
          <a:prstGeom prst="rect">
            <a:avLst/>
          </a:prstGeom>
        </p:spPr>
      </p:pic>
      <p:pic>
        <p:nvPicPr>
          <p:cNvPr id="217" name="Graphic 217" descr="Workshop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00" y="2476500"/>
            <a:ext cx="152400" cy="152400"/>
          </a:xfrm>
          <a:prstGeom prst="rect">
            <a:avLst/>
          </a:prstGeom>
        </p:spPr>
      </p:pic>
      <p:pic>
        <p:nvPicPr>
          <p:cNvPr id="218" name="Graphic 218" descr="Street ligh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7700" y="1257300"/>
            <a:ext cx="152400" cy="152400"/>
          </a:xfrm>
          <a:prstGeom prst="rect">
            <a:avLst/>
          </a:prstGeom>
        </p:spPr>
      </p:pic>
      <p:pic>
        <p:nvPicPr>
          <p:cNvPr id="219" name="Graphic 219" descr="Playgrou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7700" y="1663700"/>
            <a:ext cx="152400" cy="152400"/>
          </a:xfrm>
          <a:prstGeom prst="rect">
            <a:avLst/>
          </a:prstGeom>
        </p:spPr>
      </p:pic>
      <p:pic>
        <p:nvPicPr>
          <p:cNvPr id="220" name="Graphic 220" descr="Pedestrian cross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7700" y="2070100"/>
            <a:ext cx="152400" cy="152400"/>
          </a:xfrm>
          <a:prstGeom prst="rect">
            <a:avLst/>
          </a:prstGeom>
        </p:spPr>
      </p:pic>
      <p:pic>
        <p:nvPicPr>
          <p:cNvPr id="221" name="Graphic 221" descr="Civic buil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87700" y="24765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13739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pc="-10" dirty="0"/>
              <a:t>Architecture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4 Implementation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8</a:t>
            </a:fld>
            <a:r>
              <a:rPr spc="-20" dirty="0"/>
              <a:t>/14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74" y="961139"/>
            <a:ext cx="860425" cy="352425"/>
            <a:chOff x="359974" y="961139"/>
            <a:chExt cx="860425" cy="352425"/>
          </a:xfrm>
        </p:grpSpPr>
        <p:sp>
          <p:nvSpPr>
            <p:cNvPr id="4" name="object 4"/>
            <p:cNvSpPr/>
            <p:nvPr/>
          </p:nvSpPr>
          <p:spPr>
            <a:xfrm>
              <a:off x="365054" y="966219"/>
              <a:ext cx="850265" cy="342265"/>
            </a:xfrm>
            <a:custGeom>
              <a:avLst/>
              <a:gdLst/>
              <a:ahLst/>
              <a:cxnLst/>
              <a:rect l="l" t="t" r="r" b="b"/>
              <a:pathLst>
                <a:path w="850265" h="342265">
                  <a:moveTo>
                    <a:pt x="824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824618" y="342003"/>
                  </a:lnTo>
                  <a:lnTo>
                    <a:pt x="834468" y="340014"/>
                  </a:lnTo>
                  <a:lnTo>
                    <a:pt x="842511" y="334591"/>
                  </a:lnTo>
                  <a:lnTo>
                    <a:pt x="847935" y="326547"/>
                  </a:lnTo>
                  <a:lnTo>
                    <a:pt x="849923" y="316697"/>
                  </a:lnTo>
                  <a:lnTo>
                    <a:pt x="849923" y="25305"/>
                  </a:lnTo>
                  <a:lnTo>
                    <a:pt x="847935" y="15455"/>
                  </a:lnTo>
                  <a:lnTo>
                    <a:pt x="842511" y="7411"/>
                  </a:lnTo>
                  <a:lnTo>
                    <a:pt x="834468" y="1988"/>
                  </a:lnTo>
                  <a:lnTo>
                    <a:pt x="824618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054" y="966219"/>
              <a:ext cx="850265" cy="342265"/>
            </a:xfrm>
            <a:custGeom>
              <a:avLst/>
              <a:gdLst/>
              <a:ahLst/>
              <a:cxnLst/>
              <a:rect l="l" t="t" r="r" b="b"/>
              <a:pathLst>
                <a:path w="850265" h="342265">
                  <a:moveTo>
                    <a:pt x="824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824618" y="342003"/>
                  </a:lnTo>
                  <a:lnTo>
                    <a:pt x="834468" y="340014"/>
                  </a:lnTo>
                  <a:lnTo>
                    <a:pt x="842511" y="334591"/>
                  </a:lnTo>
                  <a:lnTo>
                    <a:pt x="847935" y="326547"/>
                  </a:lnTo>
                  <a:lnTo>
                    <a:pt x="849923" y="316697"/>
                  </a:lnTo>
                  <a:lnTo>
                    <a:pt x="849923" y="25305"/>
                  </a:lnTo>
                  <a:lnTo>
                    <a:pt x="847935" y="15455"/>
                  </a:lnTo>
                  <a:lnTo>
                    <a:pt x="842511" y="7411"/>
                  </a:lnTo>
                  <a:lnTo>
                    <a:pt x="834468" y="1988"/>
                  </a:lnTo>
                  <a:lnTo>
                    <a:pt x="824618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8751" y="1050923"/>
            <a:ext cx="523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74018" y="961139"/>
            <a:ext cx="2603500" cy="352425"/>
            <a:chOff x="1274018" y="961139"/>
            <a:chExt cx="2012314" cy="352425"/>
          </a:xfrm>
        </p:grpSpPr>
        <p:sp>
          <p:nvSpPr>
            <p:cNvPr id="8" name="object 8"/>
            <p:cNvSpPr/>
            <p:nvPr/>
          </p:nvSpPr>
          <p:spPr>
            <a:xfrm>
              <a:off x="1279098" y="966219"/>
              <a:ext cx="2002155" cy="342265"/>
            </a:xfrm>
            <a:custGeom>
              <a:avLst/>
              <a:gdLst/>
              <a:ahLst/>
              <a:cxnLst/>
              <a:rect l="l" t="t" r="r" b="b"/>
              <a:pathLst>
                <a:path w="2002154" h="342265">
                  <a:moveTo>
                    <a:pt x="197663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1976637" y="342003"/>
                  </a:lnTo>
                  <a:lnTo>
                    <a:pt x="1986487" y="340014"/>
                  </a:lnTo>
                  <a:lnTo>
                    <a:pt x="1994531" y="334591"/>
                  </a:lnTo>
                  <a:lnTo>
                    <a:pt x="1999954" y="326547"/>
                  </a:lnTo>
                  <a:lnTo>
                    <a:pt x="2001943" y="316697"/>
                  </a:lnTo>
                  <a:lnTo>
                    <a:pt x="2001943" y="25305"/>
                  </a:lnTo>
                  <a:lnTo>
                    <a:pt x="1999954" y="15455"/>
                  </a:lnTo>
                  <a:lnTo>
                    <a:pt x="1994531" y="7411"/>
                  </a:lnTo>
                  <a:lnTo>
                    <a:pt x="1986487" y="1988"/>
                  </a:lnTo>
                  <a:lnTo>
                    <a:pt x="1976637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9098" y="966219"/>
              <a:ext cx="2002155" cy="342265"/>
            </a:xfrm>
            <a:custGeom>
              <a:avLst/>
              <a:gdLst/>
              <a:ahLst/>
              <a:cxnLst/>
              <a:rect l="l" t="t" r="r" b="b"/>
              <a:pathLst>
                <a:path w="2002154" h="342265">
                  <a:moveTo>
                    <a:pt x="197663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1976637" y="342003"/>
                  </a:lnTo>
                  <a:lnTo>
                    <a:pt x="1986487" y="340014"/>
                  </a:lnTo>
                  <a:lnTo>
                    <a:pt x="1994531" y="334591"/>
                  </a:lnTo>
                  <a:lnTo>
                    <a:pt x="1999954" y="326547"/>
                  </a:lnTo>
                  <a:lnTo>
                    <a:pt x="2001943" y="316697"/>
                  </a:lnTo>
                  <a:lnTo>
                    <a:pt x="2001943" y="25305"/>
                  </a:lnTo>
                  <a:lnTo>
                    <a:pt x="1999954" y="15455"/>
                  </a:lnTo>
                  <a:lnTo>
                    <a:pt x="1994531" y="7411"/>
                  </a:lnTo>
                  <a:lnTo>
                    <a:pt x="1986487" y="1988"/>
                  </a:lnTo>
                  <a:lnTo>
                    <a:pt x="1976637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46250" y="985937"/>
            <a:ext cx="1665605" cy="2637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mbria"/>
                <a:cs typeface="Cambria"/>
              </a:rPr>
              <a:t>CitizenshipSBT</a:t>
            </a:r>
            <a:endParaRPr sz="800" b="1" dirty="0">
              <a:latin typeface="Cambria"/>
              <a:cs typeface="Cambria"/>
            </a:endParaRPr>
          </a:p>
          <a:p>
            <a:pPr algn="ctr">
              <a:lnSpc>
                <a:spcPts val="955"/>
              </a:lnSpc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who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belongs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, </a:t>
            </a:r>
            <a:r>
              <a:rPr lang="it-IT" sz="800" dirty="0" err="1">
                <a:solidFill>
                  <a:srgbClr val="3F3F3F"/>
                </a:solidFill>
                <a:latin typeface="Calibri"/>
                <a:cs typeface="Calibri"/>
              </a:rPr>
              <a:t>who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800" dirty="0" err="1">
                <a:solidFill>
                  <a:srgbClr val="3F3F3F"/>
                </a:solidFill>
                <a:latin typeface="Calibri"/>
                <a:cs typeface="Calibri"/>
              </a:rPr>
              <a:t>votes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9974" y="1357146"/>
            <a:ext cx="860425" cy="352425"/>
            <a:chOff x="359974" y="1357146"/>
            <a:chExt cx="860425" cy="352425"/>
          </a:xfrm>
        </p:grpSpPr>
        <p:sp>
          <p:nvSpPr>
            <p:cNvPr id="12" name="object 12"/>
            <p:cNvSpPr/>
            <p:nvPr/>
          </p:nvSpPr>
          <p:spPr>
            <a:xfrm>
              <a:off x="365054" y="1362226"/>
              <a:ext cx="850265" cy="342265"/>
            </a:xfrm>
            <a:custGeom>
              <a:avLst/>
              <a:gdLst/>
              <a:ahLst/>
              <a:cxnLst/>
              <a:rect l="l" t="t" r="r" b="b"/>
              <a:pathLst>
                <a:path w="850265" h="342264">
                  <a:moveTo>
                    <a:pt x="824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8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824618" y="342003"/>
                  </a:lnTo>
                  <a:lnTo>
                    <a:pt x="834468" y="340014"/>
                  </a:lnTo>
                  <a:lnTo>
                    <a:pt x="842511" y="334591"/>
                  </a:lnTo>
                  <a:lnTo>
                    <a:pt x="847935" y="326548"/>
                  </a:lnTo>
                  <a:lnTo>
                    <a:pt x="849923" y="316697"/>
                  </a:lnTo>
                  <a:lnTo>
                    <a:pt x="849923" y="25305"/>
                  </a:lnTo>
                  <a:lnTo>
                    <a:pt x="847935" y="15455"/>
                  </a:lnTo>
                  <a:lnTo>
                    <a:pt x="842511" y="7411"/>
                  </a:lnTo>
                  <a:lnTo>
                    <a:pt x="834468" y="1988"/>
                  </a:lnTo>
                  <a:lnTo>
                    <a:pt x="824618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054" y="1362226"/>
              <a:ext cx="850265" cy="342265"/>
            </a:xfrm>
            <a:custGeom>
              <a:avLst/>
              <a:gdLst/>
              <a:ahLst/>
              <a:cxnLst/>
              <a:rect l="l" t="t" r="r" b="b"/>
              <a:pathLst>
                <a:path w="850265" h="342264">
                  <a:moveTo>
                    <a:pt x="824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8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824618" y="342003"/>
                  </a:lnTo>
                  <a:lnTo>
                    <a:pt x="834468" y="340014"/>
                  </a:lnTo>
                  <a:lnTo>
                    <a:pt x="842511" y="334591"/>
                  </a:lnTo>
                  <a:lnTo>
                    <a:pt x="847935" y="326548"/>
                  </a:lnTo>
                  <a:lnTo>
                    <a:pt x="849923" y="316697"/>
                  </a:lnTo>
                  <a:lnTo>
                    <a:pt x="849923" y="25305"/>
                  </a:lnTo>
                  <a:lnTo>
                    <a:pt x="847935" y="15455"/>
                  </a:lnTo>
                  <a:lnTo>
                    <a:pt x="842511" y="7411"/>
                  </a:lnTo>
                  <a:lnTo>
                    <a:pt x="834468" y="1988"/>
                  </a:lnTo>
                  <a:lnTo>
                    <a:pt x="824618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0499" y="1452129"/>
            <a:ext cx="6991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Governance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66620" y="1357145"/>
            <a:ext cx="2603500" cy="352425"/>
            <a:chOff x="1274018" y="1357146"/>
            <a:chExt cx="2012314" cy="352425"/>
          </a:xfrm>
        </p:grpSpPr>
        <p:sp>
          <p:nvSpPr>
            <p:cNvPr id="16" name="object 16"/>
            <p:cNvSpPr/>
            <p:nvPr/>
          </p:nvSpPr>
          <p:spPr>
            <a:xfrm>
              <a:off x="1279098" y="1362226"/>
              <a:ext cx="2002155" cy="342265"/>
            </a:xfrm>
            <a:custGeom>
              <a:avLst/>
              <a:gdLst/>
              <a:ahLst/>
              <a:cxnLst/>
              <a:rect l="l" t="t" r="r" b="b"/>
              <a:pathLst>
                <a:path w="2002154" h="342264">
                  <a:moveTo>
                    <a:pt x="197663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8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1976637" y="342003"/>
                  </a:lnTo>
                  <a:lnTo>
                    <a:pt x="1986487" y="340014"/>
                  </a:lnTo>
                  <a:lnTo>
                    <a:pt x="1994531" y="334591"/>
                  </a:lnTo>
                  <a:lnTo>
                    <a:pt x="1999954" y="326548"/>
                  </a:lnTo>
                  <a:lnTo>
                    <a:pt x="2001943" y="316697"/>
                  </a:lnTo>
                  <a:lnTo>
                    <a:pt x="2001943" y="25305"/>
                  </a:lnTo>
                  <a:lnTo>
                    <a:pt x="1999954" y="15455"/>
                  </a:lnTo>
                  <a:lnTo>
                    <a:pt x="1994531" y="7411"/>
                  </a:lnTo>
                  <a:lnTo>
                    <a:pt x="1986487" y="1988"/>
                  </a:lnTo>
                  <a:lnTo>
                    <a:pt x="1976637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9098" y="1362226"/>
              <a:ext cx="2002155" cy="342265"/>
            </a:xfrm>
            <a:custGeom>
              <a:avLst/>
              <a:gdLst/>
              <a:ahLst/>
              <a:cxnLst/>
              <a:rect l="l" t="t" r="r" b="b"/>
              <a:pathLst>
                <a:path w="2002154" h="342264">
                  <a:moveTo>
                    <a:pt x="197663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8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1976637" y="342003"/>
                  </a:lnTo>
                  <a:lnTo>
                    <a:pt x="1986487" y="340014"/>
                  </a:lnTo>
                  <a:lnTo>
                    <a:pt x="1994531" y="334591"/>
                  </a:lnTo>
                  <a:lnTo>
                    <a:pt x="1999954" y="326548"/>
                  </a:lnTo>
                  <a:lnTo>
                    <a:pt x="2001943" y="316697"/>
                  </a:lnTo>
                  <a:lnTo>
                    <a:pt x="2001943" y="25305"/>
                  </a:lnTo>
                  <a:lnTo>
                    <a:pt x="1999954" y="15455"/>
                  </a:lnTo>
                  <a:lnTo>
                    <a:pt x="1994531" y="7411"/>
                  </a:lnTo>
                  <a:lnTo>
                    <a:pt x="1986487" y="1988"/>
                  </a:lnTo>
                  <a:lnTo>
                    <a:pt x="1976637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3694" y="1388702"/>
            <a:ext cx="2025650" cy="2628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spc="50" dirty="0">
                <a:solidFill>
                  <a:srgbClr val="3F3F3F"/>
                </a:solidFill>
                <a:latin typeface="Cambria"/>
                <a:cs typeface="Cambria"/>
              </a:rPr>
              <a:t>ParticipatoryBudget</a:t>
            </a:r>
            <a:r>
              <a:rPr sz="800" spc="10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(public</a:t>
            </a:r>
            <a:r>
              <a:rPr sz="800" spc="1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flow)</a:t>
            </a:r>
            <a:endParaRPr sz="800" dirty="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b="1" spc="80" dirty="0">
                <a:solidFill>
                  <a:srgbClr val="3F3F3F"/>
                </a:solidFill>
                <a:latin typeface="Cambria"/>
                <a:cs typeface="Cambria"/>
              </a:rPr>
              <a:t>CivicProject</a:t>
            </a:r>
            <a:r>
              <a:rPr sz="800" spc="6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(private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flow)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9974" y="1753148"/>
            <a:ext cx="860425" cy="352425"/>
            <a:chOff x="359974" y="1753148"/>
            <a:chExt cx="860425" cy="352425"/>
          </a:xfrm>
        </p:grpSpPr>
        <p:sp>
          <p:nvSpPr>
            <p:cNvPr id="20" name="object 20"/>
            <p:cNvSpPr/>
            <p:nvPr/>
          </p:nvSpPr>
          <p:spPr>
            <a:xfrm>
              <a:off x="365054" y="1758228"/>
              <a:ext cx="850265" cy="342265"/>
            </a:xfrm>
            <a:custGeom>
              <a:avLst/>
              <a:gdLst/>
              <a:ahLst/>
              <a:cxnLst/>
              <a:rect l="l" t="t" r="r" b="b"/>
              <a:pathLst>
                <a:path w="850265" h="342264">
                  <a:moveTo>
                    <a:pt x="824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824618" y="342003"/>
                  </a:lnTo>
                  <a:lnTo>
                    <a:pt x="834468" y="340014"/>
                  </a:lnTo>
                  <a:lnTo>
                    <a:pt x="842511" y="334591"/>
                  </a:lnTo>
                  <a:lnTo>
                    <a:pt x="847935" y="326547"/>
                  </a:lnTo>
                  <a:lnTo>
                    <a:pt x="849923" y="316697"/>
                  </a:lnTo>
                  <a:lnTo>
                    <a:pt x="849923" y="25305"/>
                  </a:lnTo>
                  <a:lnTo>
                    <a:pt x="847935" y="15455"/>
                  </a:lnTo>
                  <a:lnTo>
                    <a:pt x="842511" y="7411"/>
                  </a:lnTo>
                  <a:lnTo>
                    <a:pt x="834468" y="1988"/>
                  </a:lnTo>
                  <a:lnTo>
                    <a:pt x="824618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054" y="1758228"/>
              <a:ext cx="850265" cy="342265"/>
            </a:xfrm>
            <a:custGeom>
              <a:avLst/>
              <a:gdLst/>
              <a:ahLst/>
              <a:cxnLst/>
              <a:rect l="l" t="t" r="r" b="b"/>
              <a:pathLst>
                <a:path w="850265" h="342264">
                  <a:moveTo>
                    <a:pt x="824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824618" y="342003"/>
                  </a:lnTo>
                  <a:lnTo>
                    <a:pt x="834468" y="340014"/>
                  </a:lnTo>
                  <a:lnTo>
                    <a:pt x="842511" y="334591"/>
                  </a:lnTo>
                  <a:lnTo>
                    <a:pt x="847935" y="326547"/>
                  </a:lnTo>
                  <a:lnTo>
                    <a:pt x="849923" y="316697"/>
                  </a:lnTo>
                  <a:lnTo>
                    <a:pt x="849923" y="25305"/>
                  </a:lnTo>
                  <a:lnTo>
                    <a:pt x="847935" y="15455"/>
                  </a:lnTo>
                  <a:lnTo>
                    <a:pt x="842511" y="7411"/>
                  </a:lnTo>
                  <a:lnTo>
                    <a:pt x="834468" y="1988"/>
                  </a:lnTo>
                  <a:lnTo>
                    <a:pt x="824618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1916" y="1840546"/>
            <a:ext cx="576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Economy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74018" y="1753148"/>
            <a:ext cx="2603500" cy="352425"/>
            <a:chOff x="1274018" y="1753148"/>
            <a:chExt cx="2012314" cy="352425"/>
          </a:xfrm>
        </p:grpSpPr>
        <p:sp>
          <p:nvSpPr>
            <p:cNvPr id="24" name="object 24"/>
            <p:cNvSpPr/>
            <p:nvPr/>
          </p:nvSpPr>
          <p:spPr>
            <a:xfrm>
              <a:off x="1279098" y="1758228"/>
              <a:ext cx="2002155" cy="342265"/>
            </a:xfrm>
            <a:custGeom>
              <a:avLst/>
              <a:gdLst/>
              <a:ahLst/>
              <a:cxnLst/>
              <a:rect l="l" t="t" r="r" b="b"/>
              <a:pathLst>
                <a:path w="2002154" h="342264">
                  <a:moveTo>
                    <a:pt x="197663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1976637" y="342003"/>
                  </a:lnTo>
                  <a:lnTo>
                    <a:pt x="1986487" y="340014"/>
                  </a:lnTo>
                  <a:lnTo>
                    <a:pt x="1994531" y="334591"/>
                  </a:lnTo>
                  <a:lnTo>
                    <a:pt x="1999954" y="326547"/>
                  </a:lnTo>
                  <a:lnTo>
                    <a:pt x="2001943" y="316697"/>
                  </a:lnTo>
                  <a:lnTo>
                    <a:pt x="2001943" y="25305"/>
                  </a:lnTo>
                  <a:lnTo>
                    <a:pt x="1999954" y="15455"/>
                  </a:lnTo>
                  <a:lnTo>
                    <a:pt x="1994531" y="7411"/>
                  </a:lnTo>
                  <a:lnTo>
                    <a:pt x="1986487" y="1988"/>
                  </a:lnTo>
                  <a:lnTo>
                    <a:pt x="1976637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79098" y="1758228"/>
              <a:ext cx="2002155" cy="342265"/>
            </a:xfrm>
            <a:custGeom>
              <a:avLst/>
              <a:gdLst/>
              <a:ahLst/>
              <a:cxnLst/>
              <a:rect l="l" t="t" r="r" b="b"/>
              <a:pathLst>
                <a:path w="2002154" h="342264">
                  <a:moveTo>
                    <a:pt x="197663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16697"/>
                  </a:lnTo>
                  <a:lnTo>
                    <a:pt x="1988" y="326547"/>
                  </a:lnTo>
                  <a:lnTo>
                    <a:pt x="7411" y="334591"/>
                  </a:lnTo>
                  <a:lnTo>
                    <a:pt x="15455" y="340014"/>
                  </a:lnTo>
                  <a:lnTo>
                    <a:pt x="25305" y="342003"/>
                  </a:lnTo>
                  <a:lnTo>
                    <a:pt x="1976637" y="342003"/>
                  </a:lnTo>
                  <a:lnTo>
                    <a:pt x="1986487" y="340014"/>
                  </a:lnTo>
                  <a:lnTo>
                    <a:pt x="1994531" y="334591"/>
                  </a:lnTo>
                  <a:lnTo>
                    <a:pt x="1999954" y="326547"/>
                  </a:lnTo>
                  <a:lnTo>
                    <a:pt x="2001943" y="316697"/>
                  </a:lnTo>
                  <a:lnTo>
                    <a:pt x="2001943" y="25305"/>
                  </a:lnTo>
                  <a:lnTo>
                    <a:pt x="1999954" y="15455"/>
                  </a:lnTo>
                  <a:lnTo>
                    <a:pt x="1994531" y="7411"/>
                  </a:lnTo>
                  <a:lnTo>
                    <a:pt x="1986487" y="1988"/>
                  </a:lnTo>
                  <a:lnTo>
                    <a:pt x="1976637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44650" y="1775407"/>
            <a:ext cx="2226296" cy="2680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2710" marR="5080" indent="-8064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mbria"/>
                <a:cs typeface="Cambria"/>
              </a:rPr>
              <a:t>CommunityCredit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800" spc="3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mbria"/>
              </a:rPr>
              <a:t>MerchantMembership</a:t>
            </a:r>
            <a:r>
              <a:rPr sz="800" spc="6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mbria"/>
              </a:rPr>
              <a:t>ProofOfParticipation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800" spc="1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mbria"/>
              </a:rPr>
              <a:t>Reputation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235006" y="961367"/>
            <a:ext cx="1289685" cy="10264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003576"/>
                </a:solidFill>
                <a:latin typeface="Calibri"/>
                <a:cs typeface="Calibri"/>
              </a:rPr>
              <a:t>Stack</a:t>
            </a:r>
            <a:endParaRPr lang="it-IT" sz="1200" b="1" spc="-10" dirty="0">
              <a:solidFill>
                <a:srgbClr val="003576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900" dirty="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Solidity</a:t>
            </a:r>
            <a:r>
              <a:rPr sz="11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endParaRPr lang="it-IT" sz="1100" i="1" dirty="0">
              <a:solidFill>
                <a:srgbClr val="3F3F3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</a:pPr>
            <a:r>
              <a:rPr sz="1100" spc="-10" dirty="0" err="1">
                <a:solidFill>
                  <a:srgbClr val="3F3F3F"/>
                </a:solidFill>
                <a:latin typeface="Calibri"/>
                <a:cs typeface="Calibri"/>
              </a:rPr>
              <a:t>OpenZeppelin</a:t>
            </a:r>
            <a:r>
              <a:rPr sz="11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endParaRPr lang="it-IT" sz="1100" spc="500" dirty="0">
              <a:solidFill>
                <a:srgbClr val="3F3F3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Foundry </a:t>
            </a:r>
            <a:endParaRPr lang="it-IT" sz="1100" i="1" spc="-30" dirty="0">
              <a:solidFill>
                <a:srgbClr val="3F3F3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Anvil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7229716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 err="1"/>
              <a:t>CitizenshipSBT</a:t>
            </a:r>
            <a:r>
              <a:rPr lang="it-IT" dirty="0"/>
              <a:t>.sol</a:t>
            </a:r>
            <a:endParaRPr dirty="0"/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4 Implementation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9</a:t>
            </a:fld>
            <a:r>
              <a:rPr spc="-20" dirty="0"/>
              <a:t>/14</a:t>
            </a:r>
          </a:p>
        </p:txBody>
      </p:sp>
      <p:sp>
        <p:nvSpPr>
          <p:cNvPr id="900" name="Role 1"/>
          <p:cNvSpPr/>
          <p:nvPr/>
        </p:nvSpPr>
        <p:spPr>
          <a:xfrm>
            <a:off x="641397" y="1228725"/>
            <a:ext cx="584200" cy="1143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25400" rIns="12700" bIns="2540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Citizen</a:t>
            </a:r>
          </a:p>
        </p:txBody>
      </p:sp>
      <p:sp>
        <p:nvSpPr>
          <p:cNvPr id="901" name="Step box 1"/>
          <p:cNvSpPr/>
          <p:nvPr/>
        </p:nvSpPr>
        <p:spPr>
          <a:xfrm>
            <a:off x="355647" y="1393825"/>
            <a:ext cx="11557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50800" tIns="114300" rIns="50800" bIns="2540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Calibri"/>
                <a:cs typeface="Calibri"/>
              </a:rPr>
              <a:t>Authentication</a:t>
            </a:r>
          </a:p>
          <a:p>
            <a:pPr marL="0" indent="0" algn="ctr">
              <a:lnSpc>
                <a:spcPts val="700"/>
              </a:lnSpc>
              <a:spcBef>
                <a:spcPts val="8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SPID level 2 authentication</a:t>
            </a:r>
          </a:p>
        </p:txBody>
      </p:sp>
      <p:sp>
        <p:nvSpPr>
          <p:cNvPr id="902" name="Where 1"/>
          <p:cNvSpPr/>
          <p:nvPr/>
        </p:nvSpPr>
        <p:spPr>
          <a:xfrm>
            <a:off x="1079547" y="1431925"/>
            <a:ext cx="381000" cy="1016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wrap="square" lIns="0" tIns="25400" rIns="0" bIns="25400" anchor="t"/>
          <a:lstStyle/>
          <a:p>
            <a:pPr marL="0" indent="0" algn="r">
              <a:lnSpc>
                <a:spcPts val="580"/>
              </a:lnSpc>
              <a:buNone/>
            </a:pPr>
            <a:r>
              <a:rPr lang="en-US" sz="500" dirty="0">
                <a:solidFill>
                  <a:srgbClr val="595959"/>
                </a:solidFill>
                <a:latin typeface="Calibri"/>
                <a:cs typeface="Calibri"/>
              </a:rPr>
              <a:t>off-chain</a:t>
            </a:r>
          </a:p>
        </p:txBody>
      </p:sp>
      <p:sp>
        <p:nvSpPr>
          <p:cNvPr id="904" name="Role 2"/>
          <p:cNvSpPr/>
          <p:nvPr/>
        </p:nvSpPr>
        <p:spPr>
          <a:xfrm>
            <a:off x="1932987" y="1228725"/>
            <a:ext cx="584200" cy="114300"/>
          </a:xfrm>
          <a:prstGeom prst="roundRect">
            <a:avLst>
              <a:gd name="adj" fmla="val 30000"/>
            </a:avLst>
          </a:prstGeom>
          <a:solidFill>
            <a:srgbClr val="F7EFD6"/>
          </a:solidFill>
          <a:ln w="9525">
            <a:solidFill>
              <a:srgbClr val="C89B14"/>
            </a:solidFill>
          </a:ln>
        </p:spPr>
        <p:txBody>
          <a:bodyPr wrap="square" lIns="12700" tIns="25400" rIns="12700" bIns="2540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Municipality</a:t>
            </a:r>
          </a:p>
        </p:txBody>
      </p:sp>
      <p:sp>
        <p:nvSpPr>
          <p:cNvPr id="905" name="Step box 2"/>
          <p:cNvSpPr/>
          <p:nvPr/>
        </p:nvSpPr>
        <p:spPr>
          <a:xfrm>
            <a:off x="1647237" y="1393825"/>
            <a:ext cx="11557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50800" tIns="114300" rIns="50800" bIns="2540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Calibri"/>
                <a:cs typeface="Calibri"/>
              </a:rPr>
              <a:t>Authorization</a:t>
            </a:r>
          </a:p>
          <a:p>
            <a:pPr marL="0" indent="0" algn="ctr">
              <a:lnSpc>
                <a:spcPts val="700"/>
              </a:lnSpc>
              <a:spcBef>
                <a:spcPts val="8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residency checked against the municipal registry</a:t>
            </a:r>
          </a:p>
        </p:txBody>
      </p:sp>
      <p:sp>
        <p:nvSpPr>
          <p:cNvPr id="906" name="Where 2"/>
          <p:cNvSpPr/>
          <p:nvPr/>
        </p:nvSpPr>
        <p:spPr>
          <a:xfrm>
            <a:off x="2371137" y="1431925"/>
            <a:ext cx="381000" cy="1016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wrap="square" lIns="0" tIns="25400" rIns="0" bIns="25400" anchor="t"/>
          <a:lstStyle/>
          <a:p>
            <a:pPr marL="0" indent="0" algn="r">
              <a:lnSpc>
                <a:spcPts val="580"/>
              </a:lnSpc>
              <a:buNone/>
            </a:pPr>
            <a:r>
              <a:rPr lang="en-US" sz="500" dirty="0">
                <a:solidFill>
                  <a:srgbClr val="595959"/>
                </a:solidFill>
                <a:latin typeface="Calibri"/>
                <a:cs typeface="Calibri"/>
              </a:rPr>
              <a:t>off-chain</a:t>
            </a:r>
          </a:p>
        </p:txBody>
      </p:sp>
      <p:sp>
        <p:nvSpPr>
          <p:cNvPr id="908" name="Role 3"/>
          <p:cNvSpPr/>
          <p:nvPr/>
        </p:nvSpPr>
        <p:spPr>
          <a:xfrm>
            <a:off x="3224577" y="1228725"/>
            <a:ext cx="584200" cy="114300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</p:spPr>
        <p:txBody>
          <a:bodyPr wrap="square" lIns="12700" tIns="25400" rIns="12700" bIns="2540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Anyone</a:t>
            </a:r>
          </a:p>
        </p:txBody>
      </p:sp>
      <p:sp>
        <p:nvSpPr>
          <p:cNvPr id="909" name="Step box 3"/>
          <p:cNvSpPr/>
          <p:nvPr/>
        </p:nvSpPr>
        <p:spPr>
          <a:xfrm>
            <a:off x="2938827" y="1393825"/>
            <a:ext cx="11557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50800" tIns="114300" rIns="50800" bIns="2540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00" b="1" dirty="0" err="1">
                <a:solidFill>
                  <a:srgbClr val="003576"/>
                </a:solidFill>
                <a:latin typeface="Consolas"/>
                <a:cs typeface="Consolas"/>
              </a:rPr>
              <a:t>mintWithAuth</a:t>
            </a:r>
            <a:r>
              <a:rPr lang="en-US" sz="600" b="1" dirty="0">
                <a:solidFill>
                  <a:srgbClr val="003576"/>
                </a:solidFill>
                <a:latin typeface="Consolas"/>
                <a:cs typeface="Consolas"/>
              </a:rPr>
              <a:t>()</a:t>
            </a:r>
          </a:p>
          <a:p>
            <a:pPr marL="0" indent="0" algn="ctr">
              <a:lnSpc>
                <a:spcPts val="700"/>
              </a:lnSpc>
              <a:spcBef>
                <a:spcPts val="8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mints the token</a:t>
            </a:r>
          </a:p>
        </p:txBody>
      </p:sp>
      <p:sp>
        <p:nvSpPr>
          <p:cNvPr id="910" name="Where 3"/>
          <p:cNvSpPr/>
          <p:nvPr/>
        </p:nvSpPr>
        <p:spPr>
          <a:xfrm>
            <a:off x="3662727" y="1431925"/>
            <a:ext cx="381000" cy="1016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wrap="square" lIns="0" tIns="25400" rIns="0" bIns="25400" anchor="t"/>
          <a:lstStyle/>
          <a:p>
            <a:pPr marL="0" indent="0" algn="r">
              <a:lnSpc>
                <a:spcPts val="580"/>
              </a:lnSpc>
              <a:buNone/>
            </a:pPr>
            <a:r>
              <a:rPr lang="en-US" sz="500" dirty="0">
                <a:solidFill>
                  <a:srgbClr val="595959"/>
                </a:solidFill>
                <a:latin typeface="Calibri"/>
                <a:cs typeface="Calibri"/>
              </a:rPr>
              <a:t>on-chain</a:t>
            </a:r>
          </a:p>
        </p:txBody>
      </p:sp>
      <p:sp>
        <p:nvSpPr>
          <p:cNvPr id="912" name="Result box"/>
          <p:cNvSpPr/>
          <p:nvPr/>
        </p:nvSpPr>
        <p:spPr>
          <a:xfrm>
            <a:off x="4230417" y="1393825"/>
            <a:ext cx="1155700" cy="660400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 w="9525">
            <a:solidFill>
              <a:srgbClr val="0E8A58"/>
            </a:solidFill>
          </a:ln>
        </p:spPr>
        <p:txBody>
          <a:bodyPr wrap="square" lIns="50800" tIns="25400" rIns="50800" bIns="2540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004628"/>
                </a:solidFill>
                <a:latin typeface="Calibri"/>
                <a:cs typeface="Calibri"/>
              </a:rPr>
              <a:t>Citizenship token</a:t>
            </a:r>
          </a:p>
          <a:p>
            <a:pPr marL="0" indent="0" algn="ctr">
              <a:lnSpc>
                <a:spcPts val="700"/>
              </a:lnSpc>
              <a:spcBef>
                <a:spcPts val="8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minted and locked forever</a:t>
            </a:r>
          </a:p>
        </p:txBody>
      </p:sp>
      <p:sp>
        <p:nvSpPr>
          <p:cNvPr id="913" name="Standard 1"/>
          <p:cNvSpPr/>
          <p:nvPr/>
        </p:nvSpPr>
        <p:spPr>
          <a:xfrm>
            <a:off x="2037127" y="2219898"/>
            <a:ext cx="584200" cy="1397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25400" rIns="12700" bIns="25400" anchor="ctr"/>
          <a:lstStyle/>
          <a:p>
            <a:pPr marL="0" indent="0" algn="ctr">
              <a:lnSpc>
                <a:spcPts val="640"/>
              </a:lnSpc>
              <a:buNone/>
            </a:pPr>
            <a:r>
              <a:rPr lang="en-US" sz="550" dirty="0">
                <a:solidFill>
                  <a:srgbClr val="003576"/>
                </a:solidFill>
                <a:latin typeface="Consolas"/>
                <a:cs typeface="Consolas"/>
              </a:rPr>
              <a:t>ERC-721</a:t>
            </a:r>
          </a:p>
        </p:txBody>
      </p:sp>
      <p:sp>
        <p:nvSpPr>
          <p:cNvPr id="914" name="Standard 2"/>
          <p:cNvSpPr/>
          <p:nvPr/>
        </p:nvSpPr>
        <p:spPr>
          <a:xfrm>
            <a:off x="2722927" y="2219898"/>
            <a:ext cx="939800" cy="1397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25400" rIns="12700" bIns="25400" anchor="ctr"/>
          <a:lstStyle/>
          <a:p>
            <a:pPr marL="0" indent="0" algn="ctr">
              <a:lnSpc>
                <a:spcPts val="640"/>
              </a:lnSpc>
              <a:buNone/>
            </a:pPr>
            <a:r>
              <a:rPr lang="en-US" sz="550" dirty="0">
                <a:solidFill>
                  <a:srgbClr val="003576"/>
                </a:solidFill>
                <a:latin typeface="Consolas"/>
                <a:cs typeface="Consolas"/>
              </a:rPr>
              <a:t>ERC-5192 (soulbound)</a:t>
            </a:r>
          </a:p>
        </p:txBody>
      </p:sp>
      <p:sp>
        <p:nvSpPr>
          <p:cNvPr id="911" name="Result arrow"/>
          <p:cNvSpPr/>
          <p:nvPr/>
        </p:nvSpPr>
        <p:spPr>
          <a:xfrm>
            <a:off x="4100877" y="1724025"/>
            <a:ext cx="123190" cy="0"/>
          </a:xfrm>
          <a:prstGeom prst="line">
            <a:avLst/>
          </a:prstGeom>
          <a:ln w="19050">
            <a:solidFill>
              <a:srgbClr val="0E8A58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0" name="Flow arrow 1"/>
          <p:cNvSpPr/>
          <p:nvPr/>
        </p:nvSpPr>
        <p:spPr>
          <a:xfrm>
            <a:off x="1524047" y="1685925"/>
            <a:ext cx="110490" cy="76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35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1" name="Flow arrow 2"/>
          <p:cNvSpPr/>
          <p:nvPr/>
        </p:nvSpPr>
        <p:spPr>
          <a:xfrm>
            <a:off x="2815637" y="1685925"/>
            <a:ext cx="110490" cy="76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35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95321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 err="1"/>
              <a:t>ParticipatoryBudget</a:t>
            </a:r>
            <a:r>
              <a:rPr lang="it-IT" dirty="0"/>
              <a:t>.sol</a:t>
            </a:r>
            <a:endParaRPr dirty="0"/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4 Implementation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00" name="Role 1"/>
          <p:cNvSpPr/>
          <p:nvPr/>
        </p:nvSpPr>
        <p:spPr>
          <a:xfrm>
            <a:off x="636270" y="1254125"/>
            <a:ext cx="635000" cy="114300"/>
          </a:xfrm>
          <a:prstGeom prst="roundRect">
            <a:avLst>
              <a:gd name="adj" fmla="val 30000"/>
            </a:avLst>
          </a:prstGeom>
          <a:solidFill>
            <a:srgbClr val="F7EFD6"/>
          </a:solidFill>
          <a:ln w="9525">
            <a:solidFill>
              <a:srgbClr val="C89B14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Municipality</a:t>
            </a:r>
          </a:p>
        </p:txBody>
      </p:sp>
      <p:sp>
        <p:nvSpPr>
          <p:cNvPr id="601" name="Fn box 1"/>
          <p:cNvSpPr/>
          <p:nvPr/>
        </p:nvSpPr>
        <p:spPr>
          <a:xfrm>
            <a:off x="375920" y="1406525"/>
            <a:ext cx="11557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50800" tIns="19050" rIns="50800" bIns="1905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onsolas"/>
                <a:cs typeface="Consolas"/>
              </a:rPr>
              <a:t>openRound()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registers the eligible proposals</a:t>
            </a:r>
          </a:p>
        </p:txBody>
      </p:sp>
      <p:sp>
        <p:nvSpPr>
          <p:cNvPr id="602" name="Flow arrow 1"/>
          <p:cNvSpPr/>
          <p:nvPr/>
        </p:nvSpPr>
        <p:spPr>
          <a:xfrm>
            <a:off x="1544320" y="1622425"/>
            <a:ext cx="11049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Role 2"/>
          <p:cNvSpPr/>
          <p:nvPr/>
        </p:nvSpPr>
        <p:spPr>
          <a:xfrm>
            <a:off x="1927860" y="1254125"/>
            <a:ext cx="635000" cy="1143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Citizens</a:t>
            </a:r>
          </a:p>
        </p:txBody>
      </p:sp>
      <p:sp>
        <p:nvSpPr>
          <p:cNvPr id="604" name="Fn box 2"/>
          <p:cNvSpPr/>
          <p:nvPr/>
        </p:nvSpPr>
        <p:spPr>
          <a:xfrm>
            <a:off x="1667510" y="1406525"/>
            <a:ext cx="11557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50800" tIns="19050" rIns="50800" bIns="1905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onsolas"/>
                <a:cs typeface="Consolas"/>
              </a:rPr>
              <a:t>castVotes()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one ballot per citizen, quadratic cost</a:t>
            </a:r>
          </a:p>
        </p:txBody>
      </p:sp>
      <p:sp>
        <p:nvSpPr>
          <p:cNvPr id="605" name="Flow arrow 2"/>
          <p:cNvSpPr/>
          <p:nvPr/>
        </p:nvSpPr>
        <p:spPr>
          <a:xfrm>
            <a:off x="2835910" y="1622425"/>
            <a:ext cx="11049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Role 3"/>
          <p:cNvSpPr/>
          <p:nvPr/>
        </p:nvSpPr>
        <p:spPr>
          <a:xfrm>
            <a:off x="3219450" y="1254125"/>
            <a:ext cx="635000" cy="1143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Anyone</a:t>
            </a:r>
          </a:p>
        </p:txBody>
      </p:sp>
      <p:sp>
        <p:nvSpPr>
          <p:cNvPr id="607" name="Fn box 3"/>
          <p:cNvSpPr/>
          <p:nvPr/>
        </p:nvSpPr>
        <p:spPr>
          <a:xfrm>
            <a:off x="2959100" y="1406525"/>
            <a:ext cx="11557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50800" tIns="19050" rIns="50800" bIns="1905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onsolas"/>
                <a:cs typeface="Consolas"/>
              </a:rPr>
              <a:t>closeRound()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after the deadline, quorum recorded</a:t>
            </a:r>
          </a:p>
        </p:txBody>
      </p:sp>
      <p:sp>
        <p:nvSpPr>
          <p:cNvPr id="608" name="Flow arrow 3"/>
          <p:cNvSpPr/>
          <p:nvPr/>
        </p:nvSpPr>
        <p:spPr>
          <a:xfrm>
            <a:off x="4127500" y="1622425"/>
            <a:ext cx="11049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9" name="Role 4"/>
          <p:cNvSpPr/>
          <p:nvPr/>
        </p:nvSpPr>
        <p:spPr>
          <a:xfrm>
            <a:off x="4511040" y="1254125"/>
            <a:ext cx="635000" cy="114300"/>
          </a:xfrm>
          <a:prstGeom prst="roundRect">
            <a:avLst>
              <a:gd name="adj" fmla="val 30000"/>
            </a:avLst>
          </a:prstGeom>
          <a:solidFill>
            <a:srgbClr val="F7EFD6"/>
          </a:solidFill>
          <a:ln w="9525">
            <a:solidFill>
              <a:srgbClr val="C89B14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Municipality</a:t>
            </a:r>
          </a:p>
        </p:txBody>
      </p:sp>
      <p:sp>
        <p:nvSpPr>
          <p:cNvPr id="610" name="Fn box 4"/>
          <p:cNvSpPr/>
          <p:nvPr/>
        </p:nvSpPr>
        <p:spPr>
          <a:xfrm>
            <a:off x="4250690" y="1406525"/>
            <a:ext cx="11557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50800" tIns="19050" rIns="50800" bIns="1905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onsolas"/>
                <a:cs typeface="Consolas"/>
              </a:rPr>
              <a:t>recordOutcome()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Executed or </a:t>
            </a:r>
            <a:r>
              <a:rPr lang="en-US" sz="600" dirty="0" err="1">
                <a:solidFill>
                  <a:srgbClr val="404040"/>
                </a:solidFill>
                <a:latin typeface="Calibri"/>
                <a:cs typeface="Calibri"/>
              </a:rPr>
              <a:t>NotExecuted</a:t>
            </a: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600" b="1" dirty="0">
                <a:solidFill>
                  <a:srgbClr val="404040"/>
                </a:solidFill>
                <a:latin typeface="Calibri"/>
                <a:cs typeface="Calibri"/>
              </a:rPr>
              <a:t>only with public reasons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636006728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 err="1"/>
              <a:t>CivicProject</a:t>
            </a:r>
            <a:r>
              <a:rPr lang="it-IT" dirty="0"/>
              <a:t>.sol</a:t>
            </a:r>
          </a:p>
          <a:p>
            <a:pPr marL="12700">
              <a:lnSpc>
                <a:spcPts val="1040"/>
              </a:lnSpc>
            </a:pPr>
            <a:r>
              <a:rPr lang="it-IT" sz="900" b="0" dirty="0">
                <a:latin typeface="Calibri"/>
                <a:cs typeface="Calibri"/>
              </a:rPr>
              <a:t>4 </a:t>
            </a:r>
            <a:r>
              <a:rPr lang="it-IT" sz="900" b="0" dirty="0" err="1">
                <a:latin typeface="Calibri"/>
                <a:cs typeface="Calibri"/>
              </a:rPr>
              <a:t>Implementation</a:t>
            </a:r>
            <a:endParaRPr lang="it-IT" sz="900" dirty="0">
              <a:latin typeface="Calibri"/>
              <a:cs typeface="Calibri"/>
            </a:endParaRPr>
          </a:p>
        </p:txBody>
      </p:sp>
      <p:sp>
        <p:nvSpPr>
          <p:cNvPr id="700" name="Role 1"/>
          <p:cNvSpPr/>
          <p:nvPr/>
        </p:nvSpPr>
        <p:spPr>
          <a:xfrm>
            <a:off x="476250" y="9652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Citizens</a:t>
            </a:r>
          </a:p>
        </p:txBody>
      </p:sp>
      <p:sp>
        <p:nvSpPr>
          <p:cNvPr id="701" name="Fn box 1"/>
          <p:cNvSpPr/>
          <p:nvPr/>
        </p:nvSpPr>
        <p:spPr>
          <a:xfrm>
            <a:off x="368300" y="1117600"/>
            <a:ext cx="749300" cy="6032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19050" tIns="38100" rIns="19050" bIns="1905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550" b="1" dirty="0">
                <a:solidFill>
                  <a:srgbClr val="003576"/>
                </a:solidFill>
                <a:latin typeface="Consolas"/>
                <a:cs typeface="Consolas"/>
              </a:rPr>
              <a:t>propose()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project, team and credit reward</a:t>
            </a:r>
          </a:p>
        </p:txBody>
      </p:sp>
      <p:sp>
        <p:nvSpPr>
          <p:cNvPr id="702" name="Flow arrow 1"/>
          <p:cNvSpPr/>
          <p:nvPr/>
        </p:nvSpPr>
        <p:spPr>
          <a:xfrm>
            <a:off x="1123950" y="1536700"/>
            <a:ext cx="8255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3" name="Role 2"/>
          <p:cNvSpPr/>
          <p:nvPr/>
        </p:nvSpPr>
        <p:spPr>
          <a:xfrm>
            <a:off x="1327150" y="9652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CDFAE1"/>
          </a:solidFill>
          <a:ln w="9525">
            <a:solidFill>
              <a:srgbClr val="0E8A58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</a:p>
        </p:txBody>
      </p:sp>
      <p:sp>
        <p:nvSpPr>
          <p:cNvPr id="704" name="Fn box 2"/>
          <p:cNvSpPr/>
          <p:nvPr/>
        </p:nvSpPr>
        <p:spPr>
          <a:xfrm>
            <a:off x="1219200" y="1117600"/>
            <a:ext cx="749300" cy="6032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19050" tIns="38100" rIns="19050" bIns="1905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550" b="1" dirty="0">
                <a:solidFill>
                  <a:srgbClr val="003576"/>
                </a:solidFill>
                <a:latin typeface="Consolas"/>
                <a:cs typeface="Consolas"/>
              </a:rPr>
              <a:t>consentToTeam()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the last consent opens the vote</a:t>
            </a:r>
          </a:p>
        </p:txBody>
      </p:sp>
      <p:sp>
        <p:nvSpPr>
          <p:cNvPr id="705" name="Flow arrow 2"/>
          <p:cNvSpPr/>
          <p:nvPr/>
        </p:nvSpPr>
        <p:spPr>
          <a:xfrm>
            <a:off x="1974850" y="1536700"/>
            <a:ext cx="8255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6" name="Role 3"/>
          <p:cNvSpPr/>
          <p:nvPr/>
        </p:nvSpPr>
        <p:spPr>
          <a:xfrm>
            <a:off x="2178050" y="9652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Citizens</a:t>
            </a:r>
          </a:p>
        </p:txBody>
      </p:sp>
      <p:sp>
        <p:nvSpPr>
          <p:cNvPr id="707" name="Fn box 3"/>
          <p:cNvSpPr/>
          <p:nvPr/>
        </p:nvSpPr>
        <p:spPr>
          <a:xfrm>
            <a:off x="2070100" y="1117600"/>
            <a:ext cx="749300" cy="603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19050" tIns="38100" rIns="19050" bIns="1905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550" b="1" dirty="0">
                <a:solidFill>
                  <a:srgbClr val="003576"/>
                </a:solidFill>
                <a:latin typeface="Consolas"/>
                <a:cs typeface="Consolas"/>
              </a:rPr>
              <a:t>vote()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one citizen, one vote, </a:t>
            </a:r>
          </a:p>
        </p:txBody>
      </p:sp>
      <p:sp>
        <p:nvSpPr>
          <p:cNvPr id="708" name="Flow arrow 3"/>
          <p:cNvSpPr/>
          <p:nvPr/>
        </p:nvSpPr>
        <p:spPr>
          <a:xfrm>
            <a:off x="2825750" y="1536700"/>
            <a:ext cx="8255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9" name="Role 4"/>
          <p:cNvSpPr/>
          <p:nvPr/>
        </p:nvSpPr>
        <p:spPr>
          <a:xfrm>
            <a:off x="3028950" y="9652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Anyone</a:t>
            </a:r>
          </a:p>
        </p:txBody>
      </p:sp>
      <p:sp>
        <p:nvSpPr>
          <p:cNvPr id="710" name="Fn box 4"/>
          <p:cNvSpPr/>
          <p:nvPr/>
        </p:nvSpPr>
        <p:spPr>
          <a:xfrm>
            <a:off x="2921000" y="1117600"/>
            <a:ext cx="749300" cy="603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19050" tIns="38100" rIns="19050" bIns="1905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550" b="1" dirty="0">
                <a:solidFill>
                  <a:srgbClr val="003576"/>
                </a:solidFill>
                <a:latin typeface="Consolas"/>
                <a:cs typeface="Consolas"/>
              </a:rPr>
              <a:t>closeVoting()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quorum + majority, otherwise archived</a:t>
            </a:r>
          </a:p>
        </p:txBody>
      </p:sp>
      <p:sp>
        <p:nvSpPr>
          <p:cNvPr id="711" name="Flow arrow 4"/>
          <p:cNvSpPr/>
          <p:nvPr/>
        </p:nvSpPr>
        <p:spPr>
          <a:xfrm>
            <a:off x="3676650" y="1536700"/>
            <a:ext cx="8255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2" name="Role 5"/>
          <p:cNvSpPr/>
          <p:nvPr/>
        </p:nvSpPr>
        <p:spPr>
          <a:xfrm>
            <a:off x="3879850" y="9652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CDFAE1"/>
          </a:solidFill>
          <a:ln w="9525">
            <a:solidFill>
              <a:srgbClr val="0E8A58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</a:p>
        </p:txBody>
      </p:sp>
      <p:sp>
        <p:nvSpPr>
          <p:cNvPr id="713" name="Fn box 5"/>
          <p:cNvSpPr/>
          <p:nvPr/>
        </p:nvSpPr>
        <p:spPr>
          <a:xfrm>
            <a:off x="3771900" y="1117600"/>
            <a:ext cx="749300" cy="603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19050" tIns="38100" rIns="19050" bIns="1905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550" b="1" dirty="0">
                <a:solidFill>
                  <a:srgbClr val="003576"/>
                </a:solidFill>
                <a:latin typeface="Consolas"/>
                <a:cs typeface="Consolas"/>
              </a:rPr>
              <a:t>submitEvidence()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proof and actual performers on IPFS </a:t>
            </a:r>
          </a:p>
        </p:txBody>
      </p:sp>
      <p:sp>
        <p:nvSpPr>
          <p:cNvPr id="714" name="Flow arrow 5"/>
          <p:cNvSpPr/>
          <p:nvPr/>
        </p:nvSpPr>
        <p:spPr>
          <a:xfrm>
            <a:off x="4527550" y="1536700"/>
            <a:ext cx="82550" cy="0"/>
          </a:xfrm>
          <a:prstGeom prst="line">
            <a:avLst/>
          </a:prstGeom>
          <a:ln w="12700">
            <a:solidFill>
              <a:srgbClr val="003576"/>
            </a:solidFill>
            <a:tailEnd type="triangle" w="sm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5" name="Role 6"/>
          <p:cNvSpPr/>
          <p:nvPr/>
        </p:nvSpPr>
        <p:spPr>
          <a:xfrm>
            <a:off x="4730750" y="9652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550" b="1" dirty="0">
                <a:solidFill>
                  <a:srgbClr val="404040"/>
                </a:solidFill>
                <a:latin typeface="Calibri"/>
                <a:cs typeface="Calibri"/>
              </a:rPr>
              <a:t>Anyone</a:t>
            </a:r>
          </a:p>
        </p:txBody>
      </p:sp>
      <p:sp>
        <p:nvSpPr>
          <p:cNvPr id="716" name="Fn box 6"/>
          <p:cNvSpPr/>
          <p:nvPr/>
        </p:nvSpPr>
        <p:spPr>
          <a:xfrm>
            <a:off x="4622800" y="1117600"/>
            <a:ext cx="850900" cy="60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3576"/>
            </a:solidFill>
          </a:ln>
        </p:spPr>
        <p:txBody>
          <a:bodyPr wrap="square" lIns="19050" tIns="38100" rIns="19050" bIns="1905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550" b="1" dirty="0">
                <a:solidFill>
                  <a:srgbClr val="003576"/>
                </a:solidFill>
                <a:latin typeface="Consolas"/>
              </a:rPr>
              <a:t>confirmOptimistic</a:t>
            </a:r>
            <a:r>
              <a:rPr lang="en-US" sz="500" b="1" dirty="0">
                <a:solidFill>
                  <a:srgbClr val="003576"/>
                </a:solidFill>
                <a:latin typeface="Consolas"/>
                <a:cs typeface="Consolas"/>
              </a:rPr>
              <a:t>()</a:t>
            </a:r>
          </a:p>
          <a:p>
            <a:pPr marL="0" indent="0" algn="ctr">
              <a:lnSpc>
                <a:spcPts val="700"/>
              </a:lnSpc>
              <a:spcBef>
                <a:spcPts val="60"/>
              </a:spcBef>
              <a:buNone/>
            </a:pPr>
            <a:r>
              <a:rPr lang="en-US" sz="600" dirty="0">
                <a:solidFill>
                  <a:srgbClr val="404040"/>
                </a:solidFill>
                <a:latin typeface="Calibri"/>
                <a:cs typeface="Calibri"/>
              </a:rPr>
              <a:t>after window expiration without a challenge</a:t>
            </a:r>
          </a:p>
        </p:txBody>
      </p:sp>
      <p:sp>
        <p:nvSpPr>
          <p:cNvPr id="760" name="Challenge arrow"/>
          <p:cNvSpPr/>
          <p:nvPr/>
        </p:nvSpPr>
        <p:spPr>
          <a:xfrm>
            <a:off x="4146550" y="1727200"/>
            <a:ext cx="0" cy="44450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61" name="if challenged"/>
          <p:cNvSpPr txBox="1"/>
          <p:nvPr/>
        </p:nvSpPr>
        <p:spPr>
          <a:xfrm>
            <a:off x="4191000" y="18161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550" i="1" dirty="0">
                <a:solidFill>
                  <a:srgbClr val="003576"/>
                </a:solidFill>
                <a:latin typeface="Calibri"/>
                <a:cs typeface="Calibri"/>
              </a:rPr>
              <a:t>if challenged</a:t>
            </a:r>
          </a:p>
        </p:txBody>
      </p:sp>
      <p:sp>
        <p:nvSpPr>
          <p:cNvPr id="762" name="Challenge box"/>
          <p:cNvSpPr/>
          <p:nvPr/>
        </p:nvSpPr>
        <p:spPr>
          <a:xfrm>
            <a:off x="3771900" y="2184400"/>
            <a:ext cx="1701800" cy="558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003576"/>
            </a:solidFill>
          </a:ln>
        </p:spPr>
        <p:txBody>
          <a:bodyPr wrap="square" lIns="38100" tIns="38100" rIns="38100" bIns="38100" anchor="ctr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600" b="1" dirty="0">
                <a:solidFill>
                  <a:srgbClr val="003576"/>
                </a:solidFill>
                <a:latin typeface="Consolas"/>
                <a:cs typeface="Consolas"/>
              </a:rPr>
              <a:t>challenge() → resolveChallenge()</a:t>
            </a:r>
          </a:p>
          <a:p>
            <a:pPr marL="0" indent="0" algn="ctr">
              <a:lnSpc>
                <a:spcPts val="680"/>
              </a:lnSpc>
              <a:spcBef>
                <a:spcPts val="120"/>
              </a:spcBef>
              <a:buNone/>
            </a:pPr>
            <a:r>
              <a:rPr lang="en-US" sz="550" dirty="0">
                <a:solidFill>
                  <a:srgbClr val="404040"/>
                </a:solidFill>
                <a:latin typeface="Calibri"/>
                <a:cs typeface="Calibri"/>
              </a:rPr>
              <a:t>a citizen objects;</a:t>
            </a:r>
          </a:p>
          <a:p>
            <a:pPr marL="0" indent="0" algn="ctr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550" dirty="0">
                <a:solidFill>
                  <a:srgbClr val="404040"/>
                </a:solidFill>
                <a:latin typeface="Calibri"/>
                <a:cs typeface="Calibri"/>
              </a:rPr>
              <a:t>the jury approves or rejects</a:t>
            </a:r>
          </a:p>
        </p:txBody>
      </p:sp>
      <p:sp>
        <p:nvSpPr>
          <p:cNvPr id="763" name="Role Jury"/>
          <p:cNvSpPr/>
          <p:nvPr/>
        </p:nvSpPr>
        <p:spPr>
          <a:xfrm>
            <a:off x="4572000" y="2044700"/>
            <a:ext cx="533400" cy="1143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560"/>
              </a:lnSpc>
              <a:buNone/>
            </a:pPr>
            <a:r>
              <a:rPr lang="en-US" sz="500" b="1" dirty="0">
                <a:solidFill>
                  <a:srgbClr val="404040"/>
                </a:solidFill>
                <a:latin typeface="Calibri"/>
                <a:cs typeface="Calibri"/>
              </a:rPr>
              <a:t>Jury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828886408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Rewards and the closed-loop economy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4 Implementation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12</a:t>
            </a:fld>
            <a:r>
              <a:rPr spc="-20" dirty="0"/>
              <a:t>/14</a:t>
            </a:r>
          </a:p>
        </p:txBody>
      </p:sp>
      <p:sp>
        <p:nvSpPr>
          <p:cNvPr id="900" name="Rewards heading"/>
          <p:cNvSpPr/>
          <p:nvPr/>
        </p:nvSpPr>
        <p:spPr>
          <a:xfrm>
            <a:off x="321894" y="658153"/>
            <a:ext cx="2184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003576"/>
                </a:solidFill>
                <a:latin typeface="Calibri"/>
                <a:cs typeface="Calibri"/>
              </a:rPr>
              <a:t>What performers receive</a:t>
            </a:r>
          </a:p>
        </p:txBody>
      </p:sp>
      <p:sp>
        <p:nvSpPr>
          <p:cNvPr id="901" name="Rewards list"/>
          <p:cNvSpPr/>
          <p:nvPr/>
        </p:nvSpPr>
        <p:spPr>
          <a:xfrm>
            <a:off x="311150" y="927100"/>
            <a:ext cx="2184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14300" indent="-114300" algn="l">
              <a:lnSpc>
                <a:spcPts val="780"/>
              </a:lnSpc>
              <a:spcBef>
                <a:spcPts val="200"/>
              </a:spcBef>
              <a:buClr>
                <a:srgbClr val="003576"/>
              </a:buClr>
              <a:buFont typeface="Arial"/>
              <a:buChar char="•"/>
            </a:pPr>
            <a:r>
              <a:rPr lang="en-US" sz="900" b="1" dirty="0" err="1">
                <a:solidFill>
                  <a:srgbClr val="003576"/>
                </a:solidFill>
                <a:latin typeface="Consolas"/>
                <a:cs typeface="Consolas"/>
              </a:rPr>
              <a:t>CommunityCredit</a:t>
            </a:r>
            <a:r>
              <a:rPr lang="en-US" sz="900" b="1" dirty="0">
                <a:solidFill>
                  <a:srgbClr val="404040"/>
                </a:solidFill>
                <a:latin typeface="Calibri"/>
                <a:cs typeface="Calibri"/>
              </a:rPr>
              <a:t>: </a:t>
            </a:r>
            <a:r>
              <a:rPr lang="en-US" sz="900" dirty="0">
                <a:solidFill>
                  <a:srgbClr val="404040"/>
                </a:solidFill>
                <a:latin typeface="Calibri"/>
                <a:cs typeface="Calibri"/>
              </a:rPr>
              <a:t>ERC-20 credits, spendable locally</a:t>
            </a:r>
          </a:p>
          <a:p>
            <a:pPr marL="114300" indent="-114300" algn="l">
              <a:lnSpc>
                <a:spcPts val="780"/>
              </a:lnSpc>
              <a:spcBef>
                <a:spcPts val="2300"/>
              </a:spcBef>
              <a:buClr>
                <a:srgbClr val="003576"/>
              </a:buClr>
              <a:buFont typeface="Arial"/>
              <a:buChar char="•"/>
            </a:pPr>
            <a:r>
              <a:rPr lang="en-US" sz="900" b="1" dirty="0" err="1">
                <a:solidFill>
                  <a:srgbClr val="003576"/>
                </a:solidFill>
                <a:latin typeface="Consolas"/>
                <a:cs typeface="Consolas"/>
              </a:rPr>
              <a:t>ProofOfParticipation</a:t>
            </a:r>
            <a:r>
              <a:rPr lang="en-US" sz="900" b="1" dirty="0">
                <a:solidFill>
                  <a:srgbClr val="404040"/>
                </a:solidFill>
                <a:latin typeface="Calibri"/>
                <a:cs typeface="Calibri"/>
              </a:rPr>
              <a:t>: </a:t>
            </a:r>
            <a:r>
              <a:rPr lang="en-US" sz="900" dirty="0" err="1">
                <a:solidFill>
                  <a:srgbClr val="404040"/>
                </a:solidFill>
                <a:latin typeface="Calibri"/>
                <a:cs typeface="Calibri"/>
              </a:rPr>
              <a:t>soulbound</a:t>
            </a:r>
            <a:r>
              <a:rPr lang="en-US" sz="900" dirty="0">
                <a:solidFill>
                  <a:srgbClr val="404040"/>
                </a:solidFill>
                <a:latin typeface="Calibri"/>
                <a:cs typeface="Calibri"/>
              </a:rPr>
              <a:t> badge, one per project</a:t>
            </a:r>
          </a:p>
          <a:p>
            <a:pPr marL="114300" indent="-114300" algn="l">
              <a:lnSpc>
                <a:spcPts val="780"/>
              </a:lnSpc>
              <a:spcBef>
                <a:spcPts val="2300"/>
              </a:spcBef>
              <a:buClr>
                <a:srgbClr val="003576"/>
              </a:buClr>
              <a:buFont typeface="Arial"/>
              <a:buChar char="•"/>
            </a:pPr>
            <a:r>
              <a:rPr lang="en-US" sz="900" b="1" dirty="0">
                <a:solidFill>
                  <a:srgbClr val="003576"/>
                </a:solidFill>
                <a:latin typeface="Consolas"/>
                <a:cs typeface="Consolas"/>
              </a:rPr>
              <a:t>Reputation</a:t>
            </a:r>
            <a:r>
              <a:rPr lang="en-US" sz="900" b="1" dirty="0">
                <a:solidFill>
                  <a:srgbClr val="404040"/>
                </a:solidFill>
                <a:latin typeface="Calibri"/>
                <a:cs typeface="Calibri"/>
              </a:rPr>
              <a:t>: </a:t>
            </a:r>
            <a:r>
              <a:rPr lang="en-US" sz="900" dirty="0">
                <a:solidFill>
                  <a:srgbClr val="404040"/>
                </a:solidFill>
                <a:latin typeface="Calibri"/>
                <a:cs typeface="Calibri"/>
              </a:rPr>
              <a:t>increase in reputation(it decays over time)</a:t>
            </a:r>
          </a:p>
        </p:txBody>
      </p:sp>
      <p:sp>
        <p:nvSpPr>
          <p:cNvPr id="910" name="Economy heading"/>
          <p:cNvSpPr/>
          <p:nvPr/>
        </p:nvSpPr>
        <p:spPr>
          <a:xfrm>
            <a:off x="2599106" y="658153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003576"/>
                </a:solidFill>
                <a:latin typeface="Calibri"/>
                <a:cs typeface="Calibri"/>
              </a:rPr>
              <a:t>Closed-loop economy</a:t>
            </a:r>
          </a:p>
        </p:txBody>
      </p:sp>
      <p:sp>
        <p:nvSpPr>
          <p:cNvPr id="911" name="Node CivicProject"/>
          <p:cNvSpPr/>
          <p:nvPr/>
        </p:nvSpPr>
        <p:spPr>
          <a:xfrm>
            <a:off x="3698994" y="852631"/>
            <a:ext cx="660400" cy="1524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b="1" dirty="0">
                <a:solidFill>
                  <a:srgbClr val="404040"/>
                </a:solidFill>
                <a:latin typeface="Calibri"/>
                <a:cs typeface="Calibri"/>
              </a:rPr>
              <a:t>CivicProject</a:t>
            </a:r>
          </a:p>
        </p:txBody>
      </p:sp>
      <p:sp>
        <p:nvSpPr>
          <p:cNvPr id="912" name="Node Citizen"/>
          <p:cNvSpPr/>
          <p:nvPr/>
        </p:nvSpPr>
        <p:spPr>
          <a:xfrm>
            <a:off x="4334485" y="1788039"/>
            <a:ext cx="660400" cy="152400"/>
          </a:xfrm>
          <a:prstGeom prst="roundRect">
            <a:avLst>
              <a:gd name="adj" fmla="val 30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b="1" dirty="0">
                <a:solidFill>
                  <a:srgbClr val="404040"/>
                </a:solidFill>
                <a:latin typeface="Calibri"/>
                <a:cs typeface="Calibri"/>
              </a:rPr>
              <a:t>Citizen</a:t>
            </a:r>
          </a:p>
        </p:txBody>
      </p:sp>
      <p:sp>
        <p:nvSpPr>
          <p:cNvPr id="913" name="Node Business"/>
          <p:cNvSpPr/>
          <p:nvPr/>
        </p:nvSpPr>
        <p:spPr>
          <a:xfrm>
            <a:off x="3032821" y="1788039"/>
            <a:ext cx="660400" cy="152400"/>
          </a:xfrm>
          <a:prstGeom prst="roundRect">
            <a:avLst>
              <a:gd name="adj" fmla="val 30000"/>
            </a:avLst>
          </a:prstGeom>
          <a:solidFill>
            <a:srgbClr val="F7EFD6"/>
          </a:solidFill>
          <a:ln w="9525">
            <a:solidFill>
              <a:srgbClr val="C89B14"/>
            </a:solidFill>
          </a:ln>
        </p:spPr>
        <p:txBody>
          <a:bodyPr wrap="square" lIns="12700" tIns="19050" rIns="12700" bIns="1905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b="1" dirty="0">
                <a:solidFill>
                  <a:srgbClr val="404040"/>
                </a:solidFill>
                <a:latin typeface="Calibri"/>
                <a:cs typeface="Calibri"/>
              </a:rPr>
              <a:t>Business</a:t>
            </a:r>
          </a:p>
        </p:txBody>
      </p:sp>
      <p:sp>
        <p:nvSpPr>
          <p:cNvPr id="920" name="Arrow mint"/>
          <p:cNvSpPr/>
          <p:nvPr/>
        </p:nvSpPr>
        <p:spPr>
          <a:xfrm>
            <a:off x="3498850" y="1060161"/>
            <a:ext cx="1066800" cy="1066800"/>
          </a:xfrm>
          <a:prstGeom prst="arc">
            <a:avLst>
              <a:gd name="adj1" fmla="val 17280000"/>
              <a:gd name="adj2" fmla="val 720000"/>
            </a:avLst>
          </a:prstGeom>
          <a:noFill/>
          <a:ln w="12700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pPr algn="ctr">
              <a:buNone/>
            </a:pPr>
            <a:endParaRPr lang="en-US" sz="500"/>
          </a:p>
        </p:txBody>
      </p:sp>
      <p:sp>
        <p:nvSpPr>
          <p:cNvPr id="921" name="Arrow transfer"/>
          <p:cNvSpPr/>
          <p:nvPr/>
        </p:nvSpPr>
        <p:spPr>
          <a:xfrm>
            <a:off x="3498850" y="1060161"/>
            <a:ext cx="1066800" cy="1066800"/>
          </a:xfrm>
          <a:prstGeom prst="arc">
            <a:avLst>
              <a:gd name="adj1" fmla="val 2880000"/>
              <a:gd name="adj2" fmla="val 7920000"/>
            </a:avLst>
          </a:prstGeom>
          <a:noFill/>
          <a:ln w="12700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pPr algn="ctr">
              <a:buNone/>
            </a:pPr>
            <a:endParaRPr lang="en-US" sz="500"/>
          </a:p>
        </p:txBody>
      </p:sp>
      <p:sp>
        <p:nvSpPr>
          <p:cNvPr id="922" name="Arrow redeem"/>
          <p:cNvSpPr/>
          <p:nvPr/>
        </p:nvSpPr>
        <p:spPr>
          <a:xfrm>
            <a:off x="3498850" y="1060161"/>
            <a:ext cx="1066800" cy="1066800"/>
          </a:xfrm>
          <a:prstGeom prst="arc">
            <a:avLst>
              <a:gd name="adj1" fmla="val 10080000"/>
              <a:gd name="adj2" fmla="val 15120000"/>
            </a:avLst>
          </a:prstGeom>
          <a:noFill/>
          <a:ln w="12700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pPr algn="ctr">
              <a:buNone/>
            </a:pPr>
            <a:endParaRPr lang="en-US" sz="500"/>
          </a:p>
        </p:txBody>
      </p:sp>
      <p:sp>
        <p:nvSpPr>
          <p:cNvPr id="930" name="Label mint"/>
          <p:cNvSpPr/>
          <p:nvPr/>
        </p:nvSpPr>
        <p:spPr>
          <a:xfrm>
            <a:off x="4749800" y="1009361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800" b="1" dirty="0">
                <a:solidFill>
                  <a:srgbClr val="003576"/>
                </a:solidFill>
                <a:latin typeface="Consolas"/>
                <a:cs typeface="Consolas"/>
              </a:rPr>
              <a:t>mint()</a:t>
            </a:r>
          </a:p>
          <a:p>
            <a:pPr marL="0" indent="0" algn="l">
              <a:lnSpc>
                <a:spcPts val="620"/>
              </a:lnSpc>
              <a:spcBef>
                <a:spcPts val="60"/>
              </a:spcBef>
              <a:buNone/>
            </a:pPr>
            <a:r>
              <a:rPr lang="en-US" sz="800" dirty="0">
                <a:solidFill>
                  <a:srgbClr val="404040"/>
                </a:solidFill>
                <a:latin typeface="Calibri"/>
                <a:cs typeface="Calibri"/>
              </a:rPr>
              <a:t>credits issued to each performer</a:t>
            </a:r>
          </a:p>
        </p:txBody>
      </p:sp>
      <p:sp>
        <p:nvSpPr>
          <p:cNvPr id="931" name="Label transfer"/>
          <p:cNvSpPr/>
          <p:nvPr/>
        </p:nvSpPr>
        <p:spPr>
          <a:xfrm>
            <a:off x="3200400" y="2228561"/>
            <a:ext cx="16637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60"/>
              </a:lnSpc>
              <a:buNone/>
            </a:pPr>
            <a:r>
              <a:rPr lang="en-US" sz="800" b="1" dirty="0">
                <a:solidFill>
                  <a:srgbClr val="003576"/>
                </a:solidFill>
                <a:latin typeface="Consolas"/>
                <a:cs typeface="Consolas"/>
              </a:rPr>
              <a:t>transfer()</a:t>
            </a:r>
          </a:p>
          <a:p>
            <a:pPr marL="0" indent="0" algn="ctr">
              <a:lnSpc>
                <a:spcPts val="620"/>
              </a:lnSpc>
              <a:spcBef>
                <a:spcPts val="60"/>
              </a:spcBef>
              <a:buNone/>
            </a:pPr>
            <a:r>
              <a:rPr lang="en-US" sz="800" dirty="0">
                <a:solidFill>
                  <a:srgbClr val="404040"/>
                </a:solidFill>
                <a:latin typeface="Calibri"/>
                <a:cs typeface="Calibri"/>
              </a:rPr>
              <a:t>allowed only towards an active member business</a:t>
            </a:r>
          </a:p>
        </p:txBody>
      </p:sp>
      <p:sp>
        <p:nvSpPr>
          <p:cNvPr id="932" name="Label redeem"/>
          <p:cNvSpPr/>
          <p:nvPr/>
        </p:nvSpPr>
        <p:spPr>
          <a:xfrm>
            <a:off x="2603500" y="1009361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lnSpc>
                <a:spcPts val="660"/>
              </a:lnSpc>
              <a:buNone/>
            </a:pPr>
            <a:r>
              <a:rPr lang="en-US" sz="800" b="1" dirty="0">
                <a:solidFill>
                  <a:srgbClr val="003576"/>
                </a:solidFill>
                <a:latin typeface="Consolas"/>
                <a:cs typeface="Consolas"/>
              </a:rPr>
              <a:t>redeem()</a:t>
            </a:r>
          </a:p>
          <a:p>
            <a:pPr marL="0" indent="0" algn="r">
              <a:lnSpc>
                <a:spcPts val="620"/>
              </a:lnSpc>
              <a:spcBef>
                <a:spcPts val="60"/>
              </a:spcBef>
              <a:buNone/>
            </a:pPr>
            <a:r>
              <a:rPr lang="en-US" sz="800" dirty="0">
                <a:solidFill>
                  <a:srgbClr val="404040"/>
                </a:solidFill>
                <a:latin typeface="Calibri"/>
                <a:cs typeface="Calibri"/>
              </a:rPr>
              <a:t>the business burns its own credits</a:t>
            </a:r>
          </a:p>
        </p:txBody>
      </p:sp>
      <p:sp>
        <p:nvSpPr>
          <p:cNvPr id="960" name="Why closed-loop note"/>
          <p:cNvSpPr/>
          <p:nvPr/>
        </p:nvSpPr>
        <p:spPr>
          <a:xfrm>
            <a:off x="254000" y="2616200"/>
            <a:ext cx="5257800" cy="406400"/>
          </a:xfrm>
          <a:prstGeom prst="roundRect">
            <a:avLst>
              <a:gd name="adj" fmla="val 8000"/>
            </a:avLst>
          </a:prstGeom>
          <a:solidFill>
            <a:srgbClr val="EAEEF4"/>
          </a:solidFill>
          <a:ln w="6350">
            <a:solidFill>
              <a:srgbClr val="003576"/>
            </a:solidFill>
          </a:ln>
        </p:spPr>
        <p:txBody>
          <a:bodyPr wrap="square" lIns="88900" tIns="25400" rIns="88900" bIns="25400" anchor="ctr"/>
          <a:lstStyle/>
          <a:p>
            <a:pPr algn="l">
              <a:lnSpc>
                <a:spcPct val="100000"/>
              </a:lnSpc>
            </a:pPr>
            <a:r>
              <a:rPr lang="en-US" sz="800" b="1" dirty="0">
                <a:solidFill>
                  <a:srgbClr val="003576"/>
                </a:solidFill>
                <a:latin typeface="Calibri"/>
                <a:cs typeface="Calibri"/>
              </a:rPr>
              <a:t>Why closed-loop? </a:t>
            </a:r>
            <a:r>
              <a:rPr lang="en-US" sz="800" dirty="0">
                <a:solidFill>
                  <a:srgbClr val="3F3F3F"/>
                </a:solidFill>
                <a:latin typeface="Calibri"/>
                <a:cs typeface="Calibri"/>
              </a:rPr>
              <a:t>Credits cannot be traded or converted to euro and are spendable only at member businesses: not a financial token, so MiCA's issuer obligations do not apply </a:t>
            </a:r>
          </a:p>
        </p:txBody>
      </p:sp>
    </p:spTree>
    <p:extLst>
      <p:ext uri="{BB962C8B-B14F-4D97-AF65-F5344CB8AC3E}">
        <p14:creationId xmlns:p14="http://schemas.microsoft.com/office/powerpoint/2010/main" val="49311140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Limitations and future work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6 Conclusions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0" name="Card"/>
          <p:cNvSpPr/>
          <p:nvPr/>
        </p:nvSpPr>
        <p:spPr>
          <a:xfrm>
            <a:off x="342900" y="990600"/>
            <a:ext cx="2133600" cy="431800"/>
          </a:xfrm>
          <a:prstGeom prst="roundRect">
            <a:avLst>
              <a:gd name="adj" fmla="val 8000"/>
            </a:avLst>
          </a:prstGeom>
          <a:solidFill>
            <a:srgbClr val="F9EFEF"/>
          </a:solidFill>
          <a:ln w="9525">
            <a:solidFill>
              <a:srgbClr val="BE3B37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41" name="Card"/>
          <p:cNvSpPr/>
          <p:nvPr/>
        </p:nvSpPr>
        <p:spPr>
          <a:xfrm>
            <a:off x="2857500" y="990600"/>
            <a:ext cx="2590800" cy="431800"/>
          </a:xfrm>
          <a:prstGeom prst="roundRect">
            <a:avLst>
              <a:gd name="adj" fmla="val 8000"/>
            </a:avLst>
          </a:prstGeom>
          <a:solidFill>
            <a:srgbClr val="CCFAE0"/>
          </a:solidFill>
          <a:ln w="9525">
            <a:solidFill>
              <a:srgbClr val="0D8154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42" name="Flow arrow"/>
          <p:cNvSpPr/>
          <p:nvPr/>
        </p:nvSpPr>
        <p:spPr>
          <a:xfrm>
            <a:off x="2501900" y="1206500"/>
            <a:ext cx="330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700"/>
          </a:p>
        </p:txBody>
      </p:sp>
      <p:sp>
        <p:nvSpPr>
          <p:cNvPr id="943" name="Card"/>
          <p:cNvSpPr/>
          <p:nvPr/>
        </p:nvSpPr>
        <p:spPr>
          <a:xfrm>
            <a:off x="342900" y="1473200"/>
            <a:ext cx="2133600" cy="431800"/>
          </a:xfrm>
          <a:prstGeom prst="roundRect">
            <a:avLst>
              <a:gd name="adj" fmla="val 8000"/>
            </a:avLst>
          </a:prstGeom>
          <a:solidFill>
            <a:srgbClr val="F9EFEF"/>
          </a:solidFill>
          <a:ln w="9525">
            <a:solidFill>
              <a:srgbClr val="BE3B37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44" name="Card"/>
          <p:cNvSpPr/>
          <p:nvPr/>
        </p:nvSpPr>
        <p:spPr>
          <a:xfrm>
            <a:off x="2857500" y="1473200"/>
            <a:ext cx="2590800" cy="431800"/>
          </a:xfrm>
          <a:prstGeom prst="roundRect">
            <a:avLst>
              <a:gd name="adj" fmla="val 8000"/>
            </a:avLst>
          </a:prstGeom>
          <a:solidFill>
            <a:srgbClr val="CCFAE0"/>
          </a:solidFill>
          <a:ln w="9525">
            <a:solidFill>
              <a:srgbClr val="0D8154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45" name="Flow arrow"/>
          <p:cNvSpPr/>
          <p:nvPr/>
        </p:nvSpPr>
        <p:spPr>
          <a:xfrm>
            <a:off x="2501900" y="1689100"/>
            <a:ext cx="330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700"/>
          </a:p>
        </p:txBody>
      </p:sp>
      <p:sp>
        <p:nvSpPr>
          <p:cNvPr id="949" name="Card"/>
          <p:cNvSpPr/>
          <p:nvPr/>
        </p:nvSpPr>
        <p:spPr>
          <a:xfrm>
            <a:off x="342900" y="1955800"/>
            <a:ext cx="2133600" cy="431800"/>
          </a:xfrm>
          <a:prstGeom prst="roundRect">
            <a:avLst>
              <a:gd name="adj" fmla="val 8000"/>
            </a:avLst>
          </a:prstGeom>
          <a:solidFill>
            <a:srgbClr val="F9EFEF"/>
          </a:solidFill>
          <a:ln w="9525">
            <a:solidFill>
              <a:srgbClr val="BE3B37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50" name="Card"/>
          <p:cNvSpPr/>
          <p:nvPr/>
        </p:nvSpPr>
        <p:spPr>
          <a:xfrm>
            <a:off x="2857500" y="1955800"/>
            <a:ext cx="2590800" cy="431800"/>
          </a:xfrm>
          <a:prstGeom prst="roundRect">
            <a:avLst>
              <a:gd name="adj" fmla="val 8000"/>
            </a:avLst>
          </a:prstGeom>
          <a:solidFill>
            <a:srgbClr val="CCFAE0"/>
          </a:solidFill>
          <a:ln w="9525">
            <a:solidFill>
              <a:srgbClr val="0D8154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51" name="Flow arrow"/>
          <p:cNvSpPr/>
          <p:nvPr/>
        </p:nvSpPr>
        <p:spPr>
          <a:xfrm>
            <a:off x="2501900" y="2171700"/>
            <a:ext cx="330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700"/>
          </a:p>
        </p:txBody>
      </p:sp>
      <p:sp>
        <p:nvSpPr>
          <p:cNvPr id="952" name="Card"/>
          <p:cNvSpPr/>
          <p:nvPr/>
        </p:nvSpPr>
        <p:spPr>
          <a:xfrm>
            <a:off x="342900" y="2438400"/>
            <a:ext cx="2133600" cy="431800"/>
          </a:xfrm>
          <a:prstGeom prst="roundRect">
            <a:avLst>
              <a:gd name="adj" fmla="val 8000"/>
            </a:avLst>
          </a:prstGeom>
          <a:solidFill>
            <a:srgbClr val="F9EFEF"/>
          </a:solidFill>
          <a:ln w="9525">
            <a:solidFill>
              <a:srgbClr val="BE3B37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53" name="Card"/>
          <p:cNvSpPr/>
          <p:nvPr/>
        </p:nvSpPr>
        <p:spPr>
          <a:xfrm>
            <a:off x="2857500" y="2438400"/>
            <a:ext cx="2590800" cy="431800"/>
          </a:xfrm>
          <a:prstGeom prst="roundRect">
            <a:avLst>
              <a:gd name="adj" fmla="val 8000"/>
            </a:avLst>
          </a:prstGeom>
          <a:solidFill>
            <a:srgbClr val="CCFAE0"/>
          </a:solidFill>
          <a:ln w="9525">
            <a:solidFill>
              <a:srgbClr val="0D8154"/>
            </a:solidFill>
          </a:ln>
        </p:spPr>
        <p:txBody>
          <a:bodyPr/>
          <a:lstStyle/>
          <a:p>
            <a:endParaRPr lang="en-US" sz="700"/>
          </a:p>
        </p:txBody>
      </p:sp>
      <p:sp>
        <p:nvSpPr>
          <p:cNvPr id="954" name="Flow arrow"/>
          <p:cNvSpPr/>
          <p:nvPr/>
        </p:nvSpPr>
        <p:spPr>
          <a:xfrm>
            <a:off x="2501900" y="2654300"/>
            <a:ext cx="330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700"/>
          </a:p>
        </p:txBody>
      </p:sp>
      <p:sp>
        <p:nvSpPr>
          <p:cNvPr id="930" name="Row text"/>
          <p:cNvSpPr txBox="1"/>
          <p:nvPr/>
        </p:nvSpPr>
        <p:spPr>
          <a:xfrm>
            <a:off x="393700" y="20193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No field validation: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 evaluated on a local testnet, never with a real community</a:t>
            </a:r>
          </a:p>
        </p:txBody>
      </p:sp>
      <p:sp>
        <p:nvSpPr>
          <p:cNvPr id="931" name="Row text"/>
          <p:cNvSpPr txBox="1"/>
          <p:nvPr/>
        </p:nvSpPr>
        <p:spPr>
          <a:xfrm>
            <a:off x="2908300" y="2019300"/>
            <a:ext cx="248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Pilot with a real municipality: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 legal interface contract and field validation</a:t>
            </a:r>
          </a:p>
        </p:txBody>
      </p:sp>
      <p:sp>
        <p:nvSpPr>
          <p:cNvPr id="932" name="Row text"/>
          <p:cNvSpPr txBox="1"/>
          <p:nvPr/>
        </p:nvSpPr>
        <p:spPr>
          <a:xfrm>
            <a:off x="393700" y="25019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Neighbourhood scale: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 one instance governs one neighbourhood, but a city is made of many</a:t>
            </a:r>
          </a:p>
        </p:txBody>
      </p:sp>
      <p:sp>
        <p:nvSpPr>
          <p:cNvPr id="933" name="Row text"/>
          <p:cNvSpPr txBox="1"/>
          <p:nvPr/>
        </p:nvSpPr>
        <p:spPr>
          <a:xfrm>
            <a:off x="2908300" y="2501900"/>
            <a:ext cx="248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Federation of neighbourhood DAOs: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 one instance per neighbourhood from a common factory, with a city-wide identity layer and a shared credit 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5700" y="774700"/>
            <a:ext cx="5080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b="1" spc="-10" dirty="0">
                <a:solidFill>
                  <a:srgbClr val="BD3B37"/>
                </a:solidFill>
                <a:latin typeface="Calibri"/>
                <a:cs typeface="Calibri"/>
              </a:rPr>
              <a:t>Limitation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9200" y="774700"/>
            <a:ext cx="7874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b="1" spc="-10" dirty="0">
                <a:solidFill>
                  <a:srgbClr val="0B6E47"/>
                </a:solidFill>
                <a:latin typeface="Calibri"/>
                <a:cs typeface="Calibri"/>
              </a:rPr>
              <a:t>Future</a:t>
            </a:r>
            <a:r>
              <a:rPr sz="900" b="1" spc="-25" dirty="0">
                <a:solidFill>
                  <a:srgbClr val="0B6E47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B6E47"/>
                </a:solidFill>
                <a:latin typeface="Calibri"/>
                <a:cs typeface="Calibri"/>
              </a:rPr>
              <a:t>direction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00" y="1054100"/>
            <a:ext cx="2032000" cy="248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Onboarding</a:t>
            </a:r>
            <a:r>
              <a:rPr sz="75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gateway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750" spc="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75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Municipality</a:t>
            </a:r>
            <a:r>
              <a:rPr sz="75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could</a:t>
            </a:r>
            <a:r>
              <a:rPr sz="75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refuse</a:t>
            </a:r>
            <a:r>
              <a:rPr sz="75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75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75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enrolment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8300" y="1054100"/>
            <a:ext cx="2489200" cy="13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spc="-10" dirty="0">
                <a:solidFill>
                  <a:srgbClr val="3F3F3F"/>
                </a:solidFill>
                <a:latin typeface="Calibri"/>
                <a:cs typeface="Calibri"/>
              </a:rPr>
              <a:t>Self-</a:t>
            </a: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sovereign</a:t>
            </a:r>
            <a:r>
              <a:rPr sz="750" b="1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residency</a:t>
            </a:r>
            <a:r>
              <a:rPr sz="75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via</a:t>
            </a:r>
            <a:r>
              <a:rPr sz="75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EUDI</a:t>
            </a:r>
            <a:r>
              <a:rPr sz="75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Wallet</a:t>
            </a:r>
            <a:r>
              <a:rPr sz="75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75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30" dirty="0">
                <a:solidFill>
                  <a:srgbClr val="3F3F3F"/>
                </a:solidFill>
                <a:latin typeface="Calibri"/>
                <a:cs typeface="Calibri"/>
              </a:rPr>
              <a:t>IT-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Wallet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3700" y="1536700"/>
            <a:ext cx="2032000" cy="248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spc="-10" dirty="0">
                <a:solidFill>
                  <a:srgbClr val="3F3F3F"/>
                </a:solidFill>
                <a:latin typeface="Calibri"/>
                <a:cs typeface="Calibri"/>
              </a:rPr>
              <a:t>Socio-</a:t>
            </a: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technical</a:t>
            </a:r>
            <a:r>
              <a:rPr sz="750" b="1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barrier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750" spc="1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wallet,</a:t>
            </a:r>
            <a:r>
              <a:rPr sz="75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SPID,</a:t>
            </a:r>
            <a:r>
              <a:rPr sz="75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75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literacy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08300" y="1536700"/>
            <a:ext cx="2489200" cy="248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60"/>
              </a:spcBef>
            </a:pP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Gasless</a:t>
            </a:r>
            <a:r>
              <a:rPr sz="75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F3F3F"/>
                </a:solidFill>
                <a:latin typeface="Calibri"/>
                <a:cs typeface="Calibri"/>
              </a:rPr>
              <a:t>voting</a:t>
            </a:r>
            <a:r>
              <a:rPr sz="75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(ERC-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2771</a:t>
            </a:r>
            <a:r>
              <a:rPr sz="75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relayer)</a:t>
            </a:r>
            <a:r>
              <a:rPr sz="75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75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assisted</a:t>
            </a:r>
            <a:r>
              <a:rPr sz="75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3F3F3F"/>
                </a:solidFill>
                <a:latin typeface="Calibri"/>
                <a:cs typeface="Calibri"/>
              </a:rPr>
              <a:t>onboarding</a:t>
            </a:r>
            <a:r>
              <a:rPr sz="75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750" spc="-10" dirty="0">
                <a:solidFill>
                  <a:srgbClr val="3F3F3F"/>
                </a:solidFill>
                <a:latin typeface="Calibri"/>
                <a:cs typeface="Calibri"/>
              </a:rPr>
              <a:t>web</a:t>
            </a:r>
            <a:r>
              <a:rPr lang="it-IT" sz="75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750" spc="-20" dirty="0" err="1">
                <a:solidFill>
                  <a:srgbClr val="3F3F3F"/>
                </a:solidFill>
                <a:latin typeface="Calibri"/>
                <a:cs typeface="Calibri"/>
              </a:rPr>
              <a:t>dApp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29638643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10" dirty="0">
                <a:solidFill>
                  <a:srgbClr val="FFFFFF"/>
                </a:solidFill>
              </a:rPr>
              <a:t>CivicDAO</a:t>
            </a:r>
            <a:endParaRPr sz="24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9818" y="1559671"/>
            <a:ext cx="1761489" cy="5607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400" i="1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14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libri"/>
                <a:cs typeface="Calibri"/>
              </a:rPr>
              <a:t>listening!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2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Calibri"/>
                <a:cs typeface="Calibri"/>
              </a:rPr>
              <a:t>questions?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3563089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Limitations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679" y="878593"/>
            <a:ext cx="50545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BD3B37"/>
                </a:solidFill>
                <a:latin typeface="Calibri"/>
                <a:cs typeface="Calibri"/>
              </a:rPr>
              <a:t>Limitation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0096" y="878593"/>
            <a:ext cx="784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0B6E47"/>
                </a:solidFill>
                <a:latin typeface="Calibri"/>
                <a:cs typeface="Calibri"/>
              </a:rPr>
              <a:t>Future</a:t>
            </a:r>
            <a:r>
              <a:rPr sz="900" b="1" spc="-25" dirty="0">
                <a:solidFill>
                  <a:srgbClr val="0B6E47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B6E47"/>
                </a:solidFill>
                <a:latin typeface="Calibri"/>
                <a:cs typeface="Calibri"/>
              </a:rPr>
              <a:t>direction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6950" y="1066800"/>
            <a:ext cx="2102485" cy="406400"/>
            <a:chOff x="496950" y="1068476"/>
            <a:chExt cx="2102485" cy="334645"/>
          </a:xfrm>
        </p:grpSpPr>
        <p:sp>
          <p:nvSpPr>
            <p:cNvPr id="6" name="object 6"/>
            <p:cNvSpPr/>
            <p:nvPr/>
          </p:nvSpPr>
          <p:spPr>
            <a:xfrm>
              <a:off x="502030" y="1073556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4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89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F9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030" y="1073556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4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89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7291" y="1149350"/>
            <a:ext cx="192532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Onboarding</a:t>
            </a:r>
            <a:r>
              <a:rPr sz="8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gateway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Municipality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could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refuse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enrolment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60981" y="1066800"/>
            <a:ext cx="2102485" cy="406400"/>
            <a:chOff x="3160981" y="1068476"/>
            <a:chExt cx="2102485" cy="334645"/>
          </a:xfrm>
        </p:grpSpPr>
        <p:sp>
          <p:nvSpPr>
            <p:cNvPr id="10" name="object 10"/>
            <p:cNvSpPr/>
            <p:nvPr/>
          </p:nvSpPr>
          <p:spPr>
            <a:xfrm>
              <a:off x="3166061" y="1073556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4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89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CCFA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66061" y="1073556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4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89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0D8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91319" y="1149350"/>
            <a:ext cx="1809114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Self-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sovereign</a:t>
            </a:r>
            <a:r>
              <a:rPr sz="800" b="1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residency</a:t>
            </a:r>
            <a:r>
              <a:rPr sz="80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via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EUDI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Wallet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3F3F3F"/>
                </a:solidFill>
                <a:latin typeface="Calibri"/>
                <a:cs typeface="Calibri"/>
              </a:rPr>
              <a:t>IT-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Wallet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6950" y="1524000"/>
            <a:ext cx="2102485" cy="406400"/>
            <a:chOff x="496950" y="1446482"/>
            <a:chExt cx="2102485" cy="334645"/>
          </a:xfrm>
        </p:grpSpPr>
        <p:sp>
          <p:nvSpPr>
            <p:cNvPr id="14" name="object 14"/>
            <p:cNvSpPr/>
            <p:nvPr/>
          </p:nvSpPr>
          <p:spPr>
            <a:xfrm>
              <a:off x="502030" y="1451562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F9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2030" y="1451562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7291" y="1555750"/>
            <a:ext cx="1858010" cy="248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88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Optimistic verification: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with no challengers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 risk of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automatic ratification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60981" y="1524000"/>
            <a:ext cx="2102485" cy="406400"/>
            <a:chOff x="3160981" y="1446482"/>
            <a:chExt cx="2102485" cy="334645"/>
          </a:xfrm>
        </p:grpSpPr>
        <p:sp>
          <p:nvSpPr>
            <p:cNvPr id="18" name="object 18"/>
            <p:cNvSpPr/>
            <p:nvPr/>
          </p:nvSpPr>
          <p:spPr>
            <a:xfrm>
              <a:off x="3166061" y="1451562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CCFA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66061" y="1451562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0D8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91319" y="1555750"/>
            <a:ext cx="2000250" cy="36356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88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Sortition jury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above a reputation threshold; challenge window and quorum calibrated on pilot data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6950" y="1981200"/>
            <a:ext cx="2102485" cy="406400"/>
            <a:chOff x="496950" y="1824488"/>
            <a:chExt cx="2102485" cy="334645"/>
          </a:xfrm>
        </p:grpSpPr>
        <p:sp>
          <p:nvSpPr>
            <p:cNvPr id="22" name="object 22"/>
            <p:cNvSpPr/>
            <p:nvPr/>
          </p:nvSpPr>
          <p:spPr>
            <a:xfrm>
              <a:off x="502030" y="1829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F9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2030" y="1829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7291" y="2063750"/>
            <a:ext cx="186118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Socio-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technical</a:t>
            </a:r>
            <a:r>
              <a:rPr sz="800" b="1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barrier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1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wallet,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SPID,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literacy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60981" y="1981200"/>
            <a:ext cx="2102485" cy="406400"/>
            <a:chOff x="3160981" y="1824488"/>
            <a:chExt cx="2102485" cy="334645"/>
          </a:xfrm>
        </p:grpSpPr>
        <p:sp>
          <p:nvSpPr>
            <p:cNvPr id="26" name="object 26"/>
            <p:cNvSpPr/>
            <p:nvPr/>
          </p:nvSpPr>
          <p:spPr>
            <a:xfrm>
              <a:off x="3166061" y="1829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CCFA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66061" y="1829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0D8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191319" y="2063750"/>
            <a:ext cx="198882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Gasless</a:t>
            </a:r>
            <a:r>
              <a:rPr sz="80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voting</a:t>
            </a:r>
            <a:r>
              <a:rPr sz="80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(ERC-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2771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relayer)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assisted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onboarding</a:t>
            </a:r>
            <a:r>
              <a:rPr sz="8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800" spc="-10" dirty="0">
                <a:solidFill>
                  <a:srgbClr val="3F3F3F"/>
                </a:solidFill>
                <a:latin typeface="Calibri"/>
                <a:cs typeface="Calibri"/>
              </a:rPr>
              <a:t>web</a:t>
            </a:r>
            <a:r>
              <a:rPr lang="it-IT" sz="8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 err="1">
                <a:solidFill>
                  <a:srgbClr val="3F3F3F"/>
                </a:solidFill>
                <a:latin typeface="Calibri"/>
                <a:cs typeface="Calibri"/>
              </a:rPr>
              <a:t>dApp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6950" y="2438400"/>
            <a:ext cx="2102485" cy="406400"/>
            <a:chOff x="496950" y="2202488"/>
            <a:chExt cx="2102485" cy="334645"/>
          </a:xfrm>
        </p:grpSpPr>
        <p:sp>
          <p:nvSpPr>
            <p:cNvPr id="30" name="object 30"/>
            <p:cNvSpPr/>
            <p:nvPr/>
          </p:nvSpPr>
          <p:spPr>
            <a:xfrm>
              <a:off x="502030" y="2207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F9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2030" y="2207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27291" y="2520950"/>
            <a:ext cx="175958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Public</a:t>
            </a:r>
            <a:r>
              <a:rPr sz="800" b="1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votes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1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small</a:t>
            </a:r>
            <a:r>
              <a:rPr sz="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community,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buying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possible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160981" y="2438400"/>
            <a:ext cx="2102485" cy="406400"/>
            <a:chOff x="3160981" y="2202488"/>
            <a:chExt cx="2102485" cy="334645"/>
          </a:xfrm>
        </p:grpSpPr>
        <p:sp>
          <p:nvSpPr>
            <p:cNvPr id="34" name="object 34"/>
            <p:cNvSpPr/>
            <p:nvPr/>
          </p:nvSpPr>
          <p:spPr>
            <a:xfrm>
              <a:off x="3166061" y="2207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solidFill>
              <a:srgbClr val="CCFA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66061" y="2207568"/>
              <a:ext cx="2092325" cy="324485"/>
            </a:xfrm>
            <a:custGeom>
              <a:avLst/>
              <a:gdLst/>
              <a:ahLst/>
              <a:cxnLst/>
              <a:rect l="l" t="t" r="r" b="b"/>
              <a:pathLst>
                <a:path w="2092325" h="324485">
                  <a:moveTo>
                    <a:pt x="206663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2066638" y="324001"/>
                  </a:lnTo>
                  <a:lnTo>
                    <a:pt x="2076489" y="322013"/>
                  </a:lnTo>
                  <a:lnTo>
                    <a:pt x="2084532" y="316590"/>
                  </a:lnTo>
                  <a:lnTo>
                    <a:pt x="2089955" y="308546"/>
                  </a:lnTo>
                  <a:lnTo>
                    <a:pt x="2091944" y="298696"/>
                  </a:lnTo>
                  <a:lnTo>
                    <a:pt x="2091944" y="25305"/>
                  </a:lnTo>
                  <a:lnTo>
                    <a:pt x="2089955" y="15455"/>
                  </a:lnTo>
                  <a:lnTo>
                    <a:pt x="2084532" y="7411"/>
                  </a:lnTo>
                  <a:lnTo>
                    <a:pt x="2076489" y="1988"/>
                  </a:lnTo>
                  <a:lnTo>
                    <a:pt x="2066638" y="0"/>
                  </a:lnTo>
                  <a:close/>
                </a:path>
              </a:pathLst>
            </a:custGeom>
            <a:ln w="10122">
              <a:solidFill>
                <a:srgbClr val="0D8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191319" y="2571750"/>
            <a:ext cx="1614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Ballot</a:t>
            </a:r>
            <a:r>
              <a:rPr sz="800" b="1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secrecy</a:t>
            </a:r>
            <a:r>
              <a:rPr sz="80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MACI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(zk-SNARKs)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599036" y="1254760"/>
            <a:ext cx="553085" cy="1433830"/>
            <a:chOff x="2599036" y="1214864"/>
            <a:chExt cx="553085" cy="1176020"/>
          </a:xfrm>
        </p:grpSpPr>
        <p:sp>
          <p:nvSpPr>
            <p:cNvPr id="38" name="object 38"/>
            <p:cNvSpPr/>
            <p:nvPr/>
          </p:nvSpPr>
          <p:spPr>
            <a:xfrm>
              <a:off x="2599036" y="1235557"/>
              <a:ext cx="517525" cy="0"/>
            </a:xfrm>
            <a:custGeom>
              <a:avLst/>
              <a:gdLst/>
              <a:ahLst/>
              <a:cxnLst/>
              <a:rect l="l" t="t" r="r" b="b"/>
              <a:pathLst>
                <a:path w="517525">
                  <a:moveTo>
                    <a:pt x="0" y="0"/>
                  </a:moveTo>
                  <a:lnTo>
                    <a:pt x="51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05343" y="1219926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05343" y="1219926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99036" y="1613563"/>
              <a:ext cx="517525" cy="0"/>
            </a:xfrm>
            <a:custGeom>
              <a:avLst/>
              <a:gdLst/>
              <a:ahLst/>
              <a:cxnLst/>
              <a:rect l="l" t="t" r="r" b="b"/>
              <a:pathLst>
                <a:path w="517525">
                  <a:moveTo>
                    <a:pt x="0" y="0"/>
                  </a:moveTo>
                  <a:lnTo>
                    <a:pt x="51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05343" y="1597931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05343" y="1597931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99036" y="1991568"/>
              <a:ext cx="517525" cy="0"/>
            </a:xfrm>
            <a:custGeom>
              <a:avLst/>
              <a:gdLst/>
              <a:ahLst/>
              <a:cxnLst/>
              <a:rect l="l" t="t" r="r" b="b"/>
              <a:pathLst>
                <a:path w="517525">
                  <a:moveTo>
                    <a:pt x="0" y="0"/>
                  </a:moveTo>
                  <a:lnTo>
                    <a:pt x="51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05343" y="1975937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05343" y="1975937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99036" y="2369569"/>
              <a:ext cx="517525" cy="0"/>
            </a:xfrm>
            <a:custGeom>
              <a:avLst/>
              <a:gdLst/>
              <a:ahLst/>
              <a:cxnLst/>
              <a:rect l="l" t="t" r="r" b="b"/>
              <a:pathLst>
                <a:path w="517525">
                  <a:moveTo>
                    <a:pt x="0" y="0"/>
                  </a:moveTo>
                  <a:lnTo>
                    <a:pt x="51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05343" y="2353937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05343" y="2353937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854167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50" dirty="0"/>
              <a:t> </a:t>
            </a:r>
            <a:r>
              <a:rPr dirty="0"/>
              <a:t>blockchain,</a:t>
            </a:r>
            <a:r>
              <a:rPr spc="50" dirty="0"/>
              <a:t> </a:t>
            </a:r>
            <a:r>
              <a:rPr dirty="0"/>
              <a:t>if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Municipality</a:t>
            </a:r>
            <a:r>
              <a:rPr spc="50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still</a:t>
            </a:r>
            <a:r>
              <a:rPr spc="50" dirty="0"/>
              <a:t> </a:t>
            </a:r>
            <a:r>
              <a:rPr spc="-10" dirty="0"/>
              <a:t>refuse?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C834448-A509-4084-F523-382B5A923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1/10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782815"/>
            <a:ext cx="5200015" cy="0"/>
          </a:xfrm>
          <a:custGeom>
            <a:avLst/>
            <a:gdLst/>
            <a:ahLst/>
            <a:cxnLst/>
            <a:rect l="l" t="t" r="r" b="b"/>
            <a:pathLst>
              <a:path w="5200015">
                <a:moveTo>
                  <a:pt x="0" y="0"/>
                </a:moveTo>
                <a:lnTo>
                  <a:pt x="5199659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87131" y="841179"/>
            <a:ext cx="8293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Decidim</a:t>
            </a:r>
            <a:r>
              <a:rPr sz="9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/ 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Consul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2964" y="841179"/>
            <a:ext cx="4565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CivicDAO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994" y="1056131"/>
            <a:ext cx="5200015" cy="0"/>
          </a:xfrm>
          <a:custGeom>
            <a:avLst/>
            <a:gdLst/>
            <a:ahLst/>
            <a:cxnLst/>
            <a:rect l="l" t="t" r="r" b="b"/>
            <a:pathLst>
              <a:path w="5200015">
                <a:moveTo>
                  <a:pt x="0" y="0"/>
                </a:moveTo>
                <a:lnTo>
                  <a:pt x="5199659" y="0"/>
                </a:lnTo>
              </a:path>
            </a:pathLst>
          </a:custGeom>
          <a:ln w="692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1112413"/>
            <a:ext cx="9194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Record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decisions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7131" y="1112413"/>
            <a:ext cx="1600200" cy="8858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386715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database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managed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administration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42100"/>
              </a:lnSpc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possible,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leaves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trace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administration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controls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every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step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outside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platform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2964" y="1112413"/>
            <a:ext cx="19291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tamper-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evident,</a:t>
            </a:r>
            <a:r>
              <a:rPr sz="9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publicly</a:t>
            </a:r>
            <a:r>
              <a:rPr sz="9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verifiable</a:t>
            </a:r>
            <a:r>
              <a:rPr sz="9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ledger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1388253"/>
            <a:ext cx="1025525" cy="61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100"/>
              </a:lnSpc>
              <a:spcBef>
                <a:spcPts val="100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Ignoring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outcome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Stalling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Community</a:t>
            </a:r>
            <a:r>
              <a:rPr sz="9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actions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2813" y="1388253"/>
            <a:ext cx="1939925" cy="94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100"/>
              </a:lnSpc>
              <a:spcBef>
                <a:spcPts val="100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requires</a:t>
            </a:r>
            <a:r>
              <a:rPr sz="9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immutable,</a:t>
            </a:r>
            <a:r>
              <a:rPr sz="9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attributable</a:t>
            </a:r>
            <a:r>
              <a:rPr sz="9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reasons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time-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transitions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callable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anyone</a:t>
            </a:r>
            <a:endParaRPr sz="900">
              <a:latin typeface="Calibri"/>
              <a:cs typeface="Calibri"/>
            </a:endParaRPr>
          </a:p>
          <a:p>
            <a:pPr marL="12700" marR="120650">
              <a:lnSpc>
                <a:spcPct val="101499"/>
              </a:lnSpc>
              <a:spcBef>
                <a:spcPts val="434"/>
              </a:spcBef>
            </a:pP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self-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governed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private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flow,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verified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rewarded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rules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enforced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contracts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294" y="2170170"/>
            <a:ext cx="271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51915" algn="l"/>
              </a:tabLst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Institutional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dependence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	tied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hosting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institution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9994" y="2387206"/>
            <a:ext cx="5200015" cy="0"/>
          </a:xfrm>
          <a:custGeom>
            <a:avLst/>
            <a:gdLst/>
            <a:ahLst/>
            <a:cxnLst/>
            <a:rect l="l" t="t" r="r" b="b"/>
            <a:pathLst>
              <a:path w="5200015">
                <a:moveTo>
                  <a:pt x="0" y="0"/>
                </a:moveTo>
                <a:lnTo>
                  <a:pt x="5199659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7294" y="2463862"/>
            <a:ext cx="505777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literature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considers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DAOs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justified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for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recurring,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multi-</a:t>
            </a:r>
            <a:r>
              <a:rPr sz="800" b="1" spc="-20" dirty="0">
                <a:solidFill>
                  <a:srgbClr val="3F3F3F"/>
                </a:solidFill>
                <a:latin typeface="Calibri"/>
                <a:cs typeface="Calibri"/>
              </a:rPr>
              <a:t>stakeholder,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rule-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processes,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such as a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continuous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flow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neighbourhood</a:t>
            </a:r>
            <a:r>
              <a:rPr sz="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proposals,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provided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socio-technical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prerequisites</a:t>
            </a:r>
            <a:r>
              <a:rPr sz="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met.</a:t>
            </a:r>
            <a:endParaRPr sz="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7592457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Tokens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spc="-20" dirty="0"/>
              <a:t>MiCA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018D39F-D07A-74B6-73C6-F64D5F0CA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2/10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894499"/>
            <a:ext cx="5351780" cy="0"/>
          </a:xfrm>
          <a:custGeom>
            <a:avLst/>
            <a:gdLst/>
            <a:ahLst/>
            <a:cxnLst/>
            <a:rect l="l" t="t" r="r" b="b"/>
            <a:pathLst>
              <a:path w="5351780">
                <a:moveTo>
                  <a:pt x="0" y="0"/>
                </a:moveTo>
                <a:lnTo>
                  <a:pt x="5351500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46923"/>
            <a:ext cx="2533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Asset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5138" y="946923"/>
            <a:ext cx="4051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Standard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8958" y="946923"/>
            <a:ext cx="4775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Circulation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6796" y="946923"/>
            <a:ext cx="846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Regulatory</a:t>
            </a:r>
            <a:r>
              <a:rPr sz="8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position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1141247"/>
            <a:ext cx="5351780" cy="0"/>
          </a:xfrm>
          <a:custGeom>
            <a:avLst/>
            <a:gdLst/>
            <a:ahLst/>
            <a:cxnLst/>
            <a:rect l="l" t="t" r="r" b="b"/>
            <a:pathLst>
              <a:path w="5351780">
                <a:moveTo>
                  <a:pt x="0" y="0"/>
                </a:moveTo>
                <a:lnTo>
                  <a:pt x="5351500" y="0"/>
                </a:lnTo>
              </a:path>
            </a:pathLst>
          </a:custGeom>
          <a:ln w="692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191588"/>
            <a:ext cx="725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Citizenship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token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010" y="1191588"/>
            <a:ext cx="1122680" cy="4356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ERC-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721</a:t>
            </a:r>
            <a:r>
              <a:rPr sz="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ERC-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5192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(soulbound)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soulbound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ERC-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721,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yearly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8958" y="1191588"/>
            <a:ext cx="107823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non-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transferable,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resident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non-transferable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6796" y="1191588"/>
            <a:ext cx="1535430" cy="1301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market,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economic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value: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crypto-asset</a:t>
            </a:r>
            <a:endParaRPr sz="800">
              <a:latin typeface="Calibri"/>
              <a:cs typeface="Calibri"/>
            </a:endParaRPr>
          </a:p>
          <a:p>
            <a:pPr marL="12700" marR="146685">
              <a:lnSpc>
                <a:spcPts val="950"/>
              </a:lnSpc>
              <a:spcBef>
                <a:spcPts val="370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membership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fee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ETS,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purchase</a:t>
            </a:r>
            <a:r>
              <a:rPr sz="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price</a:t>
            </a:r>
            <a:endParaRPr sz="800">
              <a:latin typeface="Calibri"/>
              <a:cs typeface="Calibri"/>
            </a:endParaRPr>
          </a:p>
          <a:p>
            <a:pPr marL="12700" marR="69850">
              <a:lnSpc>
                <a:spcPts val="950"/>
              </a:lnSpc>
              <a:spcBef>
                <a:spcPts val="37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not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purchasable,</a:t>
            </a:r>
            <a:r>
              <a:rPr sz="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convertible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euro:</a:t>
            </a:r>
            <a:r>
              <a:rPr sz="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outside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ART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 EMT</a:t>
            </a:r>
            <a:endParaRPr sz="800">
              <a:latin typeface="Calibri"/>
              <a:cs typeface="Calibri"/>
            </a:endParaRPr>
          </a:p>
          <a:p>
            <a:pPr marL="12700" marR="78740">
              <a:lnSpc>
                <a:spcPts val="950"/>
              </a:lnSpc>
              <a:spcBef>
                <a:spcPts val="370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unique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non-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fungible:</a:t>
            </a:r>
            <a:r>
              <a:rPr sz="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excluded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MiCA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EMT,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cover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gas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94" y="1480069"/>
            <a:ext cx="9207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Business</a:t>
            </a:r>
            <a:r>
              <a:rPr sz="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membership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7294" y="1768549"/>
            <a:ext cx="7645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Community</a:t>
            </a:r>
            <a:r>
              <a:rPr sz="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credit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5138" y="1768549"/>
            <a:ext cx="1158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ERC-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20,</a:t>
            </a:r>
            <a:r>
              <a:rPr sz="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restricted</a:t>
            </a:r>
            <a:r>
              <a:rPr sz="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_update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8958" y="1768549"/>
            <a:ext cx="123952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only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citizen</a:t>
            </a:r>
            <a:r>
              <a:rPr sz="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3F3F3F"/>
                </a:solidFill>
                <a:latin typeface="Times New Roman"/>
                <a:cs typeface="Times New Roman"/>
              </a:rPr>
              <a:t>→</a:t>
            </a:r>
            <a:r>
              <a:rPr sz="800" i="1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active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merchant,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burned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redeem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non-transferable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7294" y="2057017"/>
            <a:ext cx="8991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Proof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Participation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4970" y="2057017"/>
            <a:ext cx="644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soulbound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 NFT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294" y="2345498"/>
            <a:ext cx="6362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EUR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stablecoin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35138" y="2345498"/>
            <a:ext cx="4210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e.g.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EURC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8958" y="2345498"/>
            <a:ext cx="5657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treasury</a:t>
            </a:r>
            <a:r>
              <a:rPr sz="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9994" y="2541904"/>
            <a:ext cx="5351780" cy="0"/>
          </a:xfrm>
          <a:custGeom>
            <a:avLst/>
            <a:gdLst/>
            <a:ahLst/>
            <a:cxnLst/>
            <a:rect l="l" t="t" r="r" b="b"/>
            <a:pathLst>
              <a:path w="5351780">
                <a:moveTo>
                  <a:pt x="0" y="0"/>
                </a:moveTo>
                <a:lnTo>
                  <a:pt x="5351500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341612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Closed-loop</a:t>
            </a:r>
            <a:r>
              <a:rPr spc="130" dirty="0"/>
              <a:t> </a:t>
            </a:r>
            <a:r>
              <a:rPr dirty="0"/>
              <a:t>community</a:t>
            </a:r>
            <a:r>
              <a:rPr spc="135" dirty="0"/>
              <a:t> </a:t>
            </a:r>
            <a:r>
              <a:rPr spc="-10" dirty="0"/>
              <a:t>credit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DB18E6C-5E24-98DD-AF9B-C878D36C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3/10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6966" y="916263"/>
            <a:ext cx="878205" cy="398780"/>
            <a:chOff x="1306966" y="916263"/>
            <a:chExt cx="878205" cy="398780"/>
          </a:xfrm>
        </p:grpSpPr>
        <p:sp>
          <p:nvSpPr>
            <p:cNvPr id="4" name="object 4"/>
            <p:cNvSpPr/>
            <p:nvPr/>
          </p:nvSpPr>
          <p:spPr>
            <a:xfrm>
              <a:off x="1312046" y="921343"/>
              <a:ext cx="868044" cy="388620"/>
            </a:xfrm>
            <a:custGeom>
              <a:avLst/>
              <a:gdLst/>
              <a:ahLst/>
              <a:cxnLst/>
              <a:rect l="l" t="t" r="r" b="b"/>
              <a:pathLst>
                <a:path w="868044" h="388619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62776"/>
                  </a:lnTo>
                  <a:lnTo>
                    <a:pt x="1988" y="372626"/>
                  </a:lnTo>
                  <a:lnTo>
                    <a:pt x="7411" y="380670"/>
                  </a:lnTo>
                  <a:lnTo>
                    <a:pt x="15455" y="386093"/>
                  </a:lnTo>
                  <a:lnTo>
                    <a:pt x="25305" y="388082"/>
                  </a:lnTo>
                  <a:lnTo>
                    <a:pt x="842619" y="388082"/>
                  </a:lnTo>
                  <a:lnTo>
                    <a:pt x="852469" y="386093"/>
                  </a:lnTo>
                  <a:lnTo>
                    <a:pt x="860513" y="380670"/>
                  </a:lnTo>
                  <a:lnTo>
                    <a:pt x="865936" y="372626"/>
                  </a:lnTo>
                  <a:lnTo>
                    <a:pt x="867924" y="36277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12046" y="921343"/>
              <a:ext cx="868044" cy="388620"/>
            </a:xfrm>
            <a:custGeom>
              <a:avLst/>
              <a:gdLst/>
              <a:ahLst/>
              <a:cxnLst/>
              <a:rect l="l" t="t" r="r" b="b"/>
              <a:pathLst>
                <a:path w="868044" h="388619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62776"/>
                  </a:lnTo>
                  <a:lnTo>
                    <a:pt x="1988" y="372626"/>
                  </a:lnTo>
                  <a:lnTo>
                    <a:pt x="7411" y="380670"/>
                  </a:lnTo>
                  <a:lnTo>
                    <a:pt x="15455" y="386093"/>
                  </a:lnTo>
                  <a:lnTo>
                    <a:pt x="25305" y="388082"/>
                  </a:lnTo>
                  <a:lnTo>
                    <a:pt x="842619" y="388082"/>
                  </a:lnTo>
                  <a:lnTo>
                    <a:pt x="852469" y="386093"/>
                  </a:lnTo>
                  <a:lnTo>
                    <a:pt x="860513" y="380670"/>
                  </a:lnTo>
                  <a:lnTo>
                    <a:pt x="865936" y="372626"/>
                  </a:lnTo>
                  <a:lnTo>
                    <a:pt x="867924" y="36277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69237" y="916405"/>
            <a:ext cx="553720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Mint</a:t>
            </a:r>
            <a:endParaRPr sz="800">
              <a:latin typeface="Calibri"/>
              <a:cs typeface="Calibri"/>
            </a:endParaRPr>
          </a:p>
          <a:p>
            <a:pPr marL="12065" marR="5080" algn="ctr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8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confirmation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42979" y="1560309"/>
            <a:ext cx="878205" cy="334645"/>
            <a:chOff x="2242979" y="1560309"/>
            <a:chExt cx="878205" cy="334645"/>
          </a:xfrm>
        </p:grpSpPr>
        <p:sp>
          <p:nvSpPr>
            <p:cNvPr id="8" name="object 8"/>
            <p:cNvSpPr/>
            <p:nvPr/>
          </p:nvSpPr>
          <p:spPr>
            <a:xfrm>
              <a:off x="2248059" y="1565389"/>
              <a:ext cx="868044" cy="324485"/>
            </a:xfrm>
            <a:custGeom>
              <a:avLst/>
              <a:gdLst/>
              <a:ahLst/>
              <a:cxnLst/>
              <a:rect l="l" t="t" r="r" b="b"/>
              <a:pathLst>
                <a:path w="868044" h="324485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842619" y="324001"/>
                  </a:lnTo>
                  <a:lnTo>
                    <a:pt x="852469" y="322013"/>
                  </a:lnTo>
                  <a:lnTo>
                    <a:pt x="860513" y="316589"/>
                  </a:lnTo>
                  <a:lnTo>
                    <a:pt x="865936" y="308546"/>
                  </a:lnTo>
                  <a:lnTo>
                    <a:pt x="867924" y="29869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8059" y="1565389"/>
              <a:ext cx="868044" cy="324485"/>
            </a:xfrm>
            <a:custGeom>
              <a:avLst/>
              <a:gdLst/>
              <a:ahLst/>
              <a:cxnLst/>
              <a:rect l="l" t="t" r="r" b="b"/>
              <a:pathLst>
                <a:path w="868044" h="324485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842619" y="324001"/>
                  </a:lnTo>
                  <a:lnTo>
                    <a:pt x="852469" y="322013"/>
                  </a:lnTo>
                  <a:lnTo>
                    <a:pt x="860513" y="316589"/>
                  </a:lnTo>
                  <a:lnTo>
                    <a:pt x="865936" y="308546"/>
                  </a:lnTo>
                  <a:lnTo>
                    <a:pt x="867924" y="29869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16010" y="1580805"/>
            <a:ext cx="73215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Citizen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actual</a:t>
            </a:r>
            <a:r>
              <a:rPr sz="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performer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06966" y="2172315"/>
            <a:ext cx="878205" cy="334645"/>
            <a:chOff x="1306966" y="2172315"/>
            <a:chExt cx="878205" cy="334645"/>
          </a:xfrm>
        </p:grpSpPr>
        <p:sp>
          <p:nvSpPr>
            <p:cNvPr id="12" name="object 12"/>
            <p:cNvSpPr/>
            <p:nvPr/>
          </p:nvSpPr>
          <p:spPr>
            <a:xfrm>
              <a:off x="1312046" y="2177395"/>
              <a:ext cx="868044" cy="324485"/>
            </a:xfrm>
            <a:custGeom>
              <a:avLst/>
              <a:gdLst/>
              <a:ahLst/>
              <a:cxnLst/>
              <a:rect l="l" t="t" r="r" b="b"/>
              <a:pathLst>
                <a:path w="868044" h="324485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842619" y="324001"/>
                  </a:lnTo>
                  <a:lnTo>
                    <a:pt x="852469" y="322013"/>
                  </a:lnTo>
                  <a:lnTo>
                    <a:pt x="860513" y="316590"/>
                  </a:lnTo>
                  <a:lnTo>
                    <a:pt x="865936" y="308546"/>
                  </a:lnTo>
                  <a:lnTo>
                    <a:pt x="867924" y="29869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12046" y="2177395"/>
              <a:ext cx="868044" cy="324485"/>
            </a:xfrm>
            <a:custGeom>
              <a:avLst/>
              <a:gdLst/>
              <a:ahLst/>
              <a:cxnLst/>
              <a:rect l="l" t="t" r="r" b="b"/>
              <a:pathLst>
                <a:path w="868044" h="324485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842619" y="324001"/>
                  </a:lnTo>
                  <a:lnTo>
                    <a:pt x="852469" y="322013"/>
                  </a:lnTo>
                  <a:lnTo>
                    <a:pt x="860513" y="316590"/>
                  </a:lnTo>
                  <a:lnTo>
                    <a:pt x="865936" y="308546"/>
                  </a:lnTo>
                  <a:lnTo>
                    <a:pt x="867924" y="29869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19593" y="2200515"/>
            <a:ext cx="65341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Merchant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active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member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0952" y="1560309"/>
            <a:ext cx="878205" cy="334645"/>
            <a:chOff x="370952" y="1560309"/>
            <a:chExt cx="878205" cy="334645"/>
          </a:xfrm>
        </p:grpSpPr>
        <p:sp>
          <p:nvSpPr>
            <p:cNvPr id="16" name="object 16"/>
            <p:cNvSpPr/>
            <p:nvPr/>
          </p:nvSpPr>
          <p:spPr>
            <a:xfrm>
              <a:off x="376032" y="1565389"/>
              <a:ext cx="868044" cy="324485"/>
            </a:xfrm>
            <a:custGeom>
              <a:avLst/>
              <a:gdLst/>
              <a:ahLst/>
              <a:cxnLst/>
              <a:rect l="l" t="t" r="r" b="b"/>
              <a:pathLst>
                <a:path w="868044" h="324485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842619" y="324001"/>
                  </a:lnTo>
                  <a:lnTo>
                    <a:pt x="852469" y="322013"/>
                  </a:lnTo>
                  <a:lnTo>
                    <a:pt x="860513" y="316589"/>
                  </a:lnTo>
                  <a:lnTo>
                    <a:pt x="865936" y="308546"/>
                  </a:lnTo>
                  <a:lnTo>
                    <a:pt x="867924" y="29869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032" y="1565389"/>
              <a:ext cx="868044" cy="324485"/>
            </a:xfrm>
            <a:custGeom>
              <a:avLst/>
              <a:gdLst/>
              <a:ahLst/>
              <a:cxnLst/>
              <a:rect l="l" t="t" r="r" b="b"/>
              <a:pathLst>
                <a:path w="868044" h="324485">
                  <a:moveTo>
                    <a:pt x="842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842619" y="324001"/>
                  </a:lnTo>
                  <a:lnTo>
                    <a:pt x="852469" y="322013"/>
                  </a:lnTo>
                  <a:lnTo>
                    <a:pt x="860513" y="316589"/>
                  </a:lnTo>
                  <a:lnTo>
                    <a:pt x="865936" y="308546"/>
                  </a:lnTo>
                  <a:lnTo>
                    <a:pt x="867924" y="298696"/>
                  </a:lnTo>
                  <a:lnTo>
                    <a:pt x="867924" y="25305"/>
                  </a:lnTo>
                  <a:lnTo>
                    <a:pt x="865936" y="15455"/>
                  </a:lnTo>
                  <a:lnTo>
                    <a:pt x="860513" y="7411"/>
                  </a:lnTo>
                  <a:lnTo>
                    <a:pt x="852469" y="1988"/>
                  </a:lnTo>
                  <a:lnTo>
                    <a:pt x="842619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2294" y="1581986"/>
            <a:ext cx="455930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b="1" spc="-20" dirty="0">
                <a:solidFill>
                  <a:srgbClr val="3F3F3F"/>
                </a:solidFill>
                <a:latin typeface="Calibri"/>
                <a:cs typeface="Calibri"/>
              </a:rPr>
              <a:t>Burn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redeem()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79952" y="1213025"/>
            <a:ext cx="375920" cy="339725"/>
            <a:chOff x="2179952" y="1213025"/>
            <a:chExt cx="375920" cy="339725"/>
          </a:xfrm>
        </p:grpSpPr>
        <p:sp>
          <p:nvSpPr>
            <p:cNvPr id="20" name="object 20"/>
            <p:cNvSpPr/>
            <p:nvPr/>
          </p:nvSpPr>
          <p:spPr>
            <a:xfrm>
              <a:off x="2185032" y="1218105"/>
              <a:ext cx="351790" cy="302895"/>
            </a:xfrm>
            <a:custGeom>
              <a:avLst/>
              <a:gdLst/>
              <a:ahLst/>
              <a:cxnLst/>
              <a:rect l="l" t="t" r="r" b="b"/>
              <a:pathLst>
                <a:path w="351789" h="302894">
                  <a:moveTo>
                    <a:pt x="0" y="0"/>
                  </a:moveTo>
                  <a:lnTo>
                    <a:pt x="52185" y="23245"/>
                  </a:lnTo>
                  <a:lnTo>
                    <a:pt x="99721" y="47588"/>
                  </a:lnTo>
                  <a:lnTo>
                    <a:pt x="142932" y="73204"/>
                  </a:lnTo>
                  <a:lnTo>
                    <a:pt x="182142" y="100266"/>
                  </a:lnTo>
                  <a:lnTo>
                    <a:pt x="217675" y="128949"/>
                  </a:lnTo>
                  <a:lnTo>
                    <a:pt x="249854" y="159426"/>
                  </a:lnTo>
                  <a:lnTo>
                    <a:pt x="279004" y="191873"/>
                  </a:lnTo>
                  <a:lnTo>
                    <a:pt x="305448" y="226463"/>
                  </a:lnTo>
                  <a:lnTo>
                    <a:pt x="329509" y="263370"/>
                  </a:lnTo>
                  <a:lnTo>
                    <a:pt x="351513" y="302768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17504" y="1503720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27759" y="0"/>
                  </a:moveTo>
                  <a:lnTo>
                    <a:pt x="20204" y="19400"/>
                  </a:lnTo>
                  <a:lnTo>
                    <a:pt x="0" y="14377"/>
                  </a:lnTo>
                  <a:lnTo>
                    <a:pt x="32847" y="43809"/>
                  </a:lnTo>
                  <a:lnTo>
                    <a:pt x="27759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7504" y="1503720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32847" y="43809"/>
                  </a:moveTo>
                  <a:lnTo>
                    <a:pt x="27759" y="0"/>
                  </a:lnTo>
                  <a:lnTo>
                    <a:pt x="20204" y="19400"/>
                  </a:lnTo>
                  <a:lnTo>
                    <a:pt x="0" y="14377"/>
                  </a:lnTo>
                  <a:lnTo>
                    <a:pt x="32847" y="43809"/>
                  </a:lnTo>
                  <a:close/>
                </a:path>
              </a:pathLst>
            </a:custGeom>
            <a:ln w="10121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3797" y="1211572"/>
            <a:ext cx="2438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reward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193256" y="1889372"/>
            <a:ext cx="368935" cy="347345"/>
            <a:chOff x="2193256" y="1889372"/>
            <a:chExt cx="368935" cy="347345"/>
          </a:xfrm>
        </p:grpSpPr>
        <p:sp>
          <p:nvSpPr>
            <p:cNvPr id="25" name="object 25"/>
            <p:cNvSpPr/>
            <p:nvPr/>
          </p:nvSpPr>
          <p:spPr>
            <a:xfrm>
              <a:off x="2226047" y="1894452"/>
              <a:ext cx="331470" cy="325755"/>
            </a:xfrm>
            <a:custGeom>
              <a:avLst/>
              <a:gdLst/>
              <a:ahLst/>
              <a:cxnLst/>
              <a:rect l="l" t="t" r="r" b="b"/>
              <a:pathLst>
                <a:path w="331469" h="325755">
                  <a:moveTo>
                    <a:pt x="330933" y="0"/>
                  </a:moveTo>
                  <a:lnTo>
                    <a:pt x="303433" y="50073"/>
                  </a:lnTo>
                  <a:lnTo>
                    <a:pt x="275224" y="95422"/>
                  </a:lnTo>
                  <a:lnTo>
                    <a:pt x="246106" y="136355"/>
                  </a:lnTo>
                  <a:lnTo>
                    <a:pt x="215878" y="173180"/>
                  </a:lnTo>
                  <a:lnTo>
                    <a:pt x="184341" y="206205"/>
                  </a:lnTo>
                  <a:lnTo>
                    <a:pt x="151294" y="235740"/>
                  </a:lnTo>
                  <a:lnTo>
                    <a:pt x="116537" y="262092"/>
                  </a:lnTo>
                  <a:lnTo>
                    <a:pt x="79869" y="285570"/>
                  </a:lnTo>
                  <a:lnTo>
                    <a:pt x="41090" y="306481"/>
                  </a:lnTo>
                  <a:lnTo>
                    <a:pt x="0" y="325136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98336" y="2200844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80">
                  <a:moveTo>
                    <a:pt x="44080" y="28857"/>
                  </a:moveTo>
                  <a:lnTo>
                    <a:pt x="25374" y="19717"/>
                  </a:lnTo>
                  <a:lnTo>
                    <a:pt x="32058" y="0"/>
                  </a:lnTo>
                  <a:lnTo>
                    <a:pt x="0" y="30288"/>
                  </a:lnTo>
                  <a:lnTo>
                    <a:pt x="44080" y="28857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98336" y="2200844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80">
                  <a:moveTo>
                    <a:pt x="0" y="30288"/>
                  </a:moveTo>
                  <a:lnTo>
                    <a:pt x="44080" y="28857"/>
                  </a:lnTo>
                  <a:lnTo>
                    <a:pt x="25374" y="19717"/>
                  </a:lnTo>
                  <a:lnTo>
                    <a:pt x="32058" y="0"/>
                  </a:lnTo>
                  <a:lnTo>
                    <a:pt x="0" y="30288"/>
                  </a:lnTo>
                  <a:close/>
                </a:path>
              </a:pathLst>
            </a:custGeom>
            <a:ln w="10121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3797" y="2118123"/>
            <a:ext cx="2127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spend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36585" y="1902170"/>
            <a:ext cx="375920" cy="339725"/>
            <a:chOff x="936585" y="1902170"/>
            <a:chExt cx="375920" cy="339725"/>
          </a:xfrm>
        </p:grpSpPr>
        <p:sp>
          <p:nvSpPr>
            <p:cNvPr id="30" name="object 30"/>
            <p:cNvSpPr/>
            <p:nvPr/>
          </p:nvSpPr>
          <p:spPr>
            <a:xfrm>
              <a:off x="955471" y="1933906"/>
              <a:ext cx="351790" cy="302895"/>
            </a:xfrm>
            <a:custGeom>
              <a:avLst/>
              <a:gdLst/>
              <a:ahLst/>
              <a:cxnLst/>
              <a:rect l="l" t="t" r="r" b="b"/>
              <a:pathLst>
                <a:path w="351790" h="302894">
                  <a:moveTo>
                    <a:pt x="351513" y="302768"/>
                  </a:moveTo>
                  <a:lnTo>
                    <a:pt x="299328" y="279523"/>
                  </a:lnTo>
                  <a:lnTo>
                    <a:pt x="251792" y="255179"/>
                  </a:lnTo>
                  <a:lnTo>
                    <a:pt x="208580" y="229564"/>
                  </a:lnTo>
                  <a:lnTo>
                    <a:pt x="169370" y="202501"/>
                  </a:lnTo>
                  <a:lnTo>
                    <a:pt x="133837" y="173819"/>
                  </a:lnTo>
                  <a:lnTo>
                    <a:pt x="101658" y="143341"/>
                  </a:lnTo>
                  <a:lnTo>
                    <a:pt x="72509" y="110894"/>
                  </a:lnTo>
                  <a:lnTo>
                    <a:pt x="46065" y="76305"/>
                  </a:lnTo>
                  <a:lnTo>
                    <a:pt x="22003" y="39398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41665" y="1907250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5088" y="43809"/>
                  </a:moveTo>
                  <a:lnTo>
                    <a:pt x="12642" y="24408"/>
                  </a:lnTo>
                  <a:lnTo>
                    <a:pt x="32847" y="29431"/>
                  </a:lnTo>
                  <a:lnTo>
                    <a:pt x="0" y="0"/>
                  </a:lnTo>
                  <a:lnTo>
                    <a:pt x="5088" y="43809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665" y="1907250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0" y="0"/>
                  </a:moveTo>
                  <a:lnTo>
                    <a:pt x="5088" y="43809"/>
                  </a:lnTo>
                  <a:lnTo>
                    <a:pt x="12642" y="24408"/>
                  </a:lnTo>
                  <a:lnTo>
                    <a:pt x="32847" y="29431"/>
                  </a:lnTo>
                  <a:lnTo>
                    <a:pt x="0" y="0"/>
                  </a:lnTo>
                  <a:close/>
                </a:path>
              </a:pathLst>
            </a:custGeom>
            <a:ln w="10121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28319" y="2113424"/>
            <a:ext cx="220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return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29975" y="1218587"/>
            <a:ext cx="368935" cy="347345"/>
            <a:chOff x="929975" y="1218587"/>
            <a:chExt cx="368935" cy="347345"/>
          </a:xfrm>
        </p:grpSpPr>
        <p:sp>
          <p:nvSpPr>
            <p:cNvPr id="35" name="object 35"/>
            <p:cNvSpPr/>
            <p:nvPr/>
          </p:nvSpPr>
          <p:spPr>
            <a:xfrm>
              <a:off x="935036" y="1235192"/>
              <a:ext cx="331470" cy="325755"/>
            </a:xfrm>
            <a:custGeom>
              <a:avLst/>
              <a:gdLst/>
              <a:ahLst/>
              <a:cxnLst/>
              <a:rect l="l" t="t" r="r" b="b"/>
              <a:pathLst>
                <a:path w="331469" h="325755">
                  <a:moveTo>
                    <a:pt x="0" y="325136"/>
                  </a:moveTo>
                  <a:lnTo>
                    <a:pt x="27500" y="275062"/>
                  </a:lnTo>
                  <a:lnTo>
                    <a:pt x="55709" y="229713"/>
                  </a:lnTo>
                  <a:lnTo>
                    <a:pt x="84827" y="188781"/>
                  </a:lnTo>
                  <a:lnTo>
                    <a:pt x="115054" y="151956"/>
                  </a:lnTo>
                  <a:lnTo>
                    <a:pt x="146591" y="118930"/>
                  </a:lnTo>
                  <a:lnTo>
                    <a:pt x="179638" y="89395"/>
                  </a:lnTo>
                  <a:lnTo>
                    <a:pt x="214395" y="63043"/>
                  </a:lnTo>
                  <a:lnTo>
                    <a:pt x="251063" y="39566"/>
                  </a:lnTo>
                  <a:lnTo>
                    <a:pt x="289843" y="18654"/>
                  </a:lnTo>
                  <a:lnTo>
                    <a:pt x="330933" y="0"/>
                  </a:lnTo>
                </a:path>
              </a:pathLst>
            </a:custGeom>
            <a:ln w="10122">
              <a:solidFill>
                <a:srgbClr val="00357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49600" y="1223648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80">
                  <a:moveTo>
                    <a:pt x="0" y="1430"/>
                  </a:moveTo>
                  <a:lnTo>
                    <a:pt x="18705" y="10571"/>
                  </a:lnTo>
                  <a:lnTo>
                    <a:pt x="12021" y="30288"/>
                  </a:lnTo>
                  <a:lnTo>
                    <a:pt x="44080" y="0"/>
                  </a:lnTo>
                  <a:lnTo>
                    <a:pt x="0" y="143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49600" y="1223648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80">
                  <a:moveTo>
                    <a:pt x="44080" y="0"/>
                  </a:moveTo>
                  <a:lnTo>
                    <a:pt x="0" y="1430"/>
                  </a:lnTo>
                  <a:lnTo>
                    <a:pt x="18705" y="10571"/>
                  </a:lnTo>
                  <a:lnTo>
                    <a:pt x="12021" y="30288"/>
                  </a:lnTo>
                  <a:lnTo>
                    <a:pt x="44080" y="0"/>
                  </a:lnTo>
                  <a:close/>
                </a:path>
              </a:pathLst>
            </a:custGeom>
            <a:ln w="10121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35" y="1111331"/>
            <a:ext cx="39687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53340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visibility,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sponsorship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70503" y="987280"/>
            <a:ext cx="2026920" cy="15290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87655" marR="5080" indent="-124460">
              <a:lnSpc>
                <a:spcPct val="101499"/>
              </a:lnSpc>
              <a:spcBef>
                <a:spcPts val="80"/>
              </a:spcBef>
              <a:buClr>
                <a:srgbClr val="003576"/>
              </a:buClr>
              <a:buChar char="•"/>
              <a:tabLst>
                <a:tab pos="289560" algn="l"/>
              </a:tabLst>
            </a:pP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Transfers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allowed</a:t>
            </a:r>
            <a:r>
              <a:rPr sz="9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only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towards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merchant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active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membership</a:t>
            </a:r>
            <a:endParaRPr sz="900">
              <a:latin typeface="Calibri"/>
              <a:cs typeface="Calibri"/>
            </a:endParaRPr>
          </a:p>
          <a:p>
            <a:pPr marL="287655" marR="22225" indent="-124460">
              <a:lnSpc>
                <a:spcPct val="101499"/>
              </a:lnSpc>
              <a:spcBef>
                <a:spcPts val="595"/>
              </a:spcBef>
              <a:buClr>
                <a:srgbClr val="003576"/>
              </a:buClr>
              <a:buChar char="•"/>
              <a:tabLst>
                <a:tab pos="28956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Never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convertible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euro:</a:t>
            </a:r>
            <a:r>
              <a:rPr sz="9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works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like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loyalty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points</a:t>
            </a:r>
            <a:endParaRPr sz="900">
              <a:latin typeface="Calibri"/>
              <a:cs typeface="Calibri"/>
            </a:endParaRPr>
          </a:p>
          <a:p>
            <a:pPr marL="287655" marR="12700" indent="-124460">
              <a:lnSpc>
                <a:spcPct val="101499"/>
              </a:lnSpc>
              <a:spcBef>
                <a:spcPts val="600"/>
              </a:spcBef>
              <a:buClr>
                <a:srgbClr val="003576"/>
              </a:buClr>
              <a:buChar char="•"/>
              <a:tabLst>
                <a:tab pos="289560" algn="l"/>
              </a:tabLst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Merchants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pay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yearly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fee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euro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ETS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900" b="1" dirty="0">
                <a:solidFill>
                  <a:srgbClr val="BD3B37"/>
                </a:solidFill>
                <a:latin typeface="Calibri"/>
                <a:cs typeface="Calibri"/>
              </a:rPr>
              <a:t>Open</a:t>
            </a:r>
            <a:r>
              <a:rPr sz="900" b="1" spc="-20" dirty="0">
                <a:solidFill>
                  <a:srgbClr val="BD3B3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BD3B37"/>
                </a:solidFill>
                <a:latin typeface="Calibri"/>
                <a:cs typeface="Calibri"/>
              </a:rPr>
              <a:t>issues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9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inflation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merchant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trust</a:t>
            </a:r>
            <a:endParaRPr sz="900">
              <a:latin typeface="Calibri"/>
              <a:cs typeface="Calibri"/>
            </a:endParaRPr>
          </a:p>
          <a:p>
            <a:pPr marL="12700" marR="150495">
              <a:lnSpc>
                <a:spcPct val="101499"/>
              </a:lnSpc>
            </a:pPr>
            <a:r>
              <a:rPr sz="900" i="1" dirty="0">
                <a:solidFill>
                  <a:srgbClr val="3F3F3F"/>
                </a:solidFill>
                <a:latin typeface="Times New Roman"/>
                <a:cs typeface="Times New Roman"/>
              </a:rPr>
              <a:t>→</a:t>
            </a:r>
            <a:r>
              <a:rPr sz="900" i="1" spc="-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issuance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cap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tied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redeemed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value,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decay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unspent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balances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4190426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Reputation:</a:t>
            </a:r>
            <a:r>
              <a:rPr spc="150" dirty="0"/>
              <a:t> </a:t>
            </a:r>
            <a:r>
              <a:rPr dirty="0"/>
              <a:t>lazy</a:t>
            </a:r>
            <a:r>
              <a:rPr spc="35" dirty="0"/>
              <a:t> </a:t>
            </a:r>
            <a:r>
              <a:rPr spc="-10" dirty="0"/>
              <a:t>decay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02A543D-A38D-F3B5-BDDD-85FEE2A8A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4/10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9328" y="2319247"/>
            <a:ext cx="2307590" cy="66040"/>
            <a:chOff x="619328" y="2319247"/>
            <a:chExt cx="2307590" cy="66040"/>
          </a:xfrm>
        </p:grpSpPr>
        <p:sp>
          <p:nvSpPr>
            <p:cNvPr id="4" name="object 4"/>
            <p:cNvSpPr/>
            <p:nvPr/>
          </p:nvSpPr>
          <p:spPr>
            <a:xfrm>
              <a:off x="621868" y="2352154"/>
              <a:ext cx="2299970" cy="0"/>
            </a:xfrm>
            <a:custGeom>
              <a:avLst/>
              <a:gdLst/>
              <a:ahLst/>
              <a:cxnLst/>
              <a:rect l="l" t="t" r="r" b="b"/>
              <a:pathLst>
                <a:path w="2299970">
                  <a:moveTo>
                    <a:pt x="0" y="0"/>
                  </a:moveTo>
                  <a:lnTo>
                    <a:pt x="2299827" y="0"/>
                  </a:lnTo>
                </a:path>
              </a:pathLst>
            </a:custGeom>
            <a:ln w="5060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97908" y="2321787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ln w="5060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27159" y="2364960"/>
            <a:ext cx="1638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8962" y="1045167"/>
            <a:ext cx="66040" cy="1310005"/>
            <a:chOff x="588962" y="1045167"/>
            <a:chExt cx="66040" cy="1310005"/>
          </a:xfrm>
        </p:grpSpPr>
        <p:sp>
          <p:nvSpPr>
            <p:cNvPr id="8" name="object 8"/>
            <p:cNvSpPr/>
            <p:nvPr/>
          </p:nvSpPr>
          <p:spPr>
            <a:xfrm>
              <a:off x="621868" y="1050237"/>
              <a:ext cx="0" cy="1302385"/>
            </a:xfrm>
            <a:custGeom>
              <a:avLst/>
              <a:gdLst/>
              <a:ahLst/>
              <a:cxnLst/>
              <a:rect l="l" t="t" r="r" b="b"/>
              <a:pathLst>
                <a:path h="1302385">
                  <a:moveTo>
                    <a:pt x="0" y="130191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502" y="104770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6948" y="907293"/>
            <a:ext cx="1905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score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7671" y="2361506"/>
            <a:ext cx="1409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3895" y="2361506"/>
            <a:ext cx="1409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200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0119" y="2361506"/>
            <a:ext cx="1409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300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1982" y="2287910"/>
            <a:ext cx="132080" cy="190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50"/>
              </a:lnSpc>
              <a:spcBef>
                <a:spcPts val="95"/>
              </a:spcBef>
            </a:pPr>
            <a:r>
              <a:rPr sz="600" spc="-5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  <a:p>
            <a:pPr marL="80010">
              <a:lnSpc>
                <a:spcPts val="650"/>
              </a:lnSpc>
            </a:pPr>
            <a:r>
              <a:rPr sz="600" spc="-5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033" y="1812650"/>
            <a:ext cx="1409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120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5033" y="1099748"/>
            <a:ext cx="1409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300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1868" y="1758073"/>
            <a:ext cx="2247265" cy="0"/>
          </a:xfrm>
          <a:custGeom>
            <a:avLst/>
            <a:gdLst/>
            <a:ahLst/>
            <a:cxnLst/>
            <a:rect l="l" t="t" r="r" b="b"/>
            <a:pathLst>
              <a:path w="2247265">
                <a:moveTo>
                  <a:pt x="0" y="0"/>
                </a:moveTo>
                <a:lnTo>
                  <a:pt x="2247266" y="0"/>
                </a:lnTo>
              </a:path>
            </a:pathLst>
          </a:custGeom>
          <a:ln w="5060">
            <a:solidFill>
              <a:srgbClr val="B48B12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74620" y="1620194"/>
            <a:ext cx="459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B48B12"/>
                </a:solidFill>
                <a:latin typeface="Calibri"/>
                <a:cs typeface="Calibri"/>
              </a:rPr>
              <a:t>role</a:t>
            </a:r>
            <a:r>
              <a:rPr sz="600" spc="-30" dirty="0">
                <a:solidFill>
                  <a:srgbClr val="B48B12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B48B12"/>
                </a:solidFill>
                <a:latin typeface="Calibri"/>
                <a:cs typeface="Calibri"/>
              </a:rPr>
              <a:t>threshold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9093" y="1141218"/>
            <a:ext cx="2105025" cy="1218565"/>
            <a:chOff x="599093" y="1141218"/>
            <a:chExt cx="2105025" cy="1218565"/>
          </a:xfrm>
        </p:grpSpPr>
        <p:sp>
          <p:nvSpPr>
            <p:cNvPr id="20" name="object 20"/>
            <p:cNvSpPr/>
            <p:nvPr/>
          </p:nvSpPr>
          <p:spPr>
            <a:xfrm>
              <a:off x="621868" y="1163992"/>
              <a:ext cx="2074545" cy="1188720"/>
            </a:xfrm>
            <a:custGeom>
              <a:avLst/>
              <a:gdLst/>
              <a:ahLst/>
              <a:cxnLst/>
              <a:rect l="l" t="t" r="r" b="b"/>
              <a:pathLst>
                <a:path w="2074545" h="1188720">
                  <a:moveTo>
                    <a:pt x="0" y="712896"/>
                  </a:moveTo>
                  <a:lnTo>
                    <a:pt x="172866" y="831713"/>
                  </a:lnTo>
                  <a:lnTo>
                    <a:pt x="172866" y="356448"/>
                  </a:lnTo>
                  <a:lnTo>
                    <a:pt x="345733" y="475264"/>
                  </a:lnTo>
                  <a:lnTo>
                    <a:pt x="345733" y="0"/>
                  </a:lnTo>
                  <a:lnTo>
                    <a:pt x="2074399" y="1188161"/>
                  </a:lnTo>
                </a:path>
              </a:pathLst>
            </a:custGeom>
            <a:ln w="15183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9084" y="1141221"/>
              <a:ext cx="391795" cy="758825"/>
            </a:xfrm>
            <a:custGeom>
              <a:avLst/>
              <a:gdLst/>
              <a:ahLst/>
              <a:cxnLst/>
              <a:rect l="l" t="t" r="r" b="b"/>
              <a:pathLst>
                <a:path w="391794" h="758825">
                  <a:moveTo>
                    <a:pt x="45554" y="735672"/>
                  </a:moveTo>
                  <a:lnTo>
                    <a:pt x="43764" y="726808"/>
                  </a:lnTo>
                  <a:lnTo>
                    <a:pt x="38887" y="719569"/>
                  </a:lnTo>
                  <a:lnTo>
                    <a:pt x="31648" y="714692"/>
                  </a:lnTo>
                  <a:lnTo>
                    <a:pt x="22771" y="712901"/>
                  </a:lnTo>
                  <a:lnTo>
                    <a:pt x="13906" y="714692"/>
                  </a:lnTo>
                  <a:lnTo>
                    <a:pt x="6667" y="719569"/>
                  </a:lnTo>
                  <a:lnTo>
                    <a:pt x="1790" y="726808"/>
                  </a:lnTo>
                  <a:lnTo>
                    <a:pt x="0" y="735672"/>
                  </a:lnTo>
                  <a:lnTo>
                    <a:pt x="1790" y="744537"/>
                  </a:lnTo>
                  <a:lnTo>
                    <a:pt x="6667" y="751776"/>
                  </a:lnTo>
                  <a:lnTo>
                    <a:pt x="13906" y="756653"/>
                  </a:lnTo>
                  <a:lnTo>
                    <a:pt x="22771" y="758444"/>
                  </a:lnTo>
                  <a:lnTo>
                    <a:pt x="31648" y="756653"/>
                  </a:lnTo>
                  <a:lnTo>
                    <a:pt x="38887" y="751776"/>
                  </a:lnTo>
                  <a:lnTo>
                    <a:pt x="43764" y="744537"/>
                  </a:lnTo>
                  <a:lnTo>
                    <a:pt x="45554" y="735672"/>
                  </a:lnTo>
                  <a:close/>
                </a:path>
                <a:path w="391794" h="758825">
                  <a:moveTo>
                    <a:pt x="218414" y="379222"/>
                  </a:moveTo>
                  <a:lnTo>
                    <a:pt x="216623" y="370357"/>
                  </a:lnTo>
                  <a:lnTo>
                    <a:pt x="211747" y="363118"/>
                  </a:lnTo>
                  <a:lnTo>
                    <a:pt x="204508" y="358241"/>
                  </a:lnTo>
                  <a:lnTo>
                    <a:pt x="195643" y="356450"/>
                  </a:lnTo>
                  <a:lnTo>
                    <a:pt x="186778" y="358241"/>
                  </a:lnTo>
                  <a:lnTo>
                    <a:pt x="179539" y="363118"/>
                  </a:lnTo>
                  <a:lnTo>
                    <a:pt x="174663" y="370357"/>
                  </a:lnTo>
                  <a:lnTo>
                    <a:pt x="172872" y="379222"/>
                  </a:lnTo>
                  <a:lnTo>
                    <a:pt x="174663" y="388086"/>
                  </a:lnTo>
                  <a:lnTo>
                    <a:pt x="179539" y="395325"/>
                  </a:lnTo>
                  <a:lnTo>
                    <a:pt x="186778" y="400215"/>
                  </a:lnTo>
                  <a:lnTo>
                    <a:pt x="195643" y="402005"/>
                  </a:lnTo>
                  <a:lnTo>
                    <a:pt x="204508" y="400215"/>
                  </a:lnTo>
                  <a:lnTo>
                    <a:pt x="211747" y="395325"/>
                  </a:lnTo>
                  <a:lnTo>
                    <a:pt x="216623" y="388086"/>
                  </a:lnTo>
                  <a:lnTo>
                    <a:pt x="218414" y="379222"/>
                  </a:lnTo>
                  <a:close/>
                </a:path>
                <a:path w="391794" h="758825">
                  <a:moveTo>
                    <a:pt x="391287" y="22771"/>
                  </a:moveTo>
                  <a:lnTo>
                    <a:pt x="389496" y="13906"/>
                  </a:lnTo>
                  <a:lnTo>
                    <a:pt x="384619" y="6667"/>
                  </a:lnTo>
                  <a:lnTo>
                    <a:pt x="377380" y="1790"/>
                  </a:lnTo>
                  <a:lnTo>
                    <a:pt x="368515" y="0"/>
                  </a:lnTo>
                  <a:lnTo>
                    <a:pt x="359651" y="1790"/>
                  </a:lnTo>
                  <a:lnTo>
                    <a:pt x="352412" y="6667"/>
                  </a:lnTo>
                  <a:lnTo>
                    <a:pt x="347522" y="13906"/>
                  </a:lnTo>
                  <a:lnTo>
                    <a:pt x="345732" y="22771"/>
                  </a:lnTo>
                  <a:lnTo>
                    <a:pt x="347522" y="31648"/>
                  </a:lnTo>
                  <a:lnTo>
                    <a:pt x="352412" y="38887"/>
                  </a:lnTo>
                  <a:lnTo>
                    <a:pt x="359651" y="43764"/>
                  </a:lnTo>
                  <a:lnTo>
                    <a:pt x="368515" y="45554"/>
                  </a:lnTo>
                  <a:lnTo>
                    <a:pt x="377380" y="43764"/>
                  </a:lnTo>
                  <a:lnTo>
                    <a:pt x="384619" y="38887"/>
                  </a:lnTo>
                  <a:lnTo>
                    <a:pt x="389496" y="31648"/>
                  </a:lnTo>
                  <a:lnTo>
                    <a:pt x="391287" y="22771"/>
                  </a:lnTo>
                  <a:close/>
                </a:path>
              </a:pathLst>
            </a:custGeom>
            <a:solidFill>
              <a:srgbClr val="0E81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61237" y="1075428"/>
            <a:ext cx="12077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monthly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projects,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then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inactivity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70415" y="915749"/>
            <a:ext cx="2086610" cy="159448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37160" indent="-124460">
              <a:lnSpc>
                <a:spcPct val="100000"/>
              </a:lnSpc>
              <a:spcBef>
                <a:spcPts val="715"/>
              </a:spcBef>
              <a:buClr>
                <a:srgbClr val="003576"/>
              </a:buClr>
              <a:buChar char="•"/>
              <a:tabLst>
                <a:tab pos="13716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Stored:</a:t>
            </a:r>
            <a:r>
              <a:rPr sz="9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raw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last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update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900">
              <a:latin typeface="Calibri"/>
              <a:cs typeface="Calibri"/>
            </a:endParaRPr>
          </a:p>
          <a:p>
            <a:pPr marL="137160" indent="-124460">
              <a:lnSpc>
                <a:spcPct val="100000"/>
              </a:lnSpc>
              <a:spcBef>
                <a:spcPts val="610"/>
              </a:spcBef>
              <a:buClr>
                <a:srgbClr val="003576"/>
              </a:buClr>
              <a:buChar char="•"/>
              <a:tabLst>
                <a:tab pos="13716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Read:</a:t>
            </a:r>
            <a:r>
              <a:rPr sz="9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max(0</a:t>
            </a:r>
            <a:r>
              <a:rPr sz="900" i="1" dirty="0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sz="900" i="1" spc="10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9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i="1" spc="95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900" i="1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3F3F3F"/>
                </a:solidFill>
                <a:latin typeface="Calibri"/>
                <a:cs typeface="Calibri"/>
              </a:rPr>
              <a:t>days </a:t>
            </a:r>
            <a:r>
              <a:rPr sz="900" i="1" dirty="0">
                <a:solidFill>
                  <a:srgbClr val="3F3F3F"/>
                </a:solidFill>
                <a:latin typeface="Times New Roman"/>
                <a:cs typeface="Times New Roman"/>
              </a:rPr>
              <a:t>·</a:t>
            </a:r>
            <a:r>
              <a:rPr sz="900" i="1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900" i="1" spc="-2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)</a:t>
            </a:r>
            <a:endParaRPr sz="900">
              <a:latin typeface="Calibri"/>
              <a:cs typeface="Calibri"/>
            </a:endParaRPr>
          </a:p>
          <a:p>
            <a:pPr marL="136525" marR="34925" indent="-124460">
              <a:lnSpc>
                <a:spcPct val="101499"/>
              </a:lnSpc>
              <a:spcBef>
                <a:spcPts val="600"/>
              </a:spcBef>
              <a:buClr>
                <a:srgbClr val="003576"/>
              </a:buClr>
              <a:buChar char="•"/>
              <a:tabLst>
                <a:tab pos="13843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Write:</a:t>
            </a:r>
            <a:r>
              <a:rPr sz="9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3F3F3F"/>
                </a:solidFill>
                <a:latin typeface="Calibri"/>
                <a:cs typeface="Calibri"/>
              </a:rPr>
              <a:t>crystallize</a:t>
            </a:r>
            <a:r>
              <a:rPr sz="9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decayed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value,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then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add</a:t>
            </a:r>
            <a:endParaRPr sz="900">
              <a:latin typeface="Calibri"/>
              <a:cs typeface="Calibri"/>
            </a:endParaRPr>
          </a:p>
          <a:p>
            <a:pPr marL="136525" marR="5080" indent="-124460">
              <a:lnSpc>
                <a:spcPct val="101499"/>
              </a:lnSpc>
              <a:spcBef>
                <a:spcPts val="595"/>
              </a:spcBef>
              <a:buClr>
                <a:srgbClr val="003576"/>
              </a:buClr>
              <a:buChar char="•"/>
              <a:tabLst>
                <a:tab pos="13843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+120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project,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i="1" spc="50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900" spc="5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day:</a:t>
            </a:r>
            <a:r>
              <a:rPr sz="9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120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zero</a:t>
            </a:r>
            <a:endParaRPr sz="900">
              <a:latin typeface="Calibri"/>
              <a:cs typeface="Calibri"/>
            </a:endParaRPr>
          </a:p>
          <a:p>
            <a:pPr marL="137160" indent="-124460">
              <a:lnSpc>
                <a:spcPct val="100000"/>
              </a:lnSpc>
              <a:spcBef>
                <a:spcPts val="615"/>
              </a:spcBef>
              <a:buClr>
                <a:srgbClr val="003576"/>
              </a:buClr>
              <a:buChar char="•"/>
              <a:tabLst>
                <a:tab pos="13716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keeper,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gas-costly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periodic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updates</a:t>
            </a:r>
            <a:endParaRPr sz="900">
              <a:latin typeface="Calibri"/>
              <a:cs typeface="Calibri"/>
            </a:endParaRPr>
          </a:p>
          <a:p>
            <a:pPr marL="137160" indent="-124460">
              <a:lnSpc>
                <a:spcPct val="100000"/>
              </a:lnSpc>
              <a:spcBef>
                <a:spcPts val="615"/>
              </a:spcBef>
              <a:buClr>
                <a:srgbClr val="003576"/>
              </a:buClr>
              <a:buFont typeface="Calibri"/>
              <a:buChar char="•"/>
              <a:tabLst>
                <a:tab pos="137160" algn="l"/>
              </a:tabLst>
            </a:pP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Never</a:t>
            </a:r>
            <a:r>
              <a:rPr sz="900" b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weighs</a:t>
            </a:r>
            <a:r>
              <a:rPr sz="900" b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b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9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unlocks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roles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4225487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Ballot</a:t>
            </a:r>
            <a:r>
              <a:rPr spc="55" dirty="0"/>
              <a:t> </a:t>
            </a:r>
            <a:r>
              <a:rPr dirty="0"/>
              <a:t>secrecy</a:t>
            </a:r>
            <a:r>
              <a:rPr spc="60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spc="-10" dirty="0"/>
              <a:t>collusion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AB5C65C-2B56-55EB-9820-FB68D6F9F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5/10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1190002"/>
            <a:ext cx="2520950" cy="1147445"/>
            <a:chOff x="309193" y="1190002"/>
            <a:chExt cx="2520950" cy="1147445"/>
          </a:xfrm>
        </p:grpSpPr>
        <p:sp>
          <p:nvSpPr>
            <p:cNvPr id="4" name="object 4"/>
            <p:cNvSpPr/>
            <p:nvPr/>
          </p:nvSpPr>
          <p:spPr>
            <a:xfrm>
              <a:off x="309193" y="1190002"/>
              <a:ext cx="2520950" cy="194310"/>
            </a:xfrm>
            <a:custGeom>
              <a:avLst/>
              <a:gdLst/>
              <a:ahLst/>
              <a:cxnLst/>
              <a:rect l="l" t="t" r="r" b="b"/>
              <a:pathLst>
                <a:path w="2520950" h="194309">
                  <a:moveTo>
                    <a:pt x="247001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3812"/>
                  </a:lnTo>
                  <a:lnTo>
                    <a:pt x="2520810" y="193812"/>
                  </a:lnTo>
                  <a:lnTo>
                    <a:pt x="2520810" y="50800"/>
                  </a:lnTo>
                  <a:lnTo>
                    <a:pt x="2516802" y="31075"/>
                  </a:lnTo>
                  <a:lnTo>
                    <a:pt x="2505888" y="14922"/>
                  </a:lnTo>
                  <a:lnTo>
                    <a:pt x="2489735" y="4008"/>
                  </a:lnTo>
                  <a:lnTo>
                    <a:pt x="247001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71155"/>
              <a:ext cx="2520810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9193" y="1415435"/>
              <a:ext cx="2520950" cy="922019"/>
            </a:xfrm>
            <a:custGeom>
              <a:avLst/>
              <a:gdLst/>
              <a:ahLst/>
              <a:cxnLst/>
              <a:rect l="l" t="t" r="r" b="b"/>
              <a:pathLst>
                <a:path w="2520950" h="922019">
                  <a:moveTo>
                    <a:pt x="2520810" y="0"/>
                  </a:moveTo>
                  <a:lnTo>
                    <a:pt x="0" y="0"/>
                  </a:lnTo>
                  <a:lnTo>
                    <a:pt x="0" y="870703"/>
                  </a:lnTo>
                  <a:lnTo>
                    <a:pt x="4008" y="890428"/>
                  </a:lnTo>
                  <a:lnTo>
                    <a:pt x="14922" y="906581"/>
                  </a:lnTo>
                  <a:lnTo>
                    <a:pt x="31075" y="917495"/>
                  </a:lnTo>
                  <a:lnTo>
                    <a:pt x="50800" y="921504"/>
                  </a:lnTo>
                  <a:lnTo>
                    <a:pt x="2470010" y="921504"/>
                  </a:lnTo>
                  <a:lnTo>
                    <a:pt x="2489735" y="917495"/>
                  </a:lnTo>
                  <a:lnTo>
                    <a:pt x="2505888" y="906581"/>
                  </a:lnTo>
                  <a:lnTo>
                    <a:pt x="2516802" y="890428"/>
                  </a:lnTo>
                  <a:lnTo>
                    <a:pt x="2520810" y="870703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115513"/>
            <a:ext cx="2101215" cy="4400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821055">
              <a:lnSpc>
                <a:spcPct val="100000"/>
              </a:lnSpc>
              <a:spcBef>
                <a:spcPts val="525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Every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public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transaction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linked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491923"/>
            <a:ext cx="2445385" cy="8356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address.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300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citizen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prove</a:t>
            </a:r>
            <a:r>
              <a:rPr sz="9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they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voted:</a:t>
            </a:r>
            <a:r>
              <a:rPr sz="9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buying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coercion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become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possible.</a:t>
            </a:r>
            <a:endParaRPr sz="900">
              <a:latin typeface="Calibri"/>
              <a:cs typeface="Calibri"/>
            </a:endParaRPr>
          </a:p>
          <a:p>
            <a:pPr marL="12700" marR="95250">
              <a:lnSpc>
                <a:spcPct val="101499"/>
              </a:lnSpc>
              <a:spcBef>
                <a:spcPts val="29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small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community,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address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3F3F3F"/>
                </a:solidFill>
                <a:latin typeface="Times New Roman"/>
                <a:cs typeface="Times New Roman"/>
              </a:rPr>
              <a:t>↔</a:t>
            </a:r>
            <a:r>
              <a:rPr sz="900" i="1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person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easy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link.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30016" y="1190002"/>
            <a:ext cx="2520950" cy="1160145"/>
            <a:chOff x="2930016" y="1190002"/>
            <a:chExt cx="2520950" cy="1160145"/>
          </a:xfrm>
        </p:grpSpPr>
        <p:sp>
          <p:nvSpPr>
            <p:cNvPr id="10" name="object 10"/>
            <p:cNvSpPr/>
            <p:nvPr/>
          </p:nvSpPr>
          <p:spPr>
            <a:xfrm>
              <a:off x="2930016" y="1190002"/>
              <a:ext cx="2520950" cy="189230"/>
            </a:xfrm>
            <a:custGeom>
              <a:avLst/>
              <a:gdLst/>
              <a:ahLst/>
              <a:cxnLst/>
              <a:rect l="l" t="t" r="r" b="b"/>
              <a:pathLst>
                <a:path w="2520950" h="189230">
                  <a:moveTo>
                    <a:pt x="247001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9142"/>
                  </a:lnTo>
                  <a:lnTo>
                    <a:pt x="2520810" y="189142"/>
                  </a:lnTo>
                  <a:lnTo>
                    <a:pt x="2520810" y="50800"/>
                  </a:lnTo>
                  <a:lnTo>
                    <a:pt x="2516802" y="31075"/>
                  </a:lnTo>
                  <a:lnTo>
                    <a:pt x="2505888" y="14922"/>
                  </a:lnTo>
                  <a:lnTo>
                    <a:pt x="2489735" y="4008"/>
                  </a:lnTo>
                  <a:lnTo>
                    <a:pt x="247001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66494"/>
              <a:ext cx="2520810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930016" y="1410765"/>
              <a:ext cx="2520950" cy="939165"/>
            </a:xfrm>
            <a:custGeom>
              <a:avLst/>
              <a:gdLst/>
              <a:ahLst/>
              <a:cxnLst/>
              <a:rect l="l" t="t" r="r" b="b"/>
              <a:pathLst>
                <a:path w="2520950" h="939164">
                  <a:moveTo>
                    <a:pt x="2520810" y="0"/>
                  </a:moveTo>
                  <a:lnTo>
                    <a:pt x="0" y="0"/>
                  </a:lnTo>
                  <a:lnTo>
                    <a:pt x="0" y="888163"/>
                  </a:lnTo>
                  <a:lnTo>
                    <a:pt x="4008" y="907887"/>
                  </a:lnTo>
                  <a:lnTo>
                    <a:pt x="14922" y="924040"/>
                  </a:lnTo>
                  <a:lnTo>
                    <a:pt x="31075" y="934955"/>
                  </a:lnTo>
                  <a:lnTo>
                    <a:pt x="50800" y="938963"/>
                  </a:lnTo>
                  <a:lnTo>
                    <a:pt x="2470010" y="938963"/>
                  </a:lnTo>
                  <a:lnTo>
                    <a:pt x="2489735" y="934955"/>
                  </a:lnTo>
                  <a:lnTo>
                    <a:pt x="2505888" y="924040"/>
                  </a:lnTo>
                  <a:lnTo>
                    <a:pt x="2516802" y="907887"/>
                  </a:lnTo>
                  <a:lnTo>
                    <a:pt x="2520810" y="888163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68117" y="1122261"/>
            <a:ext cx="2417445" cy="4286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7305" algn="ctr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Direction: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MACI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Encryption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zk-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SNARKs:</a:t>
            </a:r>
            <a:r>
              <a:rPr sz="90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votes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stay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private,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tally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8117" y="1487275"/>
            <a:ext cx="2412365" cy="8356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publicly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provable.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29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voter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cannot</a:t>
            </a:r>
            <a:r>
              <a:rPr sz="9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prove</a:t>
            </a:r>
            <a:r>
              <a:rPr sz="9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their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vote,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removing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basis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bribe.</a:t>
            </a:r>
            <a:endParaRPr sz="900">
              <a:latin typeface="Calibri"/>
              <a:cs typeface="Calibri"/>
            </a:endParaRPr>
          </a:p>
          <a:p>
            <a:pPr marL="12700" marR="327660">
              <a:lnSpc>
                <a:spcPct val="101499"/>
              </a:lnSpc>
              <a:spcBef>
                <a:spcPts val="300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Open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issue:</a:t>
            </a:r>
            <a:r>
              <a:rPr sz="9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coordinator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must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9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Municipality.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5379088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Organizational</a:t>
            </a:r>
            <a:r>
              <a:rPr spc="45" dirty="0"/>
              <a:t> </a:t>
            </a:r>
            <a:r>
              <a:rPr spc="-10" dirty="0"/>
              <a:t>bodies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pc="-10" dirty="0"/>
              <a:t>sovereign</a:t>
            </a:r>
            <a:r>
              <a:rPr spc="-15" dirty="0"/>
              <a:t> </a:t>
            </a:r>
            <a:r>
              <a:rPr dirty="0"/>
              <a:t>body;</a:t>
            </a:r>
            <a:r>
              <a:rPr spc="-15" dirty="0"/>
              <a:t> </a:t>
            </a:r>
            <a:r>
              <a:rPr spc="-10" dirty="0"/>
              <a:t>propose,</a:t>
            </a:r>
            <a:r>
              <a:rPr spc="-15" dirty="0"/>
              <a:t> </a:t>
            </a:r>
            <a:r>
              <a:rPr dirty="0"/>
              <a:t>vote,</a:t>
            </a:r>
            <a:r>
              <a:rPr spc="-15" dirty="0"/>
              <a:t> </a:t>
            </a:r>
            <a:r>
              <a:rPr spc="-10" dirty="0"/>
              <a:t>execute;</a:t>
            </a:r>
            <a:r>
              <a:rPr spc="-15" dirty="0"/>
              <a:t> 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person</a:t>
            </a:r>
            <a:r>
              <a:rPr spc="-15" dirty="0"/>
              <a:t> </a:t>
            </a:r>
            <a:r>
              <a:rPr dirty="0"/>
              <a:t>one</a:t>
            </a:r>
            <a:r>
              <a:rPr spc="-10" dirty="0"/>
              <a:t> </a:t>
            </a:r>
            <a:r>
              <a:rPr spc="-20" dirty="0"/>
              <a:t>vote</a:t>
            </a:r>
          </a:p>
          <a:p>
            <a:pPr marL="12700" marR="86360">
              <a:lnSpc>
                <a:spcPts val="950"/>
              </a:lnSpc>
              <a:spcBef>
                <a:spcPts val="310"/>
              </a:spcBef>
            </a:pPr>
            <a:r>
              <a:rPr i="1" dirty="0">
                <a:latin typeface="Calibri"/>
                <a:cs typeface="Calibri"/>
              </a:rPr>
              <a:t>not</a:t>
            </a:r>
            <a:r>
              <a:rPr i="1" spc="-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</a:t>
            </a:r>
            <a:r>
              <a:rPr i="1" spc="-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member</a:t>
            </a:r>
            <a:r>
              <a:rPr dirty="0"/>
              <a:t>:</a:t>
            </a:r>
            <a:r>
              <a:rPr spc="55" dirty="0"/>
              <a:t> </a:t>
            </a:r>
            <a:r>
              <a:rPr spc="-10" dirty="0"/>
              <a:t>onboarding,</a:t>
            </a:r>
            <a:r>
              <a:rPr spc="-5" dirty="0"/>
              <a:t> </a:t>
            </a:r>
            <a:r>
              <a:rPr spc="-10" dirty="0"/>
              <a:t>participatory</a:t>
            </a:r>
            <a:r>
              <a:rPr spc="5" dirty="0"/>
              <a:t> </a:t>
            </a:r>
            <a:r>
              <a:rPr spc="-10" dirty="0"/>
              <a:t>budgeting,</a:t>
            </a:r>
            <a:r>
              <a:rPr spc="-5" dirty="0"/>
              <a:t> </a:t>
            </a:r>
            <a:r>
              <a:rPr spc="-10" dirty="0"/>
              <a:t>compliance</a:t>
            </a:r>
            <a:r>
              <a:rPr spc="-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collaboration</a:t>
            </a:r>
            <a:r>
              <a:rPr spc="500" dirty="0"/>
              <a:t> </a:t>
            </a:r>
            <a:r>
              <a:rPr spc="-10" dirty="0"/>
              <a:t>agreement</a:t>
            </a:r>
          </a:p>
          <a:p>
            <a:pPr marL="12700" marR="5080">
              <a:lnSpc>
                <a:spcPts val="1230"/>
              </a:lnSpc>
              <a:spcBef>
                <a:spcPts val="55"/>
              </a:spcBef>
            </a:pPr>
            <a:r>
              <a:rPr spc="-10" dirty="0"/>
              <a:t>members through</a:t>
            </a:r>
            <a:r>
              <a:rPr spc="-5" dirty="0"/>
              <a:t> </a:t>
            </a:r>
            <a:r>
              <a:rPr dirty="0"/>
              <a:t>a yearly</a:t>
            </a:r>
            <a:r>
              <a:rPr spc="-5" dirty="0"/>
              <a:t> </a:t>
            </a:r>
            <a:r>
              <a:rPr spc="-10" dirty="0"/>
              <a:t>token;</a:t>
            </a:r>
            <a:r>
              <a:rPr spc="-5" dirty="0"/>
              <a:t> </a:t>
            </a:r>
            <a:r>
              <a:rPr spc="-10" dirty="0"/>
              <a:t>access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credit</a:t>
            </a:r>
            <a:r>
              <a:rPr spc="-5" dirty="0"/>
              <a:t> </a:t>
            </a:r>
            <a:r>
              <a:rPr spc="-10" dirty="0"/>
              <a:t>circuit; </a:t>
            </a:r>
            <a:r>
              <a:rPr b="1" dirty="0">
                <a:latin typeface="Calibri"/>
                <a:cs typeface="Calibri"/>
              </a:rPr>
              <a:t>no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vote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spc="-10" dirty="0"/>
              <a:t>(conflict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interest)</a:t>
            </a:r>
            <a:r>
              <a:rPr spc="500" dirty="0"/>
              <a:t> </a:t>
            </a:r>
            <a:r>
              <a:rPr spc="-10" dirty="0"/>
              <a:t>temporary;</a:t>
            </a:r>
            <a:r>
              <a:rPr spc="-15" dirty="0"/>
              <a:t> </a:t>
            </a:r>
            <a:r>
              <a:rPr dirty="0"/>
              <a:t>give</a:t>
            </a:r>
            <a:r>
              <a:rPr spc="-15" dirty="0"/>
              <a:t> </a:t>
            </a:r>
            <a:r>
              <a:rPr spc="-10" dirty="0"/>
              <a:t>consent</a:t>
            </a:r>
            <a:r>
              <a:rPr spc="-15" dirty="0"/>
              <a:t> </a:t>
            </a:r>
            <a:r>
              <a:rPr spc="-10" dirty="0"/>
              <a:t>before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vote;</a:t>
            </a:r>
            <a:r>
              <a:rPr spc="-15" dirty="0"/>
              <a:t> </a:t>
            </a:r>
            <a:r>
              <a:rPr spc="-10" dirty="0"/>
              <a:t>rewarded</a:t>
            </a:r>
            <a:r>
              <a:rPr spc="-15" dirty="0"/>
              <a:t> </a:t>
            </a:r>
            <a:r>
              <a:rPr spc="-10" dirty="0"/>
              <a:t>after</a:t>
            </a:r>
            <a:r>
              <a:rPr spc="-15" dirty="0"/>
              <a:t> </a:t>
            </a:r>
            <a:r>
              <a:rPr spc="-10" dirty="0"/>
              <a:t>verification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10" dirty="0"/>
              <a:t>high-reputation</a:t>
            </a:r>
            <a:r>
              <a:rPr spc="5" dirty="0"/>
              <a:t> </a:t>
            </a:r>
            <a:r>
              <a:rPr spc="-10" dirty="0"/>
              <a:t>citizens;</a:t>
            </a:r>
            <a:r>
              <a:rPr spc="10" dirty="0"/>
              <a:t> </a:t>
            </a:r>
            <a:r>
              <a:rPr spc="-10" dirty="0"/>
              <a:t>resolves</a:t>
            </a:r>
            <a:r>
              <a:rPr spc="5" dirty="0"/>
              <a:t> </a:t>
            </a:r>
            <a:r>
              <a:rPr spc="-10" dirty="0"/>
              <a:t>challenges</a:t>
            </a:r>
            <a:r>
              <a:rPr spc="10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private</a:t>
            </a:r>
            <a:r>
              <a:rPr spc="5" dirty="0"/>
              <a:t> </a:t>
            </a:r>
            <a:r>
              <a:rPr spc="-20" dirty="0"/>
              <a:t>flow</a:t>
            </a:r>
          </a:p>
          <a:p>
            <a:pPr marL="12700" marR="854075">
              <a:lnSpc>
                <a:spcPct val="128200"/>
              </a:lnSpc>
            </a:pPr>
            <a:r>
              <a:rPr dirty="0"/>
              <a:t>ETS with </a:t>
            </a:r>
            <a:r>
              <a:rPr spc="-10" dirty="0"/>
              <a:t>legal</a:t>
            </a:r>
            <a:r>
              <a:rPr spc="5" dirty="0"/>
              <a:t> </a:t>
            </a:r>
            <a:r>
              <a:rPr spc="-10" dirty="0"/>
              <a:t>personality;</a:t>
            </a:r>
            <a:r>
              <a:rPr dirty="0"/>
              <a:t> </a:t>
            </a:r>
            <a:r>
              <a:rPr spc="-10" dirty="0"/>
              <a:t>executes</a:t>
            </a:r>
            <a:r>
              <a:rPr spc="5" dirty="0"/>
              <a:t> </a:t>
            </a:r>
            <a:r>
              <a:rPr spc="-10" dirty="0"/>
              <a:t>decisions,</a:t>
            </a:r>
            <a:r>
              <a:rPr dirty="0"/>
              <a:t> no </a:t>
            </a:r>
            <a:r>
              <a:rPr spc="-10" dirty="0"/>
              <a:t>deliberative</a:t>
            </a:r>
            <a:r>
              <a:rPr spc="5" dirty="0"/>
              <a:t> </a:t>
            </a:r>
            <a:r>
              <a:rPr spc="-20" dirty="0"/>
              <a:t>power</a:t>
            </a:r>
            <a:r>
              <a:rPr spc="500" dirty="0"/>
              <a:t> </a:t>
            </a:r>
            <a:r>
              <a:rPr spc="-10" dirty="0"/>
              <a:t>protective</a:t>
            </a:r>
            <a:r>
              <a:rPr dirty="0"/>
              <a:t> only; multisig </a:t>
            </a:r>
            <a:r>
              <a:rPr spc="-10" dirty="0"/>
              <a:t>freeze,</a:t>
            </a:r>
            <a:r>
              <a:rPr dirty="0"/>
              <a:t> </a:t>
            </a:r>
            <a:r>
              <a:rPr spc="-20" dirty="0"/>
              <a:t>time-</a:t>
            </a:r>
            <a:r>
              <a:rPr spc="-10" dirty="0"/>
              <a:t>bounded</a:t>
            </a: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pc="-10" dirty="0"/>
              <a:t>4-</a:t>
            </a:r>
            <a:r>
              <a:rPr spc="-25" dirty="0"/>
              <a:t>of-</a:t>
            </a:r>
            <a:r>
              <a:rPr dirty="0"/>
              <a:t>7</a:t>
            </a:r>
            <a:r>
              <a:rPr spc="-5" dirty="0"/>
              <a:t> </a:t>
            </a:r>
            <a:r>
              <a:rPr dirty="0"/>
              <a:t>multisig, </a:t>
            </a:r>
            <a:r>
              <a:rPr spc="-10" dirty="0"/>
              <a:t>selected</a:t>
            </a:r>
            <a:r>
              <a:rPr dirty="0"/>
              <a:t> from </a:t>
            </a:r>
            <a:r>
              <a:rPr spc="-10" dirty="0"/>
              <a:t>high-reputation</a:t>
            </a:r>
            <a:r>
              <a:rPr dirty="0"/>
              <a:t> </a:t>
            </a:r>
            <a:r>
              <a:rPr spc="-10" dirty="0"/>
              <a:t>citizens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6/10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880236"/>
            <a:ext cx="4975860" cy="0"/>
          </a:xfrm>
          <a:custGeom>
            <a:avLst/>
            <a:gdLst/>
            <a:ahLst/>
            <a:cxnLst/>
            <a:rect l="l" t="t" r="r" b="b"/>
            <a:pathLst>
              <a:path w="4975860">
                <a:moveTo>
                  <a:pt x="0" y="0"/>
                </a:moveTo>
                <a:lnTo>
                  <a:pt x="4975834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24241"/>
            <a:ext cx="239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3F3F3F"/>
                </a:solidFill>
                <a:latin typeface="Calibri"/>
                <a:cs typeface="Calibri"/>
              </a:rPr>
              <a:t>Body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9130" y="924241"/>
            <a:ext cx="210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3F3F3F"/>
                </a:solidFill>
                <a:latin typeface="Calibri"/>
                <a:cs typeface="Calibri"/>
              </a:rPr>
              <a:t>Role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994" y="1114958"/>
            <a:ext cx="4975860" cy="0"/>
          </a:xfrm>
          <a:custGeom>
            <a:avLst/>
            <a:gdLst/>
            <a:ahLst/>
            <a:cxnLst/>
            <a:rect l="l" t="t" r="r" b="b"/>
            <a:pathLst>
              <a:path w="4975860">
                <a:moveTo>
                  <a:pt x="0" y="0"/>
                </a:moveTo>
                <a:lnTo>
                  <a:pt x="4975834" y="0"/>
                </a:lnTo>
              </a:path>
            </a:pathLst>
          </a:custGeom>
          <a:ln w="692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1122095"/>
            <a:ext cx="855344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100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Citizens’</a:t>
            </a:r>
            <a:r>
              <a:rPr sz="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community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Municipality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1554810"/>
            <a:ext cx="730250" cy="963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100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Local</a:t>
            </a:r>
            <a:r>
              <a:rPr sz="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businesses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Project</a:t>
            </a:r>
            <a:r>
              <a:rPr sz="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teams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Jury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drawn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lot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Legal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interface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Security</a:t>
            </a:r>
            <a:r>
              <a:rPr sz="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council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Treasury signers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994" y="2563710"/>
            <a:ext cx="4975860" cy="0"/>
          </a:xfrm>
          <a:custGeom>
            <a:avLst/>
            <a:gdLst/>
            <a:ahLst/>
            <a:cxnLst/>
            <a:rect l="l" t="t" r="r" b="b"/>
            <a:pathLst>
              <a:path w="4975860">
                <a:moveTo>
                  <a:pt x="0" y="0"/>
                </a:moveTo>
                <a:lnTo>
                  <a:pt x="4975834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497570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pc="-10" dirty="0"/>
              <a:t>Parameters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1E065F3-26EC-C702-366E-7AD0FF54A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7/10</a:t>
            </a:r>
          </a:p>
        </p:txBody>
      </p:sp>
      <p:sp>
        <p:nvSpPr>
          <p:cNvPr id="3" name="object 3"/>
          <p:cNvSpPr/>
          <p:nvPr/>
        </p:nvSpPr>
        <p:spPr>
          <a:xfrm>
            <a:off x="385749" y="905878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0" y="0"/>
                </a:moveTo>
                <a:lnTo>
                  <a:pt x="2417445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3049" y="954501"/>
            <a:ext cx="5194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Parameter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772" y="954514"/>
            <a:ext cx="288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5749" y="1165288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0" y="0"/>
                </a:moveTo>
                <a:lnTo>
                  <a:pt x="2417445" y="0"/>
                </a:lnTo>
              </a:path>
            </a:pathLst>
          </a:custGeom>
          <a:ln w="692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3049" y="1167540"/>
            <a:ext cx="1032510" cy="129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75">
              <a:lnSpc>
                <a:spcPct val="131900"/>
              </a:lnSpc>
              <a:spcBef>
                <a:spcPts val="100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Quorum</a:t>
            </a:r>
            <a:r>
              <a:rPr sz="9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(both</a:t>
            </a:r>
            <a:r>
              <a:rPr sz="9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flows)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Voting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duration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Verification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window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Execution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window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QV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credits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voter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Reputation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Business</a:t>
            </a:r>
            <a:r>
              <a:rPr sz="9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membership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282" y="1167540"/>
            <a:ext cx="1284605" cy="129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1900"/>
              </a:lnSpc>
              <a:spcBef>
                <a:spcPts val="100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10%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electorate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snapshot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7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endParaRPr sz="9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345"/>
              </a:spcBef>
            </a:pP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+120,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1/day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365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5749" y="2510281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0" y="0"/>
                </a:moveTo>
                <a:lnTo>
                  <a:pt x="2417445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70415" y="1230713"/>
            <a:ext cx="2132965" cy="10356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36525" marR="5080" indent="-124460">
              <a:lnSpc>
                <a:spcPct val="101499"/>
              </a:lnSpc>
              <a:spcBef>
                <a:spcPts val="80"/>
              </a:spcBef>
              <a:buClr>
                <a:srgbClr val="003576"/>
              </a:buClr>
              <a:buChar char="•"/>
              <a:tabLst>
                <a:tab pos="138430" algn="l"/>
              </a:tabLst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Chosen</a:t>
            </a:r>
            <a:r>
              <a:rPr sz="9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theoretically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90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 be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calibrated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real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pilot</a:t>
            </a:r>
            <a:endParaRPr sz="900">
              <a:latin typeface="Calibri"/>
              <a:cs typeface="Calibri"/>
            </a:endParaRPr>
          </a:p>
          <a:p>
            <a:pPr marL="136525" marR="74930" indent="-124460">
              <a:lnSpc>
                <a:spcPct val="101499"/>
              </a:lnSpc>
              <a:spcBef>
                <a:spcPts val="695"/>
              </a:spcBef>
              <a:buClr>
                <a:srgbClr val="003576"/>
              </a:buClr>
              <a:buChar char="•"/>
              <a:tabLst>
                <a:tab pos="13843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Quorum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set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conservatively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low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launch,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review clause</a:t>
            </a:r>
            <a:endParaRPr sz="900">
              <a:latin typeface="Calibri"/>
              <a:cs typeface="Calibri"/>
            </a:endParaRPr>
          </a:p>
          <a:p>
            <a:pPr marL="136525" marR="307340" indent="-124460">
              <a:lnSpc>
                <a:spcPct val="101499"/>
              </a:lnSpc>
              <a:spcBef>
                <a:spcPts val="700"/>
              </a:spcBef>
              <a:buClr>
                <a:srgbClr val="003576"/>
              </a:buClr>
              <a:buChar char="•"/>
              <a:tabLst>
                <a:tab pos="138430" algn="l"/>
              </a:tabLst>
            </a:pP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Future:</a:t>
            </a:r>
            <a:r>
              <a:rPr sz="9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via</a:t>
            </a:r>
            <a:r>
              <a:rPr sz="9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community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proposal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timelock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380622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Onboarding:</a:t>
            </a:r>
            <a:r>
              <a:rPr spc="185" dirty="0"/>
              <a:t> </a:t>
            </a:r>
            <a:r>
              <a:rPr dirty="0"/>
              <a:t>one</a:t>
            </a:r>
            <a:r>
              <a:rPr spc="60" dirty="0"/>
              <a:t> </a:t>
            </a:r>
            <a:r>
              <a:rPr dirty="0"/>
              <a:t>resident,</a:t>
            </a:r>
            <a:r>
              <a:rPr spc="60" dirty="0"/>
              <a:t> </a:t>
            </a:r>
            <a:r>
              <a:rPr dirty="0"/>
              <a:t>one</a:t>
            </a:r>
            <a:r>
              <a:rPr spc="60" dirty="0"/>
              <a:t> </a:t>
            </a:r>
            <a:r>
              <a:rPr spc="-20" dirty="0"/>
              <a:t>token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4 Implementation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13CFF9D-F707-5FDD-BDF3-C44646D74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0" dirty="0"/>
              <a:t>8/10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6957" y="783631"/>
            <a:ext cx="1112520" cy="460375"/>
            <a:chOff x="406957" y="783631"/>
            <a:chExt cx="1112520" cy="460375"/>
          </a:xfrm>
        </p:grpSpPr>
        <p:sp>
          <p:nvSpPr>
            <p:cNvPr id="4" name="object 4"/>
            <p:cNvSpPr/>
            <p:nvPr/>
          </p:nvSpPr>
          <p:spPr>
            <a:xfrm>
              <a:off x="412037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5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5" y="450005"/>
                  </a:lnTo>
                  <a:lnTo>
                    <a:pt x="1086475" y="448016"/>
                  </a:lnTo>
                  <a:lnTo>
                    <a:pt x="1094519" y="442593"/>
                  </a:lnTo>
                  <a:lnTo>
                    <a:pt x="1099942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2" y="15455"/>
                  </a:lnTo>
                  <a:lnTo>
                    <a:pt x="1094519" y="7411"/>
                  </a:lnTo>
                  <a:lnTo>
                    <a:pt x="1086475" y="1988"/>
                  </a:lnTo>
                  <a:lnTo>
                    <a:pt x="1076625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2037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5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5" y="450005"/>
                  </a:lnTo>
                  <a:lnTo>
                    <a:pt x="1086475" y="448016"/>
                  </a:lnTo>
                  <a:lnTo>
                    <a:pt x="1094519" y="442593"/>
                  </a:lnTo>
                  <a:lnTo>
                    <a:pt x="1099942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2" y="15455"/>
                  </a:lnTo>
                  <a:lnTo>
                    <a:pt x="1094519" y="7411"/>
                  </a:lnTo>
                  <a:lnTo>
                    <a:pt x="1086475" y="1988"/>
                  </a:lnTo>
                  <a:lnTo>
                    <a:pt x="1076625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6725" y="814754"/>
            <a:ext cx="99314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945" marR="5080" indent="-558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1.</a:t>
            </a:r>
            <a:r>
              <a:rPr sz="800" b="1" spc="1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Proof</a:t>
            </a:r>
            <a:r>
              <a:rPr sz="800" b="1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800" b="1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possession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wallet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signs</a:t>
            </a:r>
            <a:r>
              <a:rPr sz="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nonce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50" dirty="0">
                <a:solidFill>
                  <a:srgbClr val="3F3F3F"/>
                </a:solidFill>
                <a:latin typeface="Cambria"/>
                <a:cs typeface="Cambria"/>
              </a:rPr>
              <a:t>ecrecover</a:t>
            </a:r>
            <a:r>
              <a:rPr sz="800" spc="10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check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84974" y="783631"/>
            <a:ext cx="1112520" cy="460375"/>
            <a:chOff x="1684974" y="783631"/>
            <a:chExt cx="1112520" cy="460375"/>
          </a:xfrm>
        </p:grpSpPr>
        <p:sp>
          <p:nvSpPr>
            <p:cNvPr id="8" name="object 8"/>
            <p:cNvSpPr/>
            <p:nvPr/>
          </p:nvSpPr>
          <p:spPr>
            <a:xfrm>
              <a:off x="1690054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6" y="450005"/>
                  </a:lnTo>
                  <a:lnTo>
                    <a:pt x="1086476" y="448016"/>
                  </a:lnTo>
                  <a:lnTo>
                    <a:pt x="1094519" y="442593"/>
                  </a:lnTo>
                  <a:lnTo>
                    <a:pt x="1099943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3" y="15455"/>
                  </a:lnTo>
                  <a:lnTo>
                    <a:pt x="1094519" y="7411"/>
                  </a:lnTo>
                  <a:lnTo>
                    <a:pt x="1086476" y="1988"/>
                  </a:lnTo>
                  <a:lnTo>
                    <a:pt x="1076626" y="0"/>
                  </a:lnTo>
                  <a:close/>
                </a:path>
              </a:pathLst>
            </a:custGeom>
            <a:solidFill>
              <a:srgbClr val="F5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0054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6" y="450005"/>
                  </a:lnTo>
                  <a:lnTo>
                    <a:pt x="1086476" y="448016"/>
                  </a:lnTo>
                  <a:lnTo>
                    <a:pt x="1094519" y="442593"/>
                  </a:lnTo>
                  <a:lnTo>
                    <a:pt x="1099943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3" y="15455"/>
                  </a:lnTo>
                  <a:lnTo>
                    <a:pt x="1094519" y="7411"/>
                  </a:lnTo>
                  <a:lnTo>
                    <a:pt x="1086476" y="1988"/>
                  </a:lnTo>
                  <a:lnTo>
                    <a:pt x="1076626" y="0"/>
                  </a:lnTo>
                  <a:close/>
                </a:path>
              </a:pathLst>
            </a:custGeom>
            <a:ln w="10122">
              <a:solidFill>
                <a:srgbClr val="C89A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0019" y="806474"/>
            <a:ext cx="102298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960" marR="5080" indent="-4889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2.</a:t>
            </a:r>
            <a:r>
              <a:rPr sz="800" b="1" spc="1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Identity</a:t>
            </a:r>
            <a:r>
              <a:rPr sz="800" b="1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&amp;</a:t>
            </a:r>
            <a:r>
              <a:rPr sz="800" b="1" spc="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residency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SPID</a:t>
            </a:r>
            <a:r>
              <a:rPr sz="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8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(SAML)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tax</a:t>
            </a:r>
            <a:r>
              <a:rPr sz="80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code</a:t>
            </a:r>
            <a:r>
              <a:rPr sz="8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3F3F3F"/>
                </a:solidFill>
                <a:latin typeface="Times New Roman"/>
                <a:cs typeface="Times New Roman"/>
              </a:rPr>
              <a:t>→</a:t>
            </a:r>
            <a:r>
              <a:rPr sz="800" i="1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Anagrafe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62991" y="783631"/>
            <a:ext cx="1112520" cy="460375"/>
            <a:chOff x="2962991" y="783631"/>
            <a:chExt cx="1112520" cy="460375"/>
          </a:xfrm>
        </p:grpSpPr>
        <p:sp>
          <p:nvSpPr>
            <p:cNvPr id="12" name="object 12"/>
            <p:cNvSpPr/>
            <p:nvPr/>
          </p:nvSpPr>
          <p:spPr>
            <a:xfrm>
              <a:off x="2968071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6" y="450005"/>
                  </a:lnTo>
                  <a:lnTo>
                    <a:pt x="1086476" y="448016"/>
                  </a:lnTo>
                  <a:lnTo>
                    <a:pt x="1094519" y="442593"/>
                  </a:lnTo>
                  <a:lnTo>
                    <a:pt x="1099943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3" y="15455"/>
                  </a:lnTo>
                  <a:lnTo>
                    <a:pt x="1094519" y="7411"/>
                  </a:lnTo>
                  <a:lnTo>
                    <a:pt x="1086476" y="1988"/>
                  </a:lnTo>
                  <a:lnTo>
                    <a:pt x="1076626" y="0"/>
                  </a:lnTo>
                  <a:close/>
                </a:path>
              </a:pathLst>
            </a:custGeom>
            <a:solidFill>
              <a:srgbClr val="F5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68071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6" y="450005"/>
                  </a:lnTo>
                  <a:lnTo>
                    <a:pt x="1086476" y="448016"/>
                  </a:lnTo>
                  <a:lnTo>
                    <a:pt x="1094519" y="442593"/>
                  </a:lnTo>
                  <a:lnTo>
                    <a:pt x="1099943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3" y="15455"/>
                  </a:lnTo>
                  <a:lnTo>
                    <a:pt x="1094519" y="7411"/>
                  </a:lnTo>
                  <a:lnTo>
                    <a:pt x="1086476" y="1988"/>
                  </a:lnTo>
                  <a:lnTo>
                    <a:pt x="1076626" y="0"/>
                  </a:lnTo>
                  <a:close/>
                </a:path>
              </a:pathLst>
            </a:custGeom>
            <a:ln w="10122">
              <a:solidFill>
                <a:srgbClr val="C89A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43618" y="806474"/>
            <a:ext cx="75184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952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3.</a:t>
            </a:r>
            <a:r>
              <a:rPr sz="800" b="1" spc="1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Authorization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HMAC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nullifier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EIP-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712</a:t>
            </a:r>
            <a:r>
              <a:rPr sz="8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signature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41002" y="783631"/>
            <a:ext cx="1112520" cy="460375"/>
            <a:chOff x="4241002" y="783631"/>
            <a:chExt cx="1112520" cy="460375"/>
          </a:xfrm>
        </p:grpSpPr>
        <p:sp>
          <p:nvSpPr>
            <p:cNvPr id="16" name="object 16"/>
            <p:cNvSpPr/>
            <p:nvPr/>
          </p:nvSpPr>
          <p:spPr>
            <a:xfrm>
              <a:off x="4246082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5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5" y="450005"/>
                  </a:lnTo>
                  <a:lnTo>
                    <a:pt x="1086476" y="448016"/>
                  </a:lnTo>
                  <a:lnTo>
                    <a:pt x="1094519" y="442593"/>
                  </a:lnTo>
                  <a:lnTo>
                    <a:pt x="1099942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2" y="15455"/>
                  </a:lnTo>
                  <a:lnTo>
                    <a:pt x="1094519" y="7411"/>
                  </a:lnTo>
                  <a:lnTo>
                    <a:pt x="1086476" y="1988"/>
                  </a:lnTo>
                  <a:lnTo>
                    <a:pt x="1076625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46082" y="788711"/>
              <a:ext cx="1102360" cy="450215"/>
            </a:xfrm>
            <a:custGeom>
              <a:avLst/>
              <a:gdLst/>
              <a:ahLst/>
              <a:cxnLst/>
              <a:rect l="l" t="t" r="r" b="b"/>
              <a:pathLst>
                <a:path w="1102360" h="450215">
                  <a:moveTo>
                    <a:pt x="1076625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24699"/>
                  </a:lnTo>
                  <a:lnTo>
                    <a:pt x="1988" y="434549"/>
                  </a:lnTo>
                  <a:lnTo>
                    <a:pt x="7411" y="442593"/>
                  </a:lnTo>
                  <a:lnTo>
                    <a:pt x="15455" y="448016"/>
                  </a:lnTo>
                  <a:lnTo>
                    <a:pt x="25305" y="450005"/>
                  </a:lnTo>
                  <a:lnTo>
                    <a:pt x="1076625" y="450005"/>
                  </a:lnTo>
                  <a:lnTo>
                    <a:pt x="1086476" y="448016"/>
                  </a:lnTo>
                  <a:lnTo>
                    <a:pt x="1094519" y="442593"/>
                  </a:lnTo>
                  <a:lnTo>
                    <a:pt x="1099942" y="434549"/>
                  </a:lnTo>
                  <a:lnTo>
                    <a:pt x="1101931" y="424699"/>
                  </a:lnTo>
                  <a:lnTo>
                    <a:pt x="1101931" y="25305"/>
                  </a:lnTo>
                  <a:lnTo>
                    <a:pt x="1099942" y="15455"/>
                  </a:lnTo>
                  <a:lnTo>
                    <a:pt x="1094519" y="7411"/>
                  </a:lnTo>
                  <a:lnTo>
                    <a:pt x="1086476" y="1988"/>
                  </a:lnTo>
                  <a:lnTo>
                    <a:pt x="1076625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08462" y="805419"/>
            <a:ext cx="97790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9207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800" b="1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mintWithAuth</a:t>
            </a:r>
            <a:r>
              <a:rPr sz="8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checks,</a:t>
            </a:r>
            <a:r>
              <a:rPr sz="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mint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soulbound</a:t>
            </a:r>
            <a:r>
              <a:rPr sz="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(ERC-5192)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19029" y="993021"/>
            <a:ext cx="2712720" cy="41910"/>
            <a:chOff x="1519029" y="993021"/>
            <a:chExt cx="2712720" cy="41910"/>
          </a:xfrm>
        </p:grpSpPr>
        <p:sp>
          <p:nvSpPr>
            <p:cNvPr id="20" name="object 20"/>
            <p:cNvSpPr/>
            <p:nvPr/>
          </p:nvSpPr>
          <p:spPr>
            <a:xfrm>
              <a:off x="1519029" y="1013713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19">
                  <a:moveTo>
                    <a:pt x="0" y="0"/>
                  </a:moveTo>
                  <a:lnTo>
                    <a:pt x="121529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29335" y="998082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29335" y="998082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7046" y="1013713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19">
                  <a:moveTo>
                    <a:pt x="0" y="0"/>
                  </a:moveTo>
                  <a:lnTo>
                    <a:pt x="121528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07352" y="998082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07352" y="998082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75063" y="1013713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523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85364" y="998082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85364" y="998082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0616" y="1450911"/>
            <a:ext cx="2771775" cy="1012825"/>
          </a:xfrm>
          <a:prstGeom prst="rect">
            <a:avLst/>
          </a:prstGeom>
          <a:solidFill>
            <a:srgbClr val="EBEBE6"/>
          </a:solidFill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690"/>
              </a:lnSpc>
            </a:pPr>
            <a:r>
              <a:rPr sz="650" spc="20" dirty="0">
                <a:solidFill>
                  <a:srgbClr val="0B6E47"/>
                </a:solidFill>
                <a:latin typeface="Cambria"/>
                <a:cs typeface="Cambria"/>
              </a:rPr>
              <a:t>//</a:t>
            </a:r>
            <a:r>
              <a:rPr sz="650" spc="270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spc="20" dirty="0">
                <a:solidFill>
                  <a:srgbClr val="0B6E47"/>
                </a:solidFill>
                <a:latin typeface="Cambria"/>
                <a:cs typeface="Cambria"/>
              </a:rPr>
              <a:t>mintWithAuth(addressTo,</a:t>
            </a:r>
            <a:r>
              <a:rPr sz="650" spc="270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spc="110" dirty="0">
                <a:solidFill>
                  <a:srgbClr val="0B6E47"/>
                </a:solidFill>
                <a:latin typeface="Cambria"/>
                <a:cs typeface="Cambria"/>
              </a:rPr>
              <a:t>nullifier,</a:t>
            </a:r>
            <a:r>
              <a:rPr sz="650" spc="275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spc="65" dirty="0">
                <a:solidFill>
                  <a:srgbClr val="0B6E47"/>
                </a:solidFill>
                <a:latin typeface="Cambria"/>
                <a:cs typeface="Cambria"/>
              </a:rPr>
              <a:t>deadline,</a:t>
            </a:r>
            <a:r>
              <a:rPr sz="650" spc="270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spc="70" dirty="0">
                <a:solidFill>
                  <a:srgbClr val="0B6E47"/>
                </a:solidFill>
                <a:latin typeface="Cambria"/>
                <a:cs typeface="Cambria"/>
              </a:rPr>
              <a:t>sig)</a:t>
            </a:r>
            <a:endParaRPr sz="650">
              <a:latin typeface="Cambria"/>
              <a:cs typeface="Cambria"/>
            </a:endParaRPr>
          </a:p>
          <a:p>
            <a:pPr marR="239395" algn="just">
              <a:lnSpc>
                <a:spcPct val="102200"/>
              </a:lnSpc>
            </a:pPr>
            <a:r>
              <a:rPr sz="650" b="1" spc="160" dirty="0">
                <a:solidFill>
                  <a:srgbClr val="003576"/>
                </a:solidFill>
                <a:latin typeface="Calibri"/>
                <a:cs typeface="Calibri"/>
              </a:rPr>
              <a:t>if</a:t>
            </a:r>
            <a:r>
              <a:rPr sz="650" b="1" spc="25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30" dirty="0">
                <a:solidFill>
                  <a:srgbClr val="3F3F3F"/>
                </a:solidFill>
                <a:latin typeface="Cambria"/>
                <a:cs typeface="Cambria"/>
              </a:rPr>
              <a:t>(block.timestamp</a:t>
            </a:r>
            <a:r>
              <a:rPr sz="650" spc="23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30" dirty="0">
                <a:solidFill>
                  <a:srgbClr val="3F3F3F"/>
                </a:solidFill>
                <a:latin typeface="Cambria"/>
                <a:cs typeface="Cambria"/>
              </a:rPr>
              <a:t>&gt;</a:t>
            </a:r>
            <a:r>
              <a:rPr sz="650" spc="24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55" dirty="0">
                <a:solidFill>
                  <a:srgbClr val="3F3F3F"/>
                </a:solidFill>
                <a:latin typeface="Cambria"/>
                <a:cs typeface="Cambria"/>
              </a:rPr>
              <a:t>deadline)</a:t>
            </a:r>
            <a:r>
              <a:rPr sz="650" spc="23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b="1" spc="70" dirty="0">
                <a:solidFill>
                  <a:srgbClr val="003576"/>
                </a:solidFill>
                <a:latin typeface="Calibri"/>
                <a:cs typeface="Calibri"/>
              </a:rPr>
              <a:t>revert</a:t>
            </a:r>
            <a:r>
              <a:rPr sz="650" b="1" spc="25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40" dirty="0">
                <a:solidFill>
                  <a:srgbClr val="3F3F3F"/>
                </a:solidFill>
                <a:latin typeface="Cambria"/>
                <a:cs typeface="Cambria"/>
              </a:rPr>
              <a:t>DeadlineExpired();</a:t>
            </a:r>
            <a:r>
              <a:rPr sz="650" spc="50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b="1" dirty="0">
                <a:solidFill>
                  <a:srgbClr val="003576"/>
                </a:solidFill>
                <a:latin typeface="Calibri"/>
                <a:cs typeface="Calibri"/>
              </a:rPr>
              <a:t>address</a:t>
            </a:r>
            <a:r>
              <a:rPr sz="650" b="1" spc="26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60" dirty="0">
                <a:solidFill>
                  <a:srgbClr val="3F3F3F"/>
                </a:solidFill>
                <a:latin typeface="Cambria"/>
                <a:cs typeface="Cambria"/>
              </a:rPr>
              <a:t>signer</a:t>
            </a:r>
            <a:r>
              <a:rPr sz="650" spc="25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dirty="0">
                <a:solidFill>
                  <a:srgbClr val="3F3F3F"/>
                </a:solidFill>
                <a:latin typeface="Cambria"/>
                <a:cs typeface="Cambria"/>
              </a:rPr>
              <a:t>=</a:t>
            </a:r>
            <a:r>
              <a:rPr sz="650" spc="25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50" dirty="0">
                <a:solidFill>
                  <a:srgbClr val="3F3F3F"/>
                </a:solidFill>
                <a:latin typeface="Cambria"/>
                <a:cs typeface="Cambria"/>
              </a:rPr>
              <a:t>ECDSA.recover(digest,</a:t>
            </a:r>
            <a:r>
              <a:rPr sz="650" spc="25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105" dirty="0">
                <a:solidFill>
                  <a:srgbClr val="3F3F3F"/>
                </a:solidFill>
                <a:latin typeface="Cambria"/>
                <a:cs typeface="Cambria"/>
              </a:rPr>
              <a:t>sig);</a:t>
            </a:r>
            <a:r>
              <a:rPr sz="650" spc="455" dirty="0">
                <a:solidFill>
                  <a:srgbClr val="3F3F3F"/>
                </a:solidFill>
                <a:latin typeface="Cambria"/>
                <a:cs typeface="Cambria"/>
              </a:rPr>
              <a:t>  </a:t>
            </a:r>
            <a:r>
              <a:rPr sz="650" dirty="0">
                <a:solidFill>
                  <a:srgbClr val="0B6E47"/>
                </a:solidFill>
                <a:latin typeface="Cambria"/>
                <a:cs typeface="Cambria"/>
              </a:rPr>
              <a:t>//</a:t>
            </a:r>
            <a:r>
              <a:rPr sz="650" spc="260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dirty="0">
                <a:solidFill>
                  <a:srgbClr val="0B6E47"/>
                </a:solidFill>
                <a:latin typeface="Cambria"/>
                <a:cs typeface="Cambria"/>
              </a:rPr>
              <a:t>EIP-</a:t>
            </a:r>
            <a:r>
              <a:rPr sz="650" spc="-25" dirty="0">
                <a:solidFill>
                  <a:srgbClr val="0B6E47"/>
                </a:solidFill>
                <a:latin typeface="Cambria"/>
                <a:cs typeface="Cambria"/>
              </a:rPr>
              <a:t>712</a:t>
            </a:r>
            <a:r>
              <a:rPr sz="650" spc="160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b="1" spc="160" dirty="0">
                <a:solidFill>
                  <a:srgbClr val="003576"/>
                </a:solidFill>
                <a:latin typeface="Calibri"/>
                <a:cs typeface="Calibri"/>
              </a:rPr>
              <a:t>if</a:t>
            </a:r>
            <a:r>
              <a:rPr sz="650" b="1" spc="37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20" dirty="0">
                <a:solidFill>
                  <a:srgbClr val="3F3F3F"/>
                </a:solidFill>
                <a:latin typeface="Cambria"/>
                <a:cs typeface="Cambria"/>
              </a:rPr>
              <a:t>(!hasRole(ISSUER_ROLE,</a:t>
            </a:r>
            <a:r>
              <a:rPr sz="650" spc="35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55" dirty="0">
                <a:solidFill>
                  <a:srgbClr val="3F3F3F"/>
                </a:solidFill>
                <a:latin typeface="Cambria"/>
                <a:cs typeface="Cambria"/>
              </a:rPr>
              <a:t>signer))</a:t>
            </a:r>
            <a:endParaRPr sz="650">
              <a:latin typeface="Cambria"/>
              <a:cs typeface="Cambria"/>
            </a:endParaRPr>
          </a:p>
          <a:p>
            <a:pPr marL="177165">
              <a:lnSpc>
                <a:spcPct val="100000"/>
              </a:lnSpc>
              <a:spcBef>
                <a:spcPts val="15"/>
              </a:spcBef>
            </a:pPr>
            <a:r>
              <a:rPr sz="650" b="1" spc="70" dirty="0">
                <a:solidFill>
                  <a:srgbClr val="003576"/>
                </a:solidFill>
                <a:latin typeface="Calibri"/>
                <a:cs typeface="Calibri"/>
              </a:rPr>
              <a:t>revert</a:t>
            </a:r>
            <a:r>
              <a:rPr sz="650" b="1" spc="2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55" dirty="0">
                <a:solidFill>
                  <a:srgbClr val="3F3F3F"/>
                </a:solidFill>
                <a:latin typeface="Cambria"/>
                <a:cs typeface="Cambria"/>
              </a:rPr>
              <a:t>InvalidIssuerSignature();</a:t>
            </a:r>
            <a:endParaRPr sz="650">
              <a:latin typeface="Cambria"/>
              <a:cs typeface="Cambria"/>
            </a:endParaRPr>
          </a:p>
          <a:p>
            <a:pPr marR="107314">
              <a:lnSpc>
                <a:spcPct val="102200"/>
              </a:lnSpc>
            </a:pPr>
            <a:r>
              <a:rPr sz="650" b="1" spc="160" dirty="0">
                <a:solidFill>
                  <a:srgbClr val="003576"/>
                </a:solidFill>
                <a:latin typeface="Calibri"/>
                <a:cs typeface="Calibri"/>
              </a:rPr>
              <a:t>if</a:t>
            </a:r>
            <a:r>
              <a:rPr sz="650" b="1" spc="23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85" dirty="0">
                <a:solidFill>
                  <a:srgbClr val="3F3F3F"/>
                </a:solidFill>
                <a:latin typeface="Cambria"/>
                <a:cs typeface="Cambria"/>
              </a:rPr>
              <a:t>(nullifierUsed[nullifier])</a:t>
            </a:r>
            <a:r>
              <a:rPr sz="650" spc="22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b="1" spc="70" dirty="0">
                <a:solidFill>
                  <a:srgbClr val="003576"/>
                </a:solidFill>
                <a:latin typeface="Calibri"/>
                <a:cs typeface="Calibri"/>
              </a:rPr>
              <a:t>revert</a:t>
            </a:r>
            <a:r>
              <a:rPr sz="650" b="1" spc="24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55" dirty="0">
                <a:solidFill>
                  <a:srgbClr val="3F3F3F"/>
                </a:solidFill>
                <a:latin typeface="Cambria"/>
                <a:cs typeface="Cambria"/>
              </a:rPr>
              <a:t>NullifierAlreadyUsed();</a:t>
            </a:r>
            <a:r>
              <a:rPr sz="650" spc="16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b="1" spc="160" dirty="0">
                <a:solidFill>
                  <a:srgbClr val="003576"/>
                </a:solidFill>
                <a:latin typeface="Calibri"/>
                <a:cs typeface="Calibri"/>
              </a:rPr>
              <a:t>if</a:t>
            </a:r>
            <a:r>
              <a:rPr sz="650" b="1" spc="26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30" dirty="0">
                <a:solidFill>
                  <a:srgbClr val="3F3F3F"/>
                </a:solidFill>
                <a:latin typeface="Cambria"/>
                <a:cs typeface="Cambria"/>
              </a:rPr>
              <a:t>(balanceOf(addressTo)</a:t>
            </a:r>
            <a:r>
              <a:rPr sz="650" spc="25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70" dirty="0">
                <a:solidFill>
                  <a:srgbClr val="3F3F3F"/>
                </a:solidFill>
                <a:latin typeface="Cambria"/>
                <a:cs typeface="Cambria"/>
              </a:rPr>
              <a:t>!=</a:t>
            </a:r>
            <a:r>
              <a:rPr sz="650" spc="25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30" dirty="0">
                <a:solidFill>
                  <a:srgbClr val="3F3F3F"/>
                </a:solidFill>
                <a:latin typeface="Cambria"/>
                <a:cs typeface="Cambria"/>
              </a:rPr>
              <a:t>0)</a:t>
            </a:r>
            <a:r>
              <a:rPr sz="650" spc="25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b="1" spc="70" dirty="0">
                <a:solidFill>
                  <a:srgbClr val="003576"/>
                </a:solidFill>
                <a:latin typeface="Calibri"/>
                <a:cs typeface="Calibri"/>
              </a:rPr>
              <a:t>revert</a:t>
            </a:r>
            <a:r>
              <a:rPr sz="650" b="1" spc="27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55" dirty="0">
                <a:solidFill>
                  <a:srgbClr val="3F3F3F"/>
                </a:solidFill>
                <a:latin typeface="Cambria"/>
                <a:cs typeface="Cambria"/>
              </a:rPr>
              <a:t>AlreadyCitizen();</a:t>
            </a:r>
            <a:r>
              <a:rPr sz="650" spc="85" dirty="0">
                <a:solidFill>
                  <a:srgbClr val="3F3F3F"/>
                </a:solidFill>
                <a:latin typeface="Cambria"/>
                <a:cs typeface="Cambria"/>
              </a:rPr>
              <a:t> nullifierUsed[nullifier]</a:t>
            </a:r>
            <a:r>
              <a:rPr sz="650" spc="229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dirty="0">
                <a:solidFill>
                  <a:srgbClr val="3F3F3F"/>
                </a:solidFill>
                <a:latin typeface="Cambria"/>
                <a:cs typeface="Cambria"/>
              </a:rPr>
              <a:t>=</a:t>
            </a:r>
            <a:r>
              <a:rPr sz="650" spc="229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65" dirty="0">
                <a:solidFill>
                  <a:srgbClr val="3F3F3F"/>
                </a:solidFill>
                <a:latin typeface="Cambria"/>
                <a:cs typeface="Cambria"/>
              </a:rPr>
              <a:t>true;</a:t>
            </a:r>
            <a:endParaRPr sz="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650" spc="30" dirty="0">
                <a:solidFill>
                  <a:srgbClr val="3F3F3F"/>
                </a:solidFill>
                <a:latin typeface="Cambria"/>
                <a:cs typeface="Cambria"/>
              </a:rPr>
              <a:t>_mint(addressTo,</a:t>
            </a:r>
            <a:r>
              <a:rPr sz="650" spc="44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650" spc="50" dirty="0">
                <a:solidFill>
                  <a:srgbClr val="3F3F3F"/>
                </a:solidFill>
                <a:latin typeface="Cambria"/>
                <a:cs typeface="Cambria"/>
              </a:rPr>
              <a:t>tokenId);</a:t>
            </a:r>
            <a:endParaRPr sz="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727200" algn="l"/>
              </a:tabLst>
            </a:pPr>
            <a:r>
              <a:rPr sz="650" b="1" dirty="0">
                <a:solidFill>
                  <a:srgbClr val="003576"/>
                </a:solidFill>
                <a:latin typeface="Calibri"/>
                <a:cs typeface="Calibri"/>
              </a:rPr>
              <a:t>emit</a:t>
            </a:r>
            <a:r>
              <a:rPr sz="650" b="1" spc="34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3F3F3F"/>
                </a:solidFill>
                <a:latin typeface="Cambria"/>
                <a:cs typeface="Cambria"/>
              </a:rPr>
              <a:t>Locked(tokenId);</a:t>
            </a:r>
            <a:r>
              <a:rPr sz="650" dirty="0">
                <a:solidFill>
                  <a:srgbClr val="3F3F3F"/>
                </a:solidFill>
                <a:latin typeface="Cambria"/>
                <a:cs typeface="Cambria"/>
              </a:rPr>
              <a:t>	</a:t>
            </a:r>
            <a:r>
              <a:rPr sz="650" dirty="0">
                <a:solidFill>
                  <a:srgbClr val="0B6E47"/>
                </a:solidFill>
                <a:latin typeface="Cambria"/>
                <a:cs typeface="Cambria"/>
              </a:rPr>
              <a:t>//</a:t>
            </a:r>
            <a:r>
              <a:rPr sz="650" spc="360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spc="-25" dirty="0">
                <a:solidFill>
                  <a:srgbClr val="0B6E47"/>
                </a:solidFill>
                <a:latin typeface="Cambria"/>
                <a:cs typeface="Cambria"/>
              </a:rPr>
              <a:t>ERC-</a:t>
            </a:r>
            <a:r>
              <a:rPr sz="650" dirty="0">
                <a:solidFill>
                  <a:srgbClr val="0B6E47"/>
                </a:solidFill>
                <a:latin typeface="Cambria"/>
                <a:cs typeface="Cambria"/>
              </a:rPr>
              <a:t>5192:</a:t>
            </a:r>
            <a:r>
              <a:rPr sz="650" spc="365" dirty="0">
                <a:solidFill>
                  <a:srgbClr val="0B6E47"/>
                </a:solidFill>
                <a:latin typeface="Cambria"/>
                <a:cs typeface="Cambria"/>
              </a:rPr>
              <a:t> </a:t>
            </a:r>
            <a:r>
              <a:rPr sz="650" spc="-10" dirty="0">
                <a:solidFill>
                  <a:srgbClr val="0B6E47"/>
                </a:solidFill>
                <a:latin typeface="Cambria"/>
                <a:cs typeface="Cambria"/>
              </a:rPr>
              <a:t>soulbound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28733" y="1420658"/>
            <a:ext cx="1717675" cy="10896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8905" marR="71120" indent="-116839">
              <a:lnSpc>
                <a:spcPts val="950"/>
              </a:lnSpc>
              <a:spcBef>
                <a:spcPts val="135"/>
              </a:spcBef>
              <a:buClr>
                <a:srgbClr val="003576"/>
              </a:buClr>
              <a:buFont typeface="Calibri"/>
              <a:buChar char="•"/>
              <a:tabLst>
                <a:tab pos="132080" algn="l"/>
              </a:tabLst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Sybil</a:t>
            </a:r>
            <a:r>
              <a:rPr sz="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resistance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one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identity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3F3F3F"/>
                </a:solidFill>
                <a:latin typeface="Times New Roman"/>
                <a:cs typeface="Times New Roman"/>
              </a:rPr>
              <a:t>→</a:t>
            </a:r>
            <a:r>
              <a:rPr sz="800" i="1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nullifier</a:t>
            </a:r>
            <a:r>
              <a:rPr sz="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3F3F3F"/>
                </a:solidFill>
                <a:latin typeface="Times New Roman"/>
                <a:cs typeface="Times New Roman"/>
              </a:rPr>
              <a:t>→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token</a:t>
            </a:r>
            <a:endParaRPr sz="800">
              <a:latin typeface="Calibri"/>
              <a:cs typeface="Calibri"/>
            </a:endParaRPr>
          </a:p>
          <a:p>
            <a:pPr marL="128905" marR="121285" indent="-116839">
              <a:lnSpc>
                <a:spcPts val="950"/>
              </a:lnSpc>
              <a:spcBef>
                <a:spcPts val="195"/>
              </a:spcBef>
              <a:buClr>
                <a:srgbClr val="003576"/>
              </a:buClr>
              <a:buFont typeface="Calibri"/>
              <a:buChar char="•"/>
              <a:tabLst>
                <a:tab pos="132080" algn="l"/>
              </a:tabLst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Anti-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replay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single-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nonce,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nullifiers,</a:t>
            </a:r>
            <a:r>
              <a:rPr sz="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deadline</a:t>
            </a:r>
            <a:endParaRPr sz="800">
              <a:latin typeface="Calibri"/>
              <a:cs typeface="Calibri"/>
            </a:endParaRPr>
          </a:p>
          <a:p>
            <a:pPr marL="128905" marR="166370" indent="-116839">
              <a:lnSpc>
                <a:spcPts val="950"/>
              </a:lnSpc>
              <a:spcBef>
                <a:spcPts val="190"/>
              </a:spcBef>
              <a:buClr>
                <a:srgbClr val="003576"/>
              </a:buClr>
              <a:buFont typeface="Calibri"/>
              <a:buChar char="•"/>
              <a:tabLst>
                <a:tab pos="132080" algn="l"/>
              </a:tabLst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Domain</a:t>
            </a:r>
            <a:r>
              <a:rPr sz="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separation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EIP-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712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binds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contract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  <a:p>
            <a:pPr marL="129539" indent="-116839">
              <a:lnSpc>
                <a:spcPct val="100000"/>
              </a:lnSpc>
              <a:spcBef>
                <a:spcPts val="150"/>
              </a:spcBef>
              <a:buClr>
                <a:srgbClr val="003576"/>
              </a:buClr>
              <a:buFont typeface="Calibri"/>
              <a:buChar char="•"/>
              <a:tabLst>
                <a:tab pos="129539" algn="l"/>
              </a:tabLst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Privacy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personal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 on-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  <a:p>
            <a:pPr marL="129539" indent="-116839">
              <a:lnSpc>
                <a:spcPct val="100000"/>
              </a:lnSpc>
              <a:spcBef>
                <a:spcPts val="190"/>
              </a:spcBef>
              <a:buClr>
                <a:srgbClr val="003576"/>
              </a:buClr>
              <a:buFont typeface="Calibri"/>
              <a:buChar char="•"/>
              <a:tabLst>
                <a:tab pos="129539" algn="l"/>
              </a:tabLst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Non-transferable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any transfer reverts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7294" y="2603746"/>
            <a:ext cx="34436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On-chain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verification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797979"/>
                </a:solidFill>
                <a:latin typeface="Calibri"/>
                <a:cs typeface="Calibri"/>
              </a:rPr>
              <a:t>fully</a:t>
            </a:r>
            <a:r>
              <a:rPr sz="6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implemented;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25" dirty="0">
                <a:solidFill>
                  <a:srgbClr val="797979"/>
                </a:solidFill>
                <a:latin typeface="Calibri"/>
                <a:cs typeface="Calibri"/>
              </a:rPr>
              <a:t>off-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chain</a:t>
            </a:r>
            <a:r>
              <a:rPr sz="600" dirty="0">
                <a:solidFill>
                  <a:srgbClr val="797979"/>
                </a:solidFill>
                <a:latin typeface="Calibri"/>
                <a:cs typeface="Calibri"/>
              </a:rPr>
              <a:t> issuance</a:t>
            </a:r>
            <a:r>
              <a:rPr sz="6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(SPID,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Anagrafe,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797979"/>
                </a:solidFill>
                <a:latin typeface="Calibri"/>
                <a:cs typeface="Calibri"/>
              </a:rPr>
              <a:t>signing</a:t>
            </a:r>
            <a:r>
              <a:rPr sz="6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key)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specified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797979"/>
                </a:solidFill>
                <a:latin typeface="Calibri"/>
                <a:cs typeface="Calibri"/>
              </a:rPr>
              <a:t>in</a:t>
            </a:r>
            <a:r>
              <a:rPr sz="6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797979"/>
                </a:solidFill>
                <a:latin typeface="Calibri"/>
                <a:cs typeface="Calibri"/>
              </a:rPr>
              <a:t>the</a:t>
            </a:r>
            <a:r>
              <a:rPr sz="6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797979"/>
                </a:solidFill>
                <a:latin typeface="Calibri"/>
                <a:cs typeface="Calibri"/>
              </a:rPr>
              <a:t>design.</a:t>
            </a:r>
            <a:endParaRPr sz="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587330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Keeping</a:t>
            </a:r>
            <a:r>
              <a:rPr spc="60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Municipality</a:t>
            </a:r>
            <a:r>
              <a:rPr spc="65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spc="-10" dirty="0"/>
              <a:t>check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1A7E58E-B5E0-1802-B852-D7709609D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0" dirty="0"/>
              <a:t>9/10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295" y="460763"/>
            <a:ext cx="86995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3576"/>
                </a:solidFill>
                <a:latin typeface="Calibri"/>
                <a:cs typeface="Calibri"/>
              </a:rPr>
              <a:t>4 Implementation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667804"/>
            <a:ext cx="1501140" cy="3556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b="1" dirty="0">
                <a:solidFill>
                  <a:srgbClr val="003576"/>
                </a:solidFill>
                <a:latin typeface="Calibri"/>
                <a:cs typeface="Calibri"/>
              </a:rPr>
              <a:t>No</a:t>
            </a:r>
            <a:r>
              <a:rPr sz="1100" b="1" spc="-3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3576"/>
                </a:solidFill>
                <a:latin typeface="Calibri"/>
                <a:cs typeface="Calibri"/>
              </a:rPr>
              <a:t>silent</a:t>
            </a:r>
            <a:r>
              <a:rPr sz="1100" b="1" spc="-3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03576"/>
                </a:solidFill>
                <a:latin typeface="Calibri"/>
                <a:cs typeface="Calibri"/>
              </a:rPr>
              <a:t>veto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Obligation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state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reasons,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codified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16" y="1051598"/>
            <a:ext cx="2570480" cy="1082040"/>
          </a:xfrm>
          <a:prstGeom prst="rect">
            <a:avLst/>
          </a:prstGeom>
          <a:solidFill>
            <a:srgbClr val="EBEBE6"/>
          </a:solidFill>
        </p:spPr>
        <p:txBody>
          <a:bodyPr vert="horz" wrap="square" lIns="0" tIns="0" rIns="0" bIns="0" rtlCol="0">
            <a:spAutoFit/>
          </a:bodyPr>
          <a:lstStyle/>
          <a:p>
            <a:pPr marR="474980" algn="r">
              <a:lnSpc>
                <a:spcPts val="815"/>
              </a:lnSpc>
            </a:pPr>
            <a:r>
              <a:rPr sz="800" b="1" spc="70" dirty="0">
                <a:solidFill>
                  <a:srgbClr val="003576"/>
                </a:solidFill>
                <a:latin typeface="Calibri"/>
                <a:cs typeface="Calibri"/>
              </a:rPr>
              <a:t>function</a:t>
            </a:r>
            <a:r>
              <a:rPr sz="800" b="1" spc="37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spc="20" dirty="0">
                <a:solidFill>
                  <a:srgbClr val="3F3F3F"/>
                </a:solidFill>
                <a:latin typeface="Cambria"/>
                <a:cs typeface="Cambria"/>
              </a:rPr>
              <a:t>recordOutcome(</a:t>
            </a:r>
            <a:r>
              <a:rPr sz="800" b="1" spc="20" dirty="0">
                <a:solidFill>
                  <a:srgbClr val="003576"/>
                </a:solidFill>
                <a:latin typeface="Calibri"/>
                <a:cs typeface="Calibri"/>
              </a:rPr>
              <a:t>uint256</a:t>
            </a:r>
            <a:r>
              <a:rPr sz="800" b="1" spc="38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spc="40" dirty="0">
                <a:solidFill>
                  <a:srgbClr val="3F3F3F"/>
                </a:solidFill>
                <a:latin typeface="Cambria"/>
                <a:cs typeface="Cambria"/>
              </a:rPr>
              <a:t>roundId,</a:t>
            </a:r>
            <a:endParaRPr sz="800">
              <a:latin typeface="Cambria"/>
              <a:cs typeface="Cambria"/>
            </a:endParaRPr>
          </a:p>
          <a:p>
            <a:pPr marR="416559" algn="r">
              <a:lnSpc>
                <a:spcPts val="944"/>
              </a:lnSpc>
            </a:pPr>
            <a:r>
              <a:rPr sz="800" b="1" spc="55" dirty="0">
                <a:solidFill>
                  <a:srgbClr val="003576"/>
                </a:solidFill>
                <a:latin typeface="Calibri"/>
                <a:cs typeface="Calibri"/>
              </a:rPr>
              <a:t>uint256</a:t>
            </a:r>
            <a:r>
              <a:rPr sz="800" b="1" spc="204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spc="65" dirty="0">
                <a:solidFill>
                  <a:srgbClr val="3F3F3F"/>
                </a:solidFill>
                <a:latin typeface="Cambria"/>
                <a:cs typeface="Cambria"/>
              </a:rPr>
              <a:t>proposalId,</a:t>
            </a:r>
            <a:r>
              <a:rPr sz="800" spc="22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Outcome</a:t>
            </a:r>
            <a:r>
              <a:rPr sz="800" spc="22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outcome,</a:t>
            </a:r>
            <a:endParaRPr sz="800">
              <a:latin typeface="Cambria"/>
              <a:cs typeface="Cambria"/>
            </a:endParaRPr>
          </a:p>
          <a:p>
            <a:pPr marL="214629">
              <a:lnSpc>
                <a:spcPts val="944"/>
              </a:lnSpc>
            </a:pPr>
            <a:r>
              <a:rPr sz="800" b="1" spc="100" dirty="0">
                <a:solidFill>
                  <a:srgbClr val="003576"/>
                </a:solidFill>
                <a:latin typeface="Calibri"/>
                <a:cs typeface="Calibri"/>
              </a:rPr>
              <a:t>string</a:t>
            </a:r>
            <a:r>
              <a:rPr sz="800" b="1" spc="24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b="1" spc="85" dirty="0">
                <a:solidFill>
                  <a:srgbClr val="003576"/>
                </a:solidFill>
                <a:latin typeface="Calibri"/>
                <a:cs typeface="Calibri"/>
              </a:rPr>
              <a:t>calldata</a:t>
            </a:r>
            <a:r>
              <a:rPr sz="800" b="1" spc="25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reasonsCid)</a:t>
            </a:r>
            <a:endParaRPr sz="800">
              <a:latin typeface="Cambria"/>
              <a:cs typeface="Cambria"/>
            </a:endParaRPr>
          </a:p>
          <a:p>
            <a:pPr marL="214629">
              <a:lnSpc>
                <a:spcPts val="944"/>
              </a:lnSpc>
            </a:pPr>
            <a:r>
              <a:rPr sz="800" b="1" spc="70" dirty="0">
                <a:solidFill>
                  <a:srgbClr val="003576"/>
                </a:solidFill>
                <a:latin typeface="Calibri"/>
                <a:cs typeface="Calibri"/>
              </a:rPr>
              <a:t>external</a:t>
            </a:r>
            <a:r>
              <a:rPr sz="800" b="1" spc="41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3576"/>
                </a:solidFill>
                <a:latin typeface="Calibri"/>
                <a:cs typeface="Calibri"/>
              </a:rPr>
              <a:t>onlyRole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(MUNICIPALITY_ROLE)</a:t>
            </a:r>
            <a:r>
              <a:rPr sz="800" spc="43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spc="55" dirty="0">
                <a:solidFill>
                  <a:srgbClr val="3F3F3F"/>
                </a:solidFill>
                <a:latin typeface="Cambria"/>
                <a:cs typeface="Cambria"/>
              </a:rPr>
              <a:t>{</a:t>
            </a:r>
            <a:endParaRPr sz="800">
              <a:latin typeface="Cambria"/>
              <a:cs typeface="Cambria"/>
            </a:endParaRPr>
          </a:p>
          <a:p>
            <a:pPr marL="107314">
              <a:lnSpc>
                <a:spcPts val="944"/>
              </a:lnSpc>
            </a:pPr>
            <a:r>
              <a:rPr sz="800" b="1" spc="190" dirty="0">
                <a:solidFill>
                  <a:srgbClr val="003576"/>
                </a:solidFill>
                <a:latin typeface="Calibri"/>
                <a:cs typeface="Calibri"/>
              </a:rPr>
              <a:t>if</a:t>
            </a:r>
            <a:r>
              <a:rPr sz="800" b="1" spc="254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(outcome</a:t>
            </a:r>
            <a:r>
              <a:rPr sz="800" spc="26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==</a:t>
            </a:r>
            <a:r>
              <a:rPr sz="800" spc="27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Outcome.NotExecuted</a:t>
            </a:r>
            <a:endParaRPr sz="800">
              <a:latin typeface="Cambria"/>
              <a:cs typeface="Cambria"/>
            </a:endParaRPr>
          </a:p>
          <a:p>
            <a:pPr marL="321945">
              <a:lnSpc>
                <a:spcPts val="944"/>
              </a:lnSpc>
            </a:pPr>
            <a:r>
              <a:rPr sz="800" spc="-65" dirty="0">
                <a:solidFill>
                  <a:srgbClr val="3F3F3F"/>
                </a:solidFill>
                <a:latin typeface="Cambria"/>
                <a:cs typeface="Cambria"/>
              </a:rPr>
              <a:t>&amp;&amp;</a:t>
            </a:r>
            <a:r>
              <a:rPr sz="800" spc="18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b="1" spc="65" dirty="0">
                <a:solidFill>
                  <a:srgbClr val="003576"/>
                </a:solidFill>
                <a:latin typeface="Calibri"/>
                <a:cs typeface="Calibri"/>
              </a:rPr>
              <a:t>bytes</a:t>
            </a:r>
            <a:r>
              <a:rPr sz="800" spc="65" dirty="0">
                <a:solidFill>
                  <a:srgbClr val="3F3F3F"/>
                </a:solidFill>
                <a:latin typeface="Cambria"/>
                <a:cs typeface="Cambria"/>
              </a:rPr>
              <a:t>(reasonsCid).length</a:t>
            </a:r>
            <a:r>
              <a:rPr sz="800" spc="19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==</a:t>
            </a:r>
            <a:r>
              <a:rPr sz="800" spc="19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spc="25" dirty="0">
                <a:solidFill>
                  <a:srgbClr val="3F3F3F"/>
                </a:solidFill>
                <a:latin typeface="Cambria"/>
                <a:cs typeface="Cambria"/>
              </a:rPr>
              <a:t>0)</a:t>
            </a:r>
            <a:endParaRPr sz="800">
              <a:latin typeface="Cambria"/>
              <a:cs typeface="Cambria"/>
            </a:endParaRPr>
          </a:p>
          <a:p>
            <a:pPr marL="214629">
              <a:lnSpc>
                <a:spcPts val="944"/>
              </a:lnSpc>
            </a:pPr>
            <a:r>
              <a:rPr sz="800" b="1" spc="75" dirty="0">
                <a:solidFill>
                  <a:srgbClr val="003576"/>
                </a:solidFill>
                <a:latin typeface="Calibri"/>
                <a:cs typeface="Calibri"/>
              </a:rPr>
              <a:t>revert</a:t>
            </a:r>
            <a:r>
              <a:rPr sz="800" b="1" spc="254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ReasonsRequired();</a:t>
            </a:r>
            <a:endParaRPr sz="800">
              <a:latin typeface="Cambria"/>
              <a:cs typeface="Cambria"/>
            </a:endParaRPr>
          </a:p>
          <a:p>
            <a:pPr marL="107314">
              <a:lnSpc>
                <a:spcPts val="944"/>
              </a:lnSpc>
            </a:pPr>
            <a:r>
              <a:rPr sz="800" spc="235" dirty="0">
                <a:solidFill>
                  <a:srgbClr val="3F3F3F"/>
                </a:solidFill>
                <a:latin typeface="Cambria"/>
                <a:cs typeface="Cambria"/>
              </a:rPr>
              <a:t>...</a:t>
            </a:r>
            <a:endParaRPr sz="800">
              <a:latin typeface="Cambria"/>
              <a:cs typeface="Cambria"/>
            </a:endParaRPr>
          </a:p>
          <a:p>
            <a:pPr>
              <a:lnSpc>
                <a:spcPts val="955"/>
              </a:lnSpc>
            </a:pPr>
            <a:r>
              <a:rPr sz="800" spc="55" dirty="0">
                <a:solidFill>
                  <a:srgbClr val="3F3F3F"/>
                </a:solidFill>
                <a:latin typeface="Cambria"/>
                <a:cs typeface="Cambria"/>
              </a:rPr>
              <a:t>}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3558" y="2196625"/>
            <a:ext cx="788670" cy="262255"/>
            <a:chOff x="473558" y="2196625"/>
            <a:chExt cx="788670" cy="262255"/>
          </a:xfrm>
        </p:grpSpPr>
        <p:sp>
          <p:nvSpPr>
            <p:cNvPr id="7" name="object 7"/>
            <p:cNvSpPr/>
            <p:nvPr/>
          </p:nvSpPr>
          <p:spPr>
            <a:xfrm>
              <a:off x="478638" y="2201705"/>
              <a:ext cx="778510" cy="252095"/>
            </a:xfrm>
            <a:custGeom>
              <a:avLst/>
              <a:gdLst/>
              <a:ahLst/>
              <a:cxnLst/>
              <a:rect l="l" t="t" r="r" b="b"/>
              <a:pathLst>
                <a:path w="778510" h="252094">
                  <a:moveTo>
                    <a:pt x="752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2618" y="252002"/>
                  </a:lnTo>
                  <a:lnTo>
                    <a:pt x="762468" y="250013"/>
                  </a:lnTo>
                  <a:lnTo>
                    <a:pt x="770512" y="244590"/>
                  </a:lnTo>
                  <a:lnTo>
                    <a:pt x="775935" y="236546"/>
                  </a:lnTo>
                  <a:lnTo>
                    <a:pt x="777923" y="226696"/>
                  </a:lnTo>
                  <a:lnTo>
                    <a:pt x="777923" y="25305"/>
                  </a:lnTo>
                  <a:lnTo>
                    <a:pt x="775935" y="15455"/>
                  </a:lnTo>
                  <a:lnTo>
                    <a:pt x="770512" y="7411"/>
                  </a:lnTo>
                  <a:lnTo>
                    <a:pt x="762468" y="1988"/>
                  </a:lnTo>
                  <a:lnTo>
                    <a:pt x="752618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8638" y="2201705"/>
              <a:ext cx="778510" cy="252095"/>
            </a:xfrm>
            <a:custGeom>
              <a:avLst/>
              <a:gdLst/>
              <a:ahLst/>
              <a:cxnLst/>
              <a:rect l="l" t="t" r="r" b="b"/>
              <a:pathLst>
                <a:path w="778510" h="252094">
                  <a:moveTo>
                    <a:pt x="752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2618" y="252002"/>
                  </a:lnTo>
                  <a:lnTo>
                    <a:pt x="762468" y="250013"/>
                  </a:lnTo>
                  <a:lnTo>
                    <a:pt x="770512" y="244590"/>
                  </a:lnTo>
                  <a:lnTo>
                    <a:pt x="775935" y="236546"/>
                  </a:lnTo>
                  <a:lnTo>
                    <a:pt x="777923" y="226696"/>
                  </a:lnTo>
                  <a:lnTo>
                    <a:pt x="777923" y="25305"/>
                  </a:lnTo>
                  <a:lnTo>
                    <a:pt x="775935" y="15455"/>
                  </a:lnTo>
                  <a:lnTo>
                    <a:pt x="770512" y="7411"/>
                  </a:lnTo>
                  <a:lnTo>
                    <a:pt x="762468" y="1988"/>
                  </a:lnTo>
                  <a:lnTo>
                    <a:pt x="752618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2320" y="2221184"/>
            <a:ext cx="370840" cy="205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b="1" spc="-10" dirty="0">
                <a:solidFill>
                  <a:srgbClr val="3F3F3F"/>
                </a:solidFill>
                <a:latin typeface="Calibri"/>
                <a:cs typeface="Calibri"/>
              </a:rPr>
              <a:t>Immutable</a:t>
            </a:r>
            <a:endParaRPr sz="600">
              <a:latin typeface="Calibri"/>
              <a:cs typeface="Calibri"/>
            </a:endParaRPr>
          </a:p>
          <a:p>
            <a:pPr marL="55880">
              <a:lnSpc>
                <a:spcPts val="710"/>
              </a:lnSpc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IPFS</a:t>
            </a:r>
            <a:r>
              <a:rPr sz="6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CID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01569" y="2196625"/>
            <a:ext cx="788670" cy="262255"/>
            <a:chOff x="1301569" y="2196625"/>
            <a:chExt cx="788670" cy="262255"/>
          </a:xfrm>
        </p:grpSpPr>
        <p:sp>
          <p:nvSpPr>
            <p:cNvPr id="11" name="object 11"/>
            <p:cNvSpPr/>
            <p:nvPr/>
          </p:nvSpPr>
          <p:spPr>
            <a:xfrm>
              <a:off x="1306649" y="2201705"/>
              <a:ext cx="778510" cy="252095"/>
            </a:xfrm>
            <a:custGeom>
              <a:avLst/>
              <a:gdLst/>
              <a:ahLst/>
              <a:cxnLst/>
              <a:rect l="l" t="t" r="r" b="b"/>
              <a:pathLst>
                <a:path w="778510" h="252094">
                  <a:moveTo>
                    <a:pt x="752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2618" y="252002"/>
                  </a:lnTo>
                  <a:lnTo>
                    <a:pt x="762468" y="250013"/>
                  </a:lnTo>
                  <a:lnTo>
                    <a:pt x="770512" y="244590"/>
                  </a:lnTo>
                  <a:lnTo>
                    <a:pt x="775935" y="236546"/>
                  </a:lnTo>
                  <a:lnTo>
                    <a:pt x="777923" y="226696"/>
                  </a:lnTo>
                  <a:lnTo>
                    <a:pt x="777923" y="25305"/>
                  </a:lnTo>
                  <a:lnTo>
                    <a:pt x="775935" y="15455"/>
                  </a:lnTo>
                  <a:lnTo>
                    <a:pt x="770512" y="7411"/>
                  </a:lnTo>
                  <a:lnTo>
                    <a:pt x="762468" y="1988"/>
                  </a:lnTo>
                  <a:lnTo>
                    <a:pt x="752618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06649" y="2201705"/>
              <a:ext cx="778510" cy="252095"/>
            </a:xfrm>
            <a:custGeom>
              <a:avLst/>
              <a:gdLst/>
              <a:ahLst/>
              <a:cxnLst/>
              <a:rect l="l" t="t" r="r" b="b"/>
              <a:pathLst>
                <a:path w="778510" h="252094">
                  <a:moveTo>
                    <a:pt x="752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2618" y="252002"/>
                  </a:lnTo>
                  <a:lnTo>
                    <a:pt x="762468" y="250013"/>
                  </a:lnTo>
                  <a:lnTo>
                    <a:pt x="770512" y="244590"/>
                  </a:lnTo>
                  <a:lnTo>
                    <a:pt x="775935" y="236546"/>
                  </a:lnTo>
                  <a:lnTo>
                    <a:pt x="777923" y="226696"/>
                  </a:lnTo>
                  <a:lnTo>
                    <a:pt x="777923" y="25305"/>
                  </a:lnTo>
                  <a:lnTo>
                    <a:pt x="775935" y="15455"/>
                  </a:lnTo>
                  <a:lnTo>
                    <a:pt x="770512" y="7411"/>
                  </a:lnTo>
                  <a:lnTo>
                    <a:pt x="762468" y="1988"/>
                  </a:lnTo>
                  <a:lnTo>
                    <a:pt x="752618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40269" y="2216396"/>
            <a:ext cx="711200" cy="205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10"/>
              </a:lnSpc>
              <a:spcBef>
                <a:spcPts val="95"/>
              </a:spcBef>
            </a:pPr>
            <a:r>
              <a:rPr sz="600" b="1" spc="-10" dirty="0">
                <a:solidFill>
                  <a:srgbClr val="3F3F3F"/>
                </a:solidFill>
                <a:latin typeface="Calibri"/>
                <a:cs typeface="Calibri"/>
              </a:rPr>
              <a:t>Attributable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710"/>
              </a:lnSpc>
            </a:pPr>
            <a:r>
              <a:rPr sz="600" spc="-10" dirty="0">
                <a:solidFill>
                  <a:srgbClr val="3F3F3F"/>
                </a:solidFill>
                <a:latin typeface="Cambria"/>
                <a:cs typeface="Cambria"/>
              </a:rPr>
              <a:t>MUNICIPALITY_ROLE</a:t>
            </a:r>
            <a:endParaRPr sz="6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29600" y="2196644"/>
            <a:ext cx="788670" cy="262255"/>
            <a:chOff x="2129600" y="2196644"/>
            <a:chExt cx="788670" cy="262255"/>
          </a:xfrm>
        </p:grpSpPr>
        <p:sp>
          <p:nvSpPr>
            <p:cNvPr id="15" name="object 15"/>
            <p:cNvSpPr/>
            <p:nvPr/>
          </p:nvSpPr>
          <p:spPr>
            <a:xfrm>
              <a:off x="2134661" y="2201705"/>
              <a:ext cx="778510" cy="252095"/>
            </a:xfrm>
            <a:custGeom>
              <a:avLst/>
              <a:gdLst/>
              <a:ahLst/>
              <a:cxnLst/>
              <a:rect l="l" t="t" r="r" b="b"/>
              <a:pathLst>
                <a:path w="778510" h="252094">
                  <a:moveTo>
                    <a:pt x="752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2618" y="252002"/>
                  </a:lnTo>
                  <a:lnTo>
                    <a:pt x="762468" y="250013"/>
                  </a:lnTo>
                  <a:lnTo>
                    <a:pt x="770512" y="244590"/>
                  </a:lnTo>
                  <a:lnTo>
                    <a:pt x="775935" y="236546"/>
                  </a:lnTo>
                  <a:lnTo>
                    <a:pt x="777923" y="226696"/>
                  </a:lnTo>
                  <a:lnTo>
                    <a:pt x="777923" y="25305"/>
                  </a:lnTo>
                  <a:lnTo>
                    <a:pt x="775935" y="15455"/>
                  </a:lnTo>
                  <a:lnTo>
                    <a:pt x="770512" y="7411"/>
                  </a:lnTo>
                  <a:lnTo>
                    <a:pt x="762468" y="1988"/>
                  </a:lnTo>
                  <a:lnTo>
                    <a:pt x="752618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34661" y="2201705"/>
              <a:ext cx="778510" cy="252095"/>
            </a:xfrm>
            <a:custGeom>
              <a:avLst/>
              <a:gdLst/>
              <a:ahLst/>
              <a:cxnLst/>
              <a:rect l="l" t="t" r="r" b="b"/>
              <a:pathLst>
                <a:path w="778510" h="252094">
                  <a:moveTo>
                    <a:pt x="75261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2618" y="252002"/>
                  </a:lnTo>
                  <a:lnTo>
                    <a:pt x="762468" y="250013"/>
                  </a:lnTo>
                  <a:lnTo>
                    <a:pt x="770512" y="244590"/>
                  </a:lnTo>
                  <a:lnTo>
                    <a:pt x="775935" y="236546"/>
                  </a:lnTo>
                  <a:lnTo>
                    <a:pt x="777923" y="226696"/>
                  </a:lnTo>
                  <a:lnTo>
                    <a:pt x="777923" y="25305"/>
                  </a:lnTo>
                  <a:lnTo>
                    <a:pt x="775935" y="15455"/>
                  </a:lnTo>
                  <a:lnTo>
                    <a:pt x="770512" y="7411"/>
                  </a:lnTo>
                  <a:lnTo>
                    <a:pt x="762468" y="1988"/>
                  </a:lnTo>
                  <a:lnTo>
                    <a:pt x="752618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95842" y="2221158"/>
            <a:ext cx="455930" cy="205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b="1" spc="-10" dirty="0">
                <a:solidFill>
                  <a:srgbClr val="3F3F3F"/>
                </a:solidFill>
                <a:latin typeface="Calibri"/>
                <a:cs typeface="Calibri"/>
              </a:rPr>
              <a:t>Timestamped</a:t>
            </a:r>
            <a:endParaRPr sz="600">
              <a:latin typeface="Calibri"/>
              <a:cs typeface="Calibri"/>
            </a:endParaRPr>
          </a:p>
          <a:p>
            <a:pPr marL="62230">
              <a:lnSpc>
                <a:spcPts val="710"/>
              </a:lnSpc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6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82391" y="1100645"/>
            <a:ext cx="2247265" cy="0"/>
          </a:xfrm>
          <a:custGeom>
            <a:avLst/>
            <a:gdLst/>
            <a:ahLst/>
            <a:cxnLst/>
            <a:rect l="l" t="t" r="r" b="b"/>
            <a:pathLst>
              <a:path w="2247265">
                <a:moveTo>
                  <a:pt x="0" y="0"/>
                </a:moveTo>
                <a:lnTo>
                  <a:pt x="2246731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169691" y="667804"/>
            <a:ext cx="1988185" cy="59880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b="1" dirty="0">
                <a:solidFill>
                  <a:srgbClr val="003576"/>
                </a:solidFill>
                <a:latin typeface="Calibri"/>
                <a:cs typeface="Calibri"/>
              </a:rPr>
              <a:t>No</a:t>
            </a:r>
            <a:r>
              <a:rPr sz="1100" b="1" spc="-2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3576"/>
                </a:solidFill>
                <a:latin typeface="Calibri"/>
                <a:cs typeface="Calibri"/>
              </a:rPr>
              <a:t>stalling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Time-based transitions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permissionless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1185545" algn="l"/>
              </a:tabLst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Function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Callable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 by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anyone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82391" y="1299311"/>
            <a:ext cx="2247265" cy="0"/>
          </a:xfrm>
          <a:custGeom>
            <a:avLst/>
            <a:gdLst/>
            <a:ahLst/>
            <a:cxnLst/>
            <a:rect l="l" t="t" r="r" b="b"/>
            <a:pathLst>
              <a:path w="2247265">
                <a:moveTo>
                  <a:pt x="0" y="0"/>
                </a:moveTo>
                <a:lnTo>
                  <a:pt x="2246731" y="0"/>
                </a:lnTo>
              </a:path>
            </a:pathLst>
          </a:custGeom>
          <a:ln w="692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69691" y="1315998"/>
            <a:ext cx="21824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5545" algn="l"/>
              </a:tabLst>
            </a:pPr>
            <a:r>
              <a:rPr sz="800" spc="-10" dirty="0">
                <a:solidFill>
                  <a:srgbClr val="3F3F3F"/>
                </a:solidFill>
                <a:latin typeface="Cambria"/>
                <a:cs typeface="Cambria"/>
              </a:rPr>
              <a:t>closeRound()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after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voting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window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69691" y="1436203"/>
            <a:ext cx="16751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5545" algn="l"/>
              </a:tabLst>
            </a:pPr>
            <a:r>
              <a:rPr sz="800" spc="55" dirty="0">
                <a:solidFill>
                  <a:srgbClr val="3F3F3F"/>
                </a:solidFill>
                <a:latin typeface="Cambria"/>
                <a:cs typeface="Cambria"/>
              </a:rPr>
              <a:t>closeVoting()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after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days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9691" y="1556396"/>
            <a:ext cx="22447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5545" algn="l"/>
              </a:tabLst>
            </a:pPr>
            <a:r>
              <a:rPr sz="800" spc="50" dirty="0">
                <a:solidFill>
                  <a:srgbClr val="3F3F3F"/>
                </a:solidFill>
                <a:latin typeface="Cambria"/>
                <a:cs typeface="Cambria"/>
              </a:rPr>
              <a:t>confirmOptimistic()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after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7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days,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challenge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69691" y="1676601"/>
            <a:ext cx="2273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5545" algn="l"/>
              </a:tabLst>
            </a:pPr>
            <a:r>
              <a:rPr sz="800" spc="65" dirty="0">
                <a:solidFill>
                  <a:srgbClr val="3F3F3F"/>
                </a:solidFill>
                <a:latin typeface="Cambria"/>
                <a:cs typeface="Cambria"/>
              </a:rPr>
              <a:t>expire()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	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after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days,</a:t>
            </a:r>
            <a:r>
              <a:rPr sz="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 evidence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82391" y="1858581"/>
            <a:ext cx="2247265" cy="0"/>
          </a:xfrm>
          <a:custGeom>
            <a:avLst/>
            <a:gdLst/>
            <a:ahLst/>
            <a:cxnLst/>
            <a:rect l="l" t="t" r="r" b="b"/>
            <a:pathLst>
              <a:path w="2247265">
                <a:moveTo>
                  <a:pt x="0" y="0"/>
                </a:moveTo>
                <a:lnTo>
                  <a:pt x="2246731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69691" y="1909799"/>
            <a:ext cx="1953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advances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without</a:t>
            </a:r>
            <a:r>
              <a:rPr sz="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public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body.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9193" y="2655975"/>
            <a:ext cx="5142230" cy="222885"/>
            <a:chOff x="309193" y="2655975"/>
            <a:chExt cx="5142230" cy="222885"/>
          </a:xfrm>
        </p:grpSpPr>
        <p:sp>
          <p:nvSpPr>
            <p:cNvPr id="28" name="object 28"/>
            <p:cNvSpPr/>
            <p:nvPr/>
          </p:nvSpPr>
          <p:spPr>
            <a:xfrm>
              <a:off x="309193" y="2655975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66" y="8238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9193" y="2700393"/>
              <a:ext cx="5142230" cy="178435"/>
            </a:xfrm>
            <a:custGeom>
              <a:avLst/>
              <a:gdLst/>
              <a:ahLst/>
              <a:cxnLst/>
              <a:rect l="l" t="t" r="r" b="b"/>
              <a:pathLst>
                <a:path w="5142230" h="178435">
                  <a:moveTo>
                    <a:pt x="5141666" y="0"/>
                  </a:moveTo>
                  <a:lnTo>
                    <a:pt x="0" y="0"/>
                  </a:lnTo>
                  <a:lnTo>
                    <a:pt x="0" y="127604"/>
                  </a:lnTo>
                  <a:lnTo>
                    <a:pt x="4008" y="147328"/>
                  </a:lnTo>
                  <a:lnTo>
                    <a:pt x="14922" y="163481"/>
                  </a:lnTo>
                  <a:lnTo>
                    <a:pt x="31075" y="174395"/>
                  </a:lnTo>
                  <a:lnTo>
                    <a:pt x="50800" y="178404"/>
                  </a:lnTo>
                  <a:lnTo>
                    <a:pt x="5090865" y="178404"/>
                  </a:lnTo>
                  <a:lnTo>
                    <a:pt x="5110590" y="174395"/>
                  </a:lnTo>
                  <a:lnTo>
                    <a:pt x="5126743" y="163481"/>
                  </a:lnTo>
                  <a:lnTo>
                    <a:pt x="5137657" y="147328"/>
                  </a:lnTo>
                  <a:lnTo>
                    <a:pt x="5141666" y="12760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95527" y="2675259"/>
            <a:ext cx="3169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Administrative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inaction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becomes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either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impossible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visible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204706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Answering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research</a:t>
            </a:r>
            <a:r>
              <a:rPr spc="55" dirty="0"/>
              <a:t> </a:t>
            </a:r>
            <a:r>
              <a:rPr spc="-10" dirty="0"/>
              <a:t>questions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10/10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705586"/>
            <a:ext cx="5092065" cy="0"/>
          </a:xfrm>
          <a:custGeom>
            <a:avLst/>
            <a:gdLst/>
            <a:ahLst/>
            <a:cxnLst/>
            <a:rect l="l" t="t" r="r" b="b"/>
            <a:pathLst>
              <a:path w="5092065">
                <a:moveTo>
                  <a:pt x="0" y="0"/>
                </a:moveTo>
                <a:lnTo>
                  <a:pt x="5091658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753807"/>
            <a:ext cx="640560" cy="150682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Sub-</a:t>
            </a: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question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9133" y="753807"/>
            <a:ext cx="560731" cy="150682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Mechanism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4958" y="753807"/>
            <a:ext cx="518732" cy="150682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3F3F3F"/>
                </a:solidFill>
                <a:latin typeface="Calibri"/>
                <a:cs typeface="Calibri"/>
              </a:rPr>
              <a:t>Realized</a:t>
            </a:r>
            <a:r>
              <a:rPr sz="9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994" y="946327"/>
            <a:ext cx="5092065" cy="0"/>
          </a:xfrm>
          <a:custGeom>
            <a:avLst/>
            <a:gdLst/>
            <a:ahLst/>
            <a:cxnLst/>
            <a:rect l="l" t="t" r="r" b="b"/>
            <a:pathLst>
              <a:path w="5092065">
                <a:moveTo>
                  <a:pt x="0" y="0"/>
                </a:moveTo>
                <a:lnTo>
                  <a:pt x="5091658" y="0"/>
                </a:lnTo>
              </a:path>
            </a:pathLst>
          </a:custGeom>
          <a:ln w="692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992465"/>
            <a:ext cx="1041400" cy="781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97155">
              <a:lnSpc>
                <a:spcPts val="1100"/>
              </a:lnSpc>
              <a:spcBef>
                <a:spcPts val="135"/>
              </a:spcBef>
            </a:pPr>
            <a:r>
              <a:rPr sz="900" b="1" dirty="0">
                <a:solidFill>
                  <a:srgbClr val="003576"/>
                </a:solidFill>
                <a:latin typeface="Calibri"/>
                <a:cs typeface="Calibri"/>
              </a:rPr>
              <a:t>SQ1</a:t>
            </a:r>
            <a:r>
              <a:rPr sz="900" b="1" spc="-15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Residency,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capital</a:t>
            </a:r>
            <a:endParaRPr sz="900">
              <a:latin typeface="Calibri"/>
              <a:cs typeface="Calibri"/>
            </a:endParaRPr>
          </a:p>
          <a:p>
            <a:pPr marL="12700" marR="89535">
              <a:lnSpc>
                <a:spcPts val="1100"/>
              </a:lnSpc>
              <a:spcBef>
                <a:spcPts val="1600"/>
              </a:spcBef>
            </a:pPr>
            <a:r>
              <a:rPr sz="900" b="1" dirty="0">
                <a:solidFill>
                  <a:srgbClr val="003576"/>
                </a:solidFill>
                <a:latin typeface="Calibri"/>
                <a:cs typeface="Calibri"/>
              </a:rPr>
              <a:t>SQ2</a:t>
            </a:r>
            <a:r>
              <a:rPr sz="900" b="1" spc="-10" dirty="0">
                <a:solidFill>
                  <a:srgbClr val="00357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Public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body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in,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9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veto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8720" y="992465"/>
            <a:ext cx="2413000" cy="139749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217170">
              <a:lnSpc>
                <a:spcPts val="1100"/>
              </a:lnSpc>
              <a:spcBef>
                <a:spcPts val="135"/>
              </a:spcBef>
            </a:pP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Soulbound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citizenship,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person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  <a:endParaRPr lang="it-IT" sz="900" dirty="0">
              <a:solidFill>
                <a:srgbClr val="3F3F3F"/>
              </a:solidFill>
              <a:latin typeface="Calibri"/>
              <a:cs typeface="Calibri"/>
            </a:endParaRPr>
          </a:p>
          <a:p>
            <a:pPr marL="12700" marR="217170">
              <a:lnSpc>
                <a:spcPts val="1100"/>
              </a:lnSpc>
              <a:spcBef>
                <a:spcPts val="2760"/>
              </a:spcBef>
            </a:pP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Separate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flows</a:t>
            </a:r>
            <a:r>
              <a:rPr lang="it-IT" sz="900" spc="-1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codified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obligation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 state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reasons</a:t>
            </a:r>
            <a:r>
              <a:rPr lang="it-IT" sz="900" dirty="0">
                <a:solidFill>
                  <a:srgbClr val="3F3F3F"/>
                </a:solidFill>
                <a:latin typeface="Calibri"/>
                <a:cs typeface="Calibri"/>
              </a:rPr>
              <a:t>, </a:t>
            </a:r>
            <a:r>
              <a:rPr sz="900" spc="-25" dirty="0">
                <a:solidFill>
                  <a:srgbClr val="3F3F3F"/>
                </a:solidFill>
                <a:latin typeface="Calibri"/>
                <a:cs typeface="Calibri"/>
              </a:rPr>
              <a:t>ETS</a:t>
            </a:r>
            <a:r>
              <a:rPr lang="it-IT"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900" spc="-25" dirty="0" err="1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lang="it-IT" sz="9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legal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wrapper</a:t>
            </a:r>
            <a:endParaRPr sz="900" dirty="0">
              <a:latin typeface="Calibri"/>
              <a:cs typeface="Calibri"/>
            </a:endParaRPr>
          </a:p>
          <a:p>
            <a:pPr marL="12700" marR="224154">
              <a:lnSpc>
                <a:spcPts val="1100"/>
              </a:lnSpc>
              <a:spcBef>
                <a:spcPts val="1400"/>
              </a:spcBef>
            </a:pP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Closed-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loop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credit</a:t>
            </a:r>
            <a:r>
              <a:rPr lang="it-IT" sz="900" dirty="0">
                <a:solidFill>
                  <a:srgbClr val="3F3F3F"/>
                </a:solidFill>
                <a:latin typeface="Calibri"/>
                <a:cs typeface="Calibri"/>
              </a:rPr>
              <a:t> economy,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decaying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reputation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 that</a:t>
            </a:r>
            <a:r>
              <a:rPr sz="9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never</a:t>
            </a:r>
            <a:r>
              <a:rPr lang="it-IT"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weighs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vote</a:t>
            </a:r>
            <a:r>
              <a:rPr lang="it-IT" sz="900" dirty="0">
                <a:solidFill>
                  <a:srgbClr val="3F3F3F"/>
                </a:solidFill>
                <a:latin typeface="Calibri"/>
                <a:cs typeface="Calibri"/>
              </a:rPr>
              <a:t>,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rewards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9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9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performers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9558" y="992465"/>
            <a:ext cx="1612900" cy="13932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28930">
              <a:lnSpc>
                <a:spcPts val="1100"/>
              </a:lnSpc>
              <a:spcBef>
                <a:spcPts val="135"/>
              </a:spcBef>
            </a:pPr>
            <a:r>
              <a:rPr sz="900" spc="-10" dirty="0" err="1">
                <a:solidFill>
                  <a:srgbClr val="3F3F3F"/>
                </a:solidFill>
                <a:latin typeface="Cambria"/>
                <a:cs typeface="Cambria"/>
              </a:rPr>
              <a:t>CitizenshipSBT</a:t>
            </a:r>
            <a:endParaRPr sz="900" dirty="0">
              <a:latin typeface="Cambria"/>
              <a:cs typeface="Cambria"/>
            </a:endParaRPr>
          </a:p>
          <a:p>
            <a:pPr marL="38100" marR="30480">
              <a:lnSpc>
                <a:spcPts val="1100"/>
              </a:lnSpc>
              <a:spcBef>
                <a:spcPts val="2760"/>
              </a:spcBef>
            </a:pPr>
            <a:r>
              <a:rPr sz="900" spc="40" dirty="0">
                <a:solidFill>
                  <a:srgbClr val="3F3F3F"/>
                </a:solidFill>
                <a:latin typeface="Cambria"/>
                <a:cs typeface="Cambria"/>
              </a:rPr>
              <a:t>ParticipatoryBudget</a:t>
            </a:r>
            <a:r>
              <a:rPr sz="900" spc="40" dirty="0">
                <a:solidFill>
                  <a:srgbClr val="3F3F3F"/>
                </a:solidFill>
                <a:latin typeface="Calibri"/>
                <a:cs typeface="Calibri"/>
              </a:rPr>
              <a:t>, </a:t>
            </a:r>
            <a:r>
              <a:rPr sz="900" spc="75" dirty="0" err="1">
                <a:solidFill>
                  <a:srgbClr val="3F3F3F"/>
                </a:solidFill>
                <a:latin typeface="Cambria"/>
                <a:cs typeface="Cambria"/>
              </a:rPr>
              <a:t>CivicProject</a:t>
            </a:r>
            <a:endParaRPr sz="900" baseline="27777" dirty="0">
              <a:latin typeface="Cambria"/>
              <a:cs typeface="Cambria"/>
            </a:endParaRPr>
          </a:p>
          <a:p>
            <a:pPr marL="38100" marR="250190">
              <a:lnSpc>
                <a:spcPts val="1100"/>
              </a:lnSpc>
              <a:spcBef>
                <a:spcPts val="1400"/>
              </a:spcBef>
            </a:pPr>
            <a:r>
              <a:rPr sz="900" spc="-10" dirty="0">
                <a:solidFill>
                  <a:srgbClr val="3F3F3F"/>
                </a:solidFill>
                <a:latin typeface="Cambria"/>
                <a:cs typeface="Cambria"/>
              </a:rPr>
              <a:t>CommunityCredit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9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50" dirty="0">
                <a:solidFill>
                  <a:srgbClr val="3F3F3F"/>
                </a:solidFill>
                <a:latin typeface="Cambria"/>
                <a:cs typeface="Cambria"/>
              </a:rPr>
              <a:t>ProofOfParticipation</a:t>
            </a:r>
            <a:r>
              <a:rPr sz="900" spc="50" dirty="0">
                <a:solidFill>
                  <a:srgbClr val="3F3F3F"/>
                </a:solidFill>
                <a:latin typeface="Calibri"/>
                <a:cs typeface="Calibri"/>
              </a:rPr>
              <a:t>, </a:t>
            </a:r>
            <a:r>
              <a:rPr sz="900" spc="-10" dirty="0">
                <a:solidFill>
                  <a:srgbClr val="3F3F3F"/>
                </a:solidFill>
                <a:latin typeface="Cambria"/>
                <a:cs typeface="Cambria"/>
              </a:rPr>
              <a:t>Reputation</a:t>
            </a:r>
            <a:endParaRPr sz="9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294" y="1930400"/>
            <a:ext cx="1041400" cy="2946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135"/>
              </a:spcBef>
            </a:pPr>
            <a:r>
              <a:rPr sz="900" b="1" dirty="0">
                <a:solidFill>
                  <a:srgbClr val="003576"/>
                </a:solidFill>
                <a:latin typeface="Calibri"/>
                <a:cs typeface="Calibri"/>
              </a:rPr>
              <a:t>SQ</a:t>
            </a:r>
            <a:r>
              <a:rPr lang="it-IT" sz="900" b="1" dirty="0">
                <a:solidFill>
                  <a:srgbClr val="003576"/>
                </a:solidFill>
                <a:latin typeface="Calibri"/>
                <a:cs typeface="Calibri"/>
              </a:rPr>
              <a:t>3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Sustained</a:t>
            </a:r>
            <a:r>
              <a:rPr sz="9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F3F3F"/>
                </a:solidFill>
                <a:latin typeface="Calibri"/>
                <a:cs typeface="Calibri"/>
              </a:rPr>
              <a:t>participation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9994" y="2514600"/>
            <a:ext cx="5092065" cy="0"/>
          </a:xfrm>
          <a:custGeom>
            <a:avLst/>
            <a:gdLst/>
            <a:ahLst/>
            <a:cxnLst/>
            <a:rect l="l" t="t" r="r" b="b"/>
            <a:pathLst>
              <a:path w="5092065">
                <a:moveTo>
                  <a:pt x="0" y="0"/>
                </a:moveTo>
                <a:lnTo>
                  <a:pt x="5091658" y="0"/>
                </a:lnTo>
              </a:path>
            </a:pathLst>
          </a:custGeom>
          <a:ln w="1108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7512539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 err="1"/>
              <a:t>ParticipatoryBudget: round and outcome states</a:t>
            </a:r>
            <a:endParaRPr dirty="0"/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800" name="Entry"/>
          <p:cNvSpPr/>
          <p:nvPr/>
        </p:nvSpPr>
        <p:spPr>
          <a:xfrm>
            <a:off x="311150" y="1727200"/>
            <a:ext cx="101600" cy="101600"/>
          </a:xfrm>
          <a:prstGeom prst="ellipse">
            <a:avLst/>
          </a:prstGeom>
          <a:solidFill>
            <a:srgbClr val="003576"/>
          </a:solidFill>
          <a:ln>
            <a:noFill/>
          </a:ln>
        </p:spPr>
        <p:txBody>
          <a:bodyPr/>
          <a:lstStyle/>
          <a:p>
            <a:endParaRPr lang="en-US" sz="500"/>
          </a:p>
        </p:txBody>
      </p:sp>
      <p:sp>
        <p:nvSpPr>
          <p:cNvPr id="801" name="Transition"/>
          <p:cNvSpPr/>
          <p:nvPr/>
        </p:nvSpPr>
        <p:spPr>
          <a:xfrm>
            <a:off x="469900" y="1778000"/>
            <a:ext cx="76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802" name="Label"/>
          <p:cNvSpPr/>
          <p:nvPr/>
        </p:nvSpPr>
        <p:spPr>
          <a:xfrm>
            <a:off x="19050" y="1430918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dirty="0">
                <a:solidFill>
                  <a:srgbClr val="003576"/>
                </a:solidFill>
                <a:latin typeface="Consolas"/>
                <a:cs typeface="Consolas"/>
              </a:rPr>
              <a:t>openRound()</a:t>
            </a:r>
          </a:p>
        </p:txBody>
      </p:sp>
      <p:sp>
        <p:nvSpPr>
          <p:cNvPr id="803" name="State Active"/>
          <p:cNvSpPr/>
          <p:nvPr/>
        </p:nvSpPr>
        <p:spPr>
          <a:xfrm>
            <a:off x="571500" y="1600200"/>
            <a:ext cx="787400" cy="3556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Active</a:t>
            </a:r>
          </a:p>
        </p:txBody>
      </p:sp>
      <p:sp>
        <p:nvSpPr>
          <p:cNvPr id="804" name="Transition"/>
          <p:cNvSpPr/>
          <p:nvPr/>
        </p:nvSpPr>
        <p:spPr>
          <a:xfrm>
            <a:off x="1358900" y="1778000"/>
            <a:ext cx="2667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806" name="Closed container"/>
          <p:cNvSpPr/>
          <p:nvPr/>
        </p:nvSpPr>
        <p:spPr>
          <a:xfrm>
            <a:off x="1651000" y="914400"/>
            <a:ext cx="3797300" cy="19304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003576"/>
            </a:solidFill>
          </a:ln>
        </p:spPr>
        <p:txBody>
          <a:bodyPr/>
          <a:lstStyle/>
          <a:p>
            <a:endParaRPr lang="en-US" sz="500"/>
          </a:p>
        </p:txBody>
      </p:sp>
      <p:sp>
        <p:nvSpPr>
          <p:cNvPr id="807" name="Label"/>
          <p:cNvSpPr/>
          <p:nvPr/>
        </p:nvSpPr>
        <p:spPr>
          <a:xfrm>
            <a:off x="1790700" y="1003300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1000" b="1" dirty="0">
                <a:solidFill>
                  <a:srgbClr val="003576"/>
                </a:solidFill>
                <a:latin typeface="Calibri"/>
                <a:cs typeface="Calibri"/>
              </a:rPr>
              <a:t>Closed</a:t>
            </a:r>
          </a:p>
        </p:txBody>
      </p:sp>
      <p:sp>
        <p:nvSpPr>
          <p:cNvPr id="808" name="Label"/>
          <p:cNvSpPr/>
          <p:nvPr/>
        </p:nvSpPr>
        <p:spPr>
          <a:xfrm>
            <a:off x="1790700" y="1130300"/>
            <a:ext cx="1143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Calibri"/>
                <a:cs typeface="Calibri"/>
              </a:rPr>
              <a:t>outcome per proposal</a:t>
            </a:r>
          </a:p>
        </p:txBody>
      </p:sp>
      <p:sp>
        <p:nvSpPr>
          <p:cNvPr id="809" name="Entry"/>
          <p:cNvSpPr/>
          <p:nvPr/>
        </p:nvSpPr>
        <p:spPr>
          <a:xfrm>
            <a:off x="1854200" y="1727200"/>
            <a:ext cx="88900" cy="88900"/>
          </a:xfrm>
          <a:prstGeom prst="ellipse">
            <a:avLst/>
          </a:prstGeom>
          <a:solidFill>
            <a:srgbClr val="003576"/>
          </a:solidFill>
          <a:ln>
            <a:noFill/>
          </a:ln>
        </p:spPr>
        <p:txBody>
          <a:bodyPr/>
          <a:lstStyle/>
          <a:p>
            <a:endParaRPr lang="en-US" sz="500"/>
          </a:p>
        </p:txBody>
      </p:sp>
      <p:sp>
        <p:nvSpPr>
          <p:cNvPr id="810" name="Transition"/>
          <p:cNvSpPr/>
          <p:nvPr/>
        </p:nvSpPr>
        <p:spPr>
          <a:xfrm>
            <a:off x="1955800" y="1778000"/>
            <a:ext cx="889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811" name="State Pending"/>
          <p:cNvSpPr/>
          <p:nvPr/>
        </p:nvSpPr>
        <p:spPr>
          <a:xfrm>
            <a:off x="2082800" y="1600200"/>
            <a:ext cx="787400" cy="3556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Pending</a:t>
            </a:r>
          </a:p>
        </p:txBody>
      </p:sp>
      <p:sp>
        <p:nvSpPr>
          <p:cNvPr id="812" name="State Executed"/>
          <p:cNvSpPr/>
          <p:nvPr/>
        </p:nvSpPr>
        <p:spPr>
          <a:xfrm>
            <a:off x="4318000" y="1168400"/>
            <a:ext cx="914400" cy="330200"/>
          </a:xfrm>
          <a:prstGeom prst="roundRect">
            <a:avLst>
              <a:gd name="adj" fmla="val 12000"/>
            </a:avLst>
          </a:prstGeom>
          <a:solidFill>
            <a:srgbClr val="CDFAE1"/>
          </a:solidFill>
          <a:ln w="9525">
            <a:solidFill>
              <a:srgbClr val="0E8A58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4628"/>
                </a:solidFill>
                <a:latin typeface="Calibri"/>
                <a:cs typeface="Calibri"/>
              </a:rPr>
              <a:t>Executed</a:t>
            </a:r>
          </a:p>
        </p:txBody>
      </p:sp>
      <p:sp>
        <p:nvSpPr>
          <p:cNvPr id="813" name="State NotExecuted"/>
          <p:cNvSpPr/>
          <p:nvPr/>
        </p:nvSpPr>
        <p:spPr>
          <a:xfrm>
            <a:off x="4318000" y="2032000"/>
            <a:ext cx="914400" cy="330200"/>
          </a:xfrm>
          <a:prstGeom prst="roundRect">
            <a:avLst>
              <a:gd name="adj" fmla="val 12000"/>
            </a:avLst>
          </a:prstGeom>
          <a:solidFill>
            <a:srgbClr val="F7EFD6"/>
          </a:solidFill>
          <a:ln w="9525">
            <a:solidFill>
              <a:srgbClr val="C89B14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A5E0A"/>
                </a:solidFill>
                <a:latin typeface="Calibri"/>
                <a:cs typeface="Calibri"/>
              </a:rPr>
              <a:t>NotExecuted</a:t>
            </a:r>
          </a:p>
        </p:txBody>
      </p:sp>
      <p:sp>
        <p:nvSpPr>
          <p:cNvPr id="814" name="Transition"/>
          <p:cNvSpPr/>
          <p:nvPr/>
        </p:nvSpPr>
        <p:spPr>
          <a:xfrm flipV="1">
            <a:off x="2882900" y="1371600"/>
            <a:ext cx="1409700" cy="330200"/>
          </a:xfrm>
          <a:prstGeom prst="line">
            <a:avLst/>
          </a:prstGeom>
          <a:ln w="9525" cap="rnd">
            <a:solidFill>
              <a:srgbClr val="0E8A58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815" name="Transition"/>
          <p:cNvSpPr/>
          <p:nvPr/>
        </p:nvSpPr>
        <p:spPr>
          <a:xfrm>
            <a:off x="2882900" y="1854200"/>
            <a:ext cx="1409700" cy="304800"/>
          </a:xfrm>
          <a:prstGeom prst="line">
            <a:avLst/>
          </a:prstGeom>
          <a:ln w="9525" cap="rnd">
            <a:solidFill>
              <a:srgbClr val="C89B14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816" name="Label"/>
          <p:cNvSpPr/>
          <p:nvPr/>
        </p:nvSpPr>
        <p:spPr>
          <a:xfrm>
            <a:off x="2806700" y="1219200"/>
            <a:ext cx="12827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dirty="0">
                <a:solidFill>
                  <a:srgbClr val="0E8A58"/>
                </a:solidFill>
                <a:latin typeface="Consolas"/>
                <a:cs typeface="Consolas"/>
              </a:rPr>
              <a:t>recordOutcome(Executed)</a:t>
            </a:r>
          </a:p>
        </p:txBody>
      </p:sp>
      <p:sp>
        <p:nvSpPr>
          <p:cNvPr id="817" name="Label"/>
          <p:cNvSpPr/>
          <p:nvPr/>
        </p:nvSpPr>
        <p:spPr>
          <a:xfrm>
            <a:off x="2578100" y="2221634"/>
            <a:ext cx="1587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dirty="0">
                <a:solidFill>
                  <a:srgbClr val="C89B14"/>
                </a:solidFill>
                <a:latin typeface="Consolas"/>
                <a:cs typeface="Consolas"/>
              </a:rPr>
              <a:t>recordOutcome(NotExecuted)</a:t>
            </a:r>
          </a:p>
        </p:txBody>
      </p:sp>
      <p:sp>
        <p:nvSpPr>
          <p:cNvPr id="818" name="Label"/>
          <p:cNvSpPr/>
          <p:nvPr/>
        </p:nvSpPr>
        <p:spPr>
          <a:xfrm>
            <a:off x="2946400" y="2374900"/>
            <a:ext cx="1219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700" b="1" dirty="0">
                <a:solidFill>
                  <a:srgbClr val="C89B14"/>
                </a:solidFill>
                <a:latin typeface="Calibri"/>
                <a:cs typeface="Calibri"/>
              </a:rPr>
              <a:t>requires reasonsCid</a:t>
            </a:r>
          </a:p>
        </p:txBody>
      </p:sp>
      <p:sp>
        <p:nvSpPr>
          <p:cNvPr id="805" name="Label"/>
          <p:cNvSpPr/>
          <p:nvPr/>
        </p:nvSpPr>
        <p:spPr>
          <a:xfrm>
            <a:off x="927100" y="1430918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800" dirty="0">
                <a:solidFill>
                  <a:srgbClr val="003576"/>
                </a:solidFill>
                <a:latin typeface="Consolas"/>
                <a:cs typeface="Consolas"/>
              </a:rPr>
              <a:t>closeRound()</a:t>
            </a:r>
          </a:p>
        </p:txBody>
      </p:sp>
    </p:spTree>
    <p:extLst>
      <p:ext uri="{BB962C8B-B14F-4D97-AF65-F5344CB8AC3E}">
        <p14:creationId xmlns:p14="http://schemas.microsoft.com/office/powerpoint/2010/main" val="4241889752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40684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Private</a:t>
            </a:r>
            <a:r>
              <a:rPr spc="50" dirty="0"/>
              <a:t> </a:t>
            </a:r>
            <a:r>
              <a:rPr dirty="0"/>
              <a:t>flow</a:t>
            </a:r>
            <a:br>
              <a:rPr lang="it-IT" dirty="0"/>
            </a:br>
            <a:r>
              <a:rPr sz="900" b="0" dirty="0">
                <a:latin typeface="Calibri"/>
                <a:cs typeface="Calibri"/>
              </a:rPr>
              <a:t>3 Design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27</a:t>
            </a:fld>
            <a:r>
              <a:rPr spc="-20" dirty="0"/>
              <a:t>/17</a:t>
            </a:r>
          </a:p>
        </p:txBody>
      </p:sp>
      <p:sp>
        <p:nvSpPr>
          <p:cNvPr id="3" name="object 3"/>
          <p:cNvSpPr/>
          <p:nvPr/>
        </p:nvSpPr>
        <p:spPr>
          <a:xfrm>
            <a:off x="432001" y="949848"/>
            <a:ext cx="648335" cy="288290"/>
          </a:xfrm>
          <a:custGeom>
            <a:avLst/>
            <a:gdLst/>
            <a:ahLst/>
            <a:cxnLst/>
            <a:rect l="l" t="t" r="r" b="b"/>
            <a:pathLst>
              <a:path w="648335" h="288290">
                <a:moveTo>
                  <a:pt x="622703" y="0"/>
                </a:moveTo>
                <a:lnTo>
                  <a:pt x="25305" y="0"/>
                </a:lnTo>
                <a:lnTo>
                  <a:pt x="15455" y="1988"/>
                </a:lnTo>
                <a:lnTo>
                  <a:pt x="7411" y="7411"/>
                </a:lnTo>
                <a:lnTo>
                  <a:pt x="1988" y="15455"/>
                </a:lnTo>
                <a:lnTo>
                  <a:pt x="0" y="25305"/>
                </a:lnTo>
                <a:lnTo>
                  <a:pt x="0" y="262698"/>
                </a:lnTo>
                <a:lnTo>
                  <a:pt x="1988" y="272549"/>
                </a:lnTo>
                <a:lnTo>
                  <a:pt x="7411" y="280592"/>
                </a:lnTo>
                <a:lnTo>
                  <a:pt x="15455" y="286015"/>
                </a:lnTo>
                <a:lnTo>
                  <a:pt x="25305" y="288004"/>
                </a:lnTo>
                <a:lnTo>
                  <a:pt x="622703" y="288004"/>
                </a:lnTo>
                <a:lnTo>
                  <a:pt x="632553" y="286015"/>
                </a:lnTo>
                <a:lnTo>
                  <a:pt x="640597" y="280592"/>
                </a:lnTo>
                <a:lnTo>
                  <a:pt x="646020" y="272549"/>
                </a:lnTo>
                <a:lnTo>
                  <a:pt x="648008" y="262698"/>
                </a:lnTo>
                <a:lnTo>
                  <a:pt x="648008" y="25305"/>
                </a:lnTo>
                <a:lnTo>
                  <a:pt x="646020" y="15455"/>
                </a:lnTo>
                <a:lnTo>
                  <a:pt x="640597" y="7411"/>
                </a:lnTo>
                <a:lnTo>
                  <a:pt x="632553" y="1988"/>
                </a:lnTo>
                <a:lnTo>
                  <a:pt x="622703" y="0"/>
                </a:lnTo>
                <a:close/>
              </a:path>
            </a:pathLst>
          </a:custGeom>
          <a:ln w="10122">
            <a:solidFill>
              <a:srgbClr val="003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4588" y="1007489"/>
            <a:ext cx="4235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3576"/>
                </a:solidFill>
                <a:latin typeface="Calibri"/>
                <a:cs typeface="Calibri"/>
              </a:rPr>
              <a:t>Proposed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94012" y="949848"/>
            <a:ext cx="648335" cy="288290"/>
          </a:xfrm>
          <a:custGeom>
            <a:avLst/>
            <a:gdLst/>
            <a:ahLst/>
            <a:cxnLst/>
            <a:rect l="l" t="t" r="r" b="b"/>
            <a:pathLst>
              <a:path w="648335" h="288290">
                <a:moveTo>
                  <a:pt x="622703" y="0"/>
                </a:moveTo>
                <a:lnTo>
                  <a:pt x="25305" y="0"/>
                </a:lnTo>
                <a:lnTo>
                  <a:pt x="15455" y="1988"/>
                </a:lnTo>
                <a:lnTo>
                  <a:pt x="7411" y="7411"/>
                </a:lnTo>
                <a:lnTo>
                  <a:pt x="1988" y="15455"/>
                </a:lnTo>
                <a:lnTo>
                  <a:pt x="0" y="25305"/>
                </a:lnTo>
                <a:lnTo>
                  <a:pt x="0" y="262698"/>
                </a:lnTo>
                <a:lnTo>
                  <a:pt x="1988" y="272549"/>
                </a:lnTo>
                <a:lnTo>
                  <a:pt x="7411" y="280592"/>
                </a:lnTo>
                <a:lnTo>
                  <a:pt x="15455" y="286015"/>
                </a:lnTo>
                <a:lnTo>
                  <a:pt x="25305" y="288004"/>
                </a:lnTo>
                <a:lnTo>
                  <a:pt x="622703" y="288004"/>
                </a:lnTo>
                <a:lnTo>
                  <a:pt x="632553" y="286015"/>
                </a:lnTo>
                <a:lnTo>
                  <a:pt x="640597" y="280592"/>
                </a:lnTo>
                <a:lnTo>
                  <a:pt x="646020" y="272549"/>
                </a:lnTo>
                <a:lnTo>
                  <a:pt x="648009" y="262698"/>
                </a:lnTo>
                <a:lnTo>
                  <a:pt x="648009" y="25305"/>
                </a:lnTo>
                <a:lnTo>
                  <a:pt x="646020" y="15455"/>
                </a:lnTo>
                <a:lnTo>
                  <a:pt x="640597" y="7411"/>
                </a:lnTo>
                <a:lnTo>
                  <a:pt x="632553" y="1988"/>
                </a:lnTo>
                <a:lnTo>
                  <a:pt x="622703" y="0"/>
                </a:lnTo>
                <a:close/>
              </a:path>
            </a:pathLst>
          </a:custGeom>
          <a:ln w="10122">
            <a:solidFill>
              <a:srgbClr val="003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2779" y="1006943"/>
            <a:ext cx="6305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3576"/>
                </a:solidFill>
                <a:latin typeface="Calibri"/>
                <a:cs typeface="Calibri"/>
              </a:rPr>
              <a:t>Voting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56024" y="949848"/>
            <a:ext cx="648335" cy="288290"/>
          </a:xfrm>
          <a:custGeom>
            <a:avLst/>
            <a:gdLst/>
            <a:ahLst/>
            <a:cxnLst/>
            <a:rect l="l" t="t" r="r" b="b"/>
            <a:pathLst>
              <a:path w="648335" h="288290">
                <a:moveTo>
                  <a:pt x="622703" y="0"/>
                </a:moveTo>
                <a:lnTo>
                  <a:pt x="25305" y="0"/>
                </a:lnTo>
                <a:lnTo>
                  <a:pt x="15455" y="1988"/>
                </a:lnTo>
                <a:lnTo>
                  <a:pt x="7411" y="7411"/>
                </a:lnTo>
                <a:lnTo>
                  <a:pt x="1988" y="15455"/>
                </a:lnTo>
                <a:lnTo>
                  <a:pt x="0" y="25305"/>
                </a:lnTo>
                <a:lnTo>
                  <a:pt x="0" y="262698"/>
                </a:lnTo>
                <a:lnTo>
                  <a:pt x="1988" y="272549"/>
                </a:lnTo>
                <a:lnTo>
                  <a:pt x="7411" y="280592"/>
                </a:lnTo>
                <a:lnTo>
                  <a:pt x="15455" y="286015"/>
                </a:lnTo>
                <a:lnTo>
                  <a:pt x="25305" y="288004"/>
                </a:lnTo>
                <a:lnTo>
                  <a:pt x="622703" y="288004"/>
                </a:lnTo>
                <a:lnTo>
                  <a:pt x="632553" y="286015"/>
                </a:lnTo>
                <a:lnTo>
                  <a:pt x="640597" y="280592"/>
                </a:lnTo>
                <a:lnTo>
                  <a:pt x="646020" y="272549"/>
                </a:lnTo>
                <a:lnTo>
                  <a:pt x="648009" y="262698"/>
                </a:lnTo>
                <a:lnTo>
                  <a:pt x="648009" y="25305"/>
                </a:lnTo>
                <a:lnTo>
                  <a:pt x="646020" y="15455"/>
                </a:lnTo>
                <a:lnTo>
                  <a:pt x="640597" y="7411"/>
                </a:lnTo>
                <a:lnTo>
                  <a:pt x="632553" y="1988"/>
                </a:lnTo>
                <a:lnTo>
                  <a:pt x="622703" y="0"/>
                </a:lnTo>
                <a:close/>
              </a:path>
            </a:pathLst>
          </a:custGeom>
          <a:ln w="10122">
            <a:solidFill>
              <a:srgbClr val="003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4791" y="1015071"/>
            <a:ext cx="6305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3576"/>
                </a:solidFill>
                <a:latin typeface="Calibri"/>
                <a:cs typeface="Calibri"/>
              </a:rPr>
              <a:t>Funded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18042" y="949848"/>
            <a:ext cx="648335" cy="288290"/>
          </a:xfrm>
          <a:custGeom>
            <a:avLst/>
            <a:gdLst/>
            <a:ahLst/>
            <a:cxnLst/>
            <a:rect l="l" t="t" r="r" b="b"/>
            <a:pathLst>
              <a:path w="648335" h="288290">
                <a:moveTo>
                  <a:pt x="622703" y="0"/>
                </a:moveTo>
                <a:lnTo>
                  <a:pt x="25305" y="0"/>
                </a:lnTo>
                <a:lnTo>
                  <a:pt x="15455" y="1988"/>
                </a:lnTo>
                <a:lnTo>
                  <a:pt x="7411" y="7411"/>
                </a:lnTo>
                <a:lnTo>
                  <a:pt x="1988" y="15455"/>
                </a:lnTo>
                <a:lnTo>
                  <a:pt x="0" y="25305"/>
                </a:lnTo>
                <a:lnTo>
                  <a:pt x="0" y="262698"/>
                </a:lnTo>
                <a:lnTo>
                  <a:pt x="1988" y="272549"/>
                </a:lnTo>
                <a:lnTo>
                  <a:pt x="7411" y="280592"/>
                </a:lnTo>
                <a:lnTo>
                  <a:pt x="15455" y="286015"/>
                </a:lnTo>
                <a:lnTo>
                  <a:pt x="25305" y="288004"/>
                </a:lnTo>
                <a:lnTo>
                  <a:pt x="622703" y="288004"/>
                </a:lnTo>
                <a:lnTo>
                  <a:pt x="632553" y="286015"/>
                </a:lnTo>
                <a:lnTo>
                  <a:pt x="640597" y="280592"/>
                </a:lnTo>
                <a:lnTo>
                  <a:pt x="646020" y="272549"/>
                </a:lnTo>
                <a:lnTo>
                  <a:pt x="648009" y="262698"/>
                </a:lnTo>
                <a:lnTo>
                  <a:pt x="648009" y="25305"/>
                </a:lnTo>
                <a:lnTo>
                  <a:pt x="646020" y="15455"/>
                </a:lnTo>
                <a:lnTo>
                  <a:pt x="640597" y="7411"/>
                </a:lnTo>
                <a:lnTo>
                  <a:pt x="632553" y="1988"/>
                </a:lnTo>
                <a:lnTo>
                  <a:pt x="622703" y="0"/>
                </a:lnTo>
                <a:close/>
              </a:path>
            </a:pathLst>
          </a:custGeom>
          <a:ln w="10122">
            <a:solidFill>
              <a:srgbClr val="003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26809" y="1015071"/>
            <a:ext cx="6305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3576"/>
                </a:solidFill>
                <a:latin typeface="Calibri"/>
                <a:cs typeface="Calibri"/>
              </a:rPr>
              <a:t>Submitted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74974" y="944768"/>
            <a:ext cx="658495" cy="298450"/>
            <a:chOff x="4674974" y="944768"/>
            <a:chExt cx="658495" cy="298450"/>
          </a:xfrm>
        </p:grpSpPr>
        <p:sp>
          <p:nvSpPr>
            <p:cNvPr id="12" name="object 12"/>
            <p:cNvSpPr/>
            <p:nvPr/>
          </p:nvSpPr>
          <p:spPr>
            <a:xfrm>
              <a:off x="4680054" y="949848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90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8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8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solidFill>
              <a:srgbClr val="CCFA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0054" y="949848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90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8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8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ln w="10122">
              <a:solidFill>
                <a:srgbClr val="0D8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70628" y="1015147"/>
            <a:ext cx="4673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4628"/>
                </a:solidFill>
                <a:latin typeface="Calibri"/>
                <a:cs typeface="Calibri"/>
              </a:rPr>
              <a:t>Confirmed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88932" y="1592777"/>
            <a:ext cx="658495" cy="298450"/>
            <a:chOff x="1488932" y="1592777"/>
            <a:chExt cx="658495" cy="298450"/>
          </a:xfrm>
        </p:grpSpPr>
        <p:sp>
          <p:nvSpPr>
            <p:cNvPr id="16" name="object 16"/>
            <p:cNvSpPr/>
            <p:nvPr/>
          </p:nvSpPr>
          <p:spPr>
            <a:xfrm>
              <a:off x="1494012" y="1597857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89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9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9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solidFill>
              <a:srgbClr val="F8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94012" y="1597857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89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9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9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20494" y="1663076"/>
            <a:ext cx="395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BD3B37"/>
                </a:solidFill>
                <a:latin typeface="Calibri"/>
                <a:cs typeface="Calibri"/>
              </a:rPr>
              <a:t>Archived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50945" y="1592777"/>
            <a:ext cx="658495" cy="298450"/>
            <a:chOff x="2550945" y="1592777"/>
            <a:chExt cx="658495" cy="298450"/>
          </a:xfrm>
        </p:grpSpPr>
        <p:sp>
          <p:nvSpPr>
            <p:cNvPr id="20" name="object 20"/>
            <p:cNvSpPr/>
            <p:nvPr/>
          </p:nvSpPr>
          <p:spPr>
            <a:xfrm>
              <a:off x="2556025" y="1597857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89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9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9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solidFill>
              <a:srgbClr val="F8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56025" y="1597857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89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9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9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09735" y="1655494"/>
            <a:ext cx="340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BD3B37"/>
                </a:solidFill>
                <a:latin typeface="Calibri"/>
                <a:cs typeface="Calibri"/>
              </a:rPr>
              <a:t>Expired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18042" y="1597857"/>
            <a:ext cx="648335" cy="288290"/>
          </a:xfrm>
          <a:custGeom>
            <a:avLst/>
            <a:gdLst/>
            <a:ahLst/>
            <a:cxnLst/>
            <a:rect l="l" t="t" r="r" b="b"/>
            <a:pathLst>
              <a:path w="648335" h="288289">
                <a:moveTo>
                  <a:pt x="622703" y="0"/>
                </a:moveTo>
                <a:lnTo>
                  <a:pt x="25305" y="0"/>
                </a:lnTo>
                <a:lnTo>
                  <a:pt x="15455" y="1988"/>
                </a:lnTo>
                <a:lnTo>
                  <a:pt x="7411" y="7411"/>
                </a:lnTo>
                <a:lnTo>
                  <a:pt x="1988" y="15455"/>
                </a:lnTo>
                <a:lnTo>
                  <a:pt x="0" y="25305"/>
                </a:lnTo>
                <a:lnTo>
                  <a:pt x="0" y="262699"/>
                </a:lnTo>
                <a:lnTo>
                  <a:pt x="1988" y="272549"/>
                </a:lnTo>
                <a:lnTo>
                  <a:pt x="7411" y="280592"/>
                </a:lnTo>
                <a:lnTo>
                  <a:pt x="15455" y="286015"/>
                </a:lnTo>
                <a:lnTo>
                  <a:pt x="25305" y="288004"/>
                </a:lnTo>
                <a:lnTo>
                  <a:pt x="622703" y="288004"/>
                </a:lnTo>
                <a:lnTo>
                  <a:pt x="632553" y="286015"/>
                </a:lnTo>
                <a:lnTo>
                  <a:pt x="640597" y="280592"/>
                </a:lnTo>
                <a:lnTo>
                  <a:pt x="646020" y="272549"/>
                </a:lnTo>
                <a:lnTo>
                  <a:pt x="648009" y="262699"/>
                </a:lnTo>
                <a:lnTo>
                  <a:pt x="648009" y="25305"/>
                </a:lnTo>
                <a:lnTo>
                  <a:pt x="646020" y="15455"/>
                </a:lnTo>
                <a:lnTo>
                  <a:pt x="640597" y="7411"/>
                </a:lnTo>
                <a:lnTo>
                  <a:pt x="632553" y="1988"/>
                </a:lnTo>
                <a:lnTo>
                  <a:pt x="622703" y="0"/>
                </a:lnTo>
                <a:close/>
              </a:path>
            </a:pathLst>
          </a:custGeom>
          <a:ln w="10122">
            <a:solidFill>
              <a:srgbClr val="003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96830" y="1654872"/>
            <a:ext cx="490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3576"/>
                </a:solidFill>
                <a:latin typeface="Calibri"/>
                <a:cs typeface="Calibri"/>
              </a:rPr>
              <a:t>Challenged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74974" y="1592777"/>
            <a:ext cx="658495" cy="298450"/>
            <a:chOff x="4674974" y="1592777"/>
            <a:chExt cx="658495" cy="298450"/>
          </a:xfrm>
        </p:grpSpPr>
        <p:sp>
          <p:nvSpPr>
            <p:cNvPr id="26" name="object 26"/>
            <p:cNvSpPr/>
            <p:nvPr/>
          </p:nvSpPr>
          <p:spPr>
            <a:xfrm>
              <a:off x="4680054" y="1597857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89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9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9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solidFill>
              <a:srgbClr val="F8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80054" y="1597857"/>
              <a:ext cx="648335" cy="288290"/>
            </a:xfrm>
            <a:custGeom>
              <a:avLst/>
              <a:gdLst/>
              <a:ahLst/>
              <a:cxnLst/>
              <a:rect l="l" t="t" r="r" b="b"/>
              <a:pathLst>
                <a:path w="648335" h="288289">
                  <a:moveTo>
                    <a:pt x="62270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2699"/>
                  </a:lnTo>
                  <a:lnTo>
                    <a:pt x="1988" y="272549"/>
                  </a:lnTo>
                  <a:lnTo>
                    <a:pt x="7411" y="280592"/>
                  </a:lnTo>
                  <a:lnTo>
                    <a:pt x="15455" y="286015"/>
                  </a:lnTo>
                  <a:lnTo>
                    <a:pt x="25305" y="288004"/>
                  </a:lnTo>
                  <a:lnTo>
                    <a:pt x="622703" y="288004"/>
                  </a:lnTo>
                  <a:lnTo>
                    <a:pt x="632553" y="286015"/>
                  </a:lnTo>
                  <a:lnTo>
                    <a:pt x="640597" y="280592"/>
                  </a:lnTo>
                  <a:lnTo>
                    <a:pt x="646020" y="272549"/>
                  </a:lnTo>
                  <a:lnTo>
                    <a:pt x="648009" y="262699"/>
                  </a:lnTo>
                  <a:lnTo>
                    <a:pt x="648009" y="25305"/>
                  </a:lnTo>
                  <a:lnTo>
                    <a:pt x="646020" y="15455"/>
                  </a:lnTo>
                  <a:lnTo>
                    <a:pt x="640597" y="7411"/>
                  </a:lnTo>
                  <a:lnTo>
                    <a:pt x="632553" y="1988"/>
                  </a:lnTo>
                  <a:lnTo>
                    <a:pt x="622703" y="0"/>
                  </a:lnTo>
                  <a:close/>
                </a:path>
              </a:pathLst>
            </a:custGeom>
            <a:ln w="10122">
              <a:solidFill>
                <a:srgbClr val="BE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08982" y="1654897"/>
            <a:ext cx="390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BD3B37"/>
                </a:solidFill>
                <a:latin typeface="Calibri"/>
                <a:cs typeface="Calibri"/>
              </a:rPr>
              <a:t>Rejected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79991" y="1073139"/>
            <a:ext cx="400050" cy="41910"/>
            <a:chOff x="1079991" y="1073139"/>
            <a:chExt cx="400050" cy="41910"/>
          </a:xfrm>
        </p:grpSpPr>
        <p:sp>
          <p:nvSpPr>
            <p:cNvPr id="30" name="object 30"/>
            <p:cNvSpPr/>
            <p:nvPr/>
          </p:nvSpPr>
          <p:spPr>
            <a:xfrm>
              <a:off x="1085071" y="1093850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4">
                  <a:moveTo>
                    <a:pt x="0" y="0"/>
                  </a:moveTo>
                  <a:lnTo>
                    <a:pt x="359446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33294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33294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37729" y="839563"/>
            <a:ext cx="29845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12065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all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team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consents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42003" y="1073139"/>
            <a:ext cx="1461770" cy="41910"/>
            <a:chOff x="2142003" y="1073139"/>
            <a:chExt cx="1461770" cy="41910"/>
          </a:xfrm>
        </p:grpSpPr>
        <p:sp>
          <p:nvSpPr>
            <p:cNvPr id="35" name="object 35"/>
            <p:cNvSpPr/>
            <p:nvPr/>
          </p:nvSpPr>
          <p:spPr>
            <a:xfrm>
              <a:off x="2147083" y="1093850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4">
                  <a:moveTo>
                    <a:pt x="0" y="0"/>
                  </a:moveTo>
                  <a:lnTo>
                    <a:pt x="359446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95306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95306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9095" y="1093850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59452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57324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57324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138730" y="827105"/>
            <a:ext cx="421005" cy="205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quorum</a:t>
            </a:r>
            <a:r>
              <a:rPr sz="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10%</a:t>
            </a:r>
            <a:endParaRPr sz="600">
              <a:latin typeface="Calibri"/>
              <a:cs typeface="Calibri"/>
            </a:endParaRPr>
          </a:p>
          <a:p>
            <a:pPr marL="53340">
              <a:lnSpc>
                <a:spcPts val="710"/>
              </a:lnSpc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 majority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60077" y="839602"/>
            <a:ext cx="30226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 marR="5080" indent="-26670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evidence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IPFS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797305" y="1073139"/>
            <a:ext cx="2872105" cy="525145"/>
            <a:chOff x="1797305" y="1073139"/>
            <a:chExt cx="2872105" cy="525145"/>
          </a:xfrm>
        </p:grpSpPr>
        <p:sp>
          <p:nvSpPr>
            <p:cNvPr id="44" name="object 44"/>
            <p:cNvSpPr/>
            <p:nvPr/>
          </p:nvSpPr>
          <p:spPr>
            <a:xfrm>
              <a:off x="4271112" y="1093850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59446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19336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19336" y="1078219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18017" y="1242914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0"/>
                  </a:moveTo>
                  <a:lnTo>
                    <a:pt x="0" y="305448"/>
                  </a:lnTo>
                </a:path>
              </a:pathLst>
            </a:custGeom>
            <a:ln w="10122">
              <a:solidFill>
                <a:srgbClr val="BD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802385" y="153713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31263" y="0"/>
                  </a:move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lnTo>
                    <a:pt x="31263" y="0"/>
                  </a:lnTo>
                  <a:close/>
                </a:path>
              </a:pathLst>
            </a:custGeom>
            <a:solidFill>
              <a:srgbClr val="BD3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802385" y="153713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15631" y="41243"/>
                  </a:moveTo>
                  <a:lnTo>
                    <a:pt x="31263" y="0"/>
                  </a:ln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close/>
                </a:path>
              </a:pathLst>
            </a:custGeom>
            <a:ln w="10122">
              <a:solidFill>
                <a:srgbClr val="BD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80029" y="1242914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0"/>
                  </a:moveTo>
                  <a:lnTo>
                    <a:pt x="0" y="305448"/>
                  </a:lnTo>
                </a:path>
              </a:pathLst>
            </a:custGeom>
            <a:ln w="10122">
              <a:solidFill>
                <a:srgbClr val="BD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64398" y="153713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31263" y="0"/>
                  </a:move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lnTo>
                    <a:pt x="31263" y="0"/>
                  </a:lnTo>
                  <a:close/>
                </a:path>
              </a:pathLst>
            </a:custGeom>
            <a:solidFill>
              <a:srgbClr val="BD3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64398" y="153713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15631" y="41243"/>
                  </a:moveTo>
                  <a:lnTo>
                    <a:pt x="31263" y="0"/>
                  </a:ln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close/>
                </a:path>
              </a:pathLst>
            </a:custGeom>
            <a:ln w="10122">
              <a:solidFill>
                <a:srgbClr val="BD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42047" y="1242914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0"/>
                  </a:moveTo>
                  <a:lnTo>
                    <a:pt x="0" y="305448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26415" y="153713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31263" y="0"/>
                  </a:move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lnTo>
                    <a:pt x="31263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26415" y="153713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15631" y="41243"/>
                  </a:moveTo>
                  <a:lnTo>
                    <a:pt x="31263" y="0"/>
                  </a:ln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271112" y="1272007"/>
              <a:ext cx="370840" cy="321310"/>
            </a:xfrm>
            <a:custGeom>
              <a:avLst/>
              <a:gdLst/>
              <a:ahLst/>
              <a:cxnLst/>
              <a:rect l="l" t="t" r="r" b="b"/>
              <a:pathLst>
                <a:path w="370839" h="321309">
                  <a:moveTo>
                    <a:pt x="0" y="320788"/>
                  </a:moveTo>
                  <a:lnTo>
                    <a:pt x="370296" y="0"/>
                  </a:lnTo>
                </a:path>
              </a:pathLst>
            </a:custGeom>
            <a:ln w="10122">
              <a:solidFill>
                <a:srgbClr val="0E81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22692" y="1252351"/>
              <a:ext cx="41910" cy="39370"/>
            </a:xfrm>
            <a:custGeom>
              <a:avLst/>
              <a:gdLst/>
              <a:ahLst/>
              <a:cxnLst/>
              <a:rect l="l" t="t" r="r" b="b"/>
              <a:pathLst>
                <a:path w="41910" h="39369">
                  <a:moveTo>
                    <a:pt x="0" y="15189"/>
                  </a:moveTo>
                  <a:lnTo>
                    <a:pt x="20629" y="17999"/>
                  </a:lnTo>
                  <a:lnTo>
                    <a:pt x="20469" y="38818"/>
                  </a:lnTo>
                  <a:lnTo>
                    <a:pt x="41406" y="0"/>
                  </a:lnTo>
                  <a:lnTo>
                    <a:pt x="0" y="15189"/>
                  </a:lnTo>
                  <a:close/>
                </a:path>
              </a:pathLst>
            </a:custGeom>
            <a:solidFill>
              <a:srgbClr val="0E81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22692" y="1252351"/>
              <a:ext cx="41910" cy="39370"/>
            </a:xfrm>
            <a:custGeom>
              <a:avLst/>
              <a:gdLst/>
              <a:ahLst/>
              <a:cxnLst/>
              <a:rect l="l" t="t" r="r" b="b"/>
              <a:pathLst>
                <a:path w="41910" h="39369">
                  <a:moveTo>
                    <a:pt x="41406" y="0"/>
                  </a:moveTo>
                  <a:lnTo>
                    <a:pt x="0" y="15189"/>
                  </a:lnTo>
                  <a:lnTo>
                    <a:pt x="20629" y="17999"/>
                  </a:lnTo>
                  <a:lnTo>
                    <a:pt x="20469" y="38818"/>
                  </a:lnTo>
                  <a:lnTo>
                    <a:pt x="41406" y="0"/>
                  </a:lnTo>
                  <a:close/>
                </a:path>
              </a:pathLst>
            </a:custGeom>
            <a:ln w="10121">
              <a:solidFill>
                <a:srgbClr val="0E81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64952" y="827079"/>
            <a:ext cx="416559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8890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7</a:t>
            </a:r>
            <a:r>
              <a:rPr sz="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days,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 challenge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29943" y="1302834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436484" y="1391404"/>
            <a:ext cx="318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approved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17178" y="1311051"/>
            <a:ext cx="39941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096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r>
              <a:rPr sz="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days,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 evidence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29380" y="1304675"/>
            <a:ext cx="34925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556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 citizen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challenges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509160" y="1339943"/>
            <a:ext cx="30797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81280">
              <a:lnSpc>
                <a:spcPts val="700"/>
              </a:lnSpc>
              <a:spcBef>
                <a:spcPts val="135"/>
              </a:spcBef>
            </a:pP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jury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approves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271112" y="1721167"/>
            <a:ext cx="394970" cy="41910"/>
            <a:chOff x="4271112" y="1721167"/>
            <a:chExt cx="394970" cy="41910"/>
          </a:xfrm>
        </p:grpSpPr>
        <p:sp>
          <p:nvSpPr>
            <p:cNvPr id="66" name="object 66"/>
            <p:cNvSpPr/>
            <p:nvPr/>
          </p:nvSpPr>
          <p:spPr>
            <a:xfrm>
              <a:off x="4271112" y="1741859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59446" y="0"/>
                  </a:lnTo>
                </a:path>
              </a:pathLst>
            </a:custGeom>
            <a:ln w="10122">
              <a:solidFill>
                <a:srgbClr val="BD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19336" y="172622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3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619336" y="172622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BD3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357154" y="1782018"/>
            <a:ext cx="23241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43180">
              <a:lnSpc>
                <a:spcPts val="700"/>
              </a:lnSpc>
              <a:spcBef>
                <a:spcPts val="135"/>
              </a:spcBef>
            </a:pPr>
            <a:r>
              <a:rPr sz="600" spc="-20" dirty="0">
                <a:solidFill>
                  <a:srgbClr val="3F3F3F"/>
                </a:solidFill>
                <a:latin typeface="Calibri"/>
                <a:cs typeface="Calibri"/>
              </a:rPr>
              <a:t>jury</a:t>
            </a:r>
            <a:r>
              <a:rPr sz="6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rejects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32004" y="2119865"/>
            <a:ext cx="2354580" cy="537845"/>
            <a:chOff x="432004" y="2119865"/>
            <a:chExt cx="2354580" cy="537845"/>
          </a:xfrm>
        </p:grpSpPr>
        <p:sp>
          <p:nvSpPr>
            <p:cNvPr id="71" name="object 71"/>
            <p:cNvSpPr/>
            <p:nvPr/>
          </p:nvSpPr>
          <p:spPr>
            <a:xfrm>
              <a:off x="437065" y="2124926"/>
              <a:ext cx="2344420" cy="527685"/>
            </a:xfrm>
            <a:custGeom>
              <a:avLst/>
              <a:gdLst/>
              <a:ahLst/>
              <a:cxnLst/>
              <a:rect l="l" t="t" r="r" b="b"/>
              <a:pathLst>
                <a:path w="2344420" h="527685">
                  <a:moveTo>
                    <a:pt x="231864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502253"/>
                  </a:lnTo>
                  <a:lnTo>
                    <a:pt x="1988" y="512103"/>
                  </a:lnTo>
                  <a:lnTo>
                    <a:pt x="7411" y="520146"/>
                  </a:lnTo>
                  <a:lnTo>
                    <a:pt x="15455" y="525569"/>
                  </a:lnTo>
                  <a:lnTo>
                    <a:pt x="25305" y="527558"/>
                  </a:lnTo>
                  <a:lnTo>
                    <a:pt x="2318640" y="527558"/>
                  </a:lnTo>
                  <a:lnTo>
                    <a:pt x="2328490" y="525569"/>
                  </a:lnTo>
                  <a:lnTo>
                    <a:pt x="2336534" y="520146"/>
                  </a:lnTo>
                  <a:lnTo>
                    <a:pt x="2341957" y="512103"/>
                  </a:lnTo>
                  <a:lnTo>
                    <a:pt x="2343946" y="502253"/>
                  </a:lnTo>
                  <a:lnTo>
                    <a:pt x="2343946" y="25305"/>
                  </a:lnTo>
                  <a:lnTo>
                    <a:pt x="2341957" y="15455"/>
                  </a:lnTo>
                  <a:lnTo>
                    <a:pt x="2336534" y="7411"/>
                  </a:lnTo>
                  <a:lnTo>
                    <a:pt x="2328490" y="1988"/>
                  </a:lnTo>
                  <a:lnTo>
                    <a:pt x="2318640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37065" y="2124926"/>
              <a:ext cx="2344420" cy="527685"/>
            </a:xfrm>
            <a:custGeom>
              <a:avLst/>
              <a:gdLst/>
              <a:ahLst/>
              <a:cxnLst/>
              <a:rect l="l" t="t" r="r" b="b"/>
              <a:pathLst>
                <a:path w="2344420" h="527685">
                  <a:moveTo>
                    <a:pt x="231864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502253"/>
                  </a:lnTo>
                  <a:lnTo>
                    <a:pt x="1988" y="512103"/>
                  </a:lnTo>
                  <a:lnTo>
                    <a:pt x="7411" y="520146"/>
                  </a:lnTo>
                  <a:lnTo>
                    <a:pt x="15455" y="525569"/>
                  </a:lnTo>
                  <a:lnTo>
                    <a:pt x="25305" y="527558"/>
                  </a:lnTo>
                  <a:lnTo>
                    <a:pt x="2318640" y="527558"/>
                  </a:lnTo>
                  <a:lnTo>
                    <a:pt x="2328490" y="525569"/>
                  </a:lnTo>
                  <a:lnTo>
                    <a:pt x="2336534" y="520146"/>
                  </a:lnTo>
                  <a:lnTo>
                    <a:pt x="2341957" y="512103"/>
                  </a:lnTo>
                  <a:lnTo>
                    <a:pt x="2343946" y="502253"/>
                  </a:lnTo>
                  <a:lnTo>
                    <a:pt x="2343946" y="25305"/>
                  </a:lnTo>
                  <a:lnTo>
                    <a:pt x="2341957" y="15455"/>
                  </a:lnTo>
                  <a:lnTo>
                    <a:pt x="2336534" y="7411"/>
                  </a:lnTo>
                  <a:lnTo>
                    <a:pt x="2328490" y="1988"/>
                  </a:lnTo>
                  <a:lnTo>
                    <a:pt x="2318640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62318" y="2123692"/>
            <a:ext cx="2224405" cy="5253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Example</a:t>
            </a:r>
            <a:r>
              <a:rPr lang="it-IT" sz="800" b="1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 “clean up the park”.</a:t>
            </a:r>
            <a:r>
              <a:rPr sz="800" b="1" spc="1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 team gives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on-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chain consent </a:t>
            </a:r>
            <a:r>
              <a:rPr sz="800" i="1" dirty="0">
                <a:solidFill>
                  <a:srgbClr val="3F3F3F"/>
                </a:solidFill>
                <a:latin typeface="Calibri"/>
                <a:cs typeface="Calibri"/>
              </a:rPr>
              <a:t>before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 vote, advances the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mate-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rials,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then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uploads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photos,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receipts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list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actual</a:t>
            </a:r>
            <a:r>
              <a:rPr sz="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performers.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973992" y="2119865"/>
            <a:ext cx="2354580" cy="518795"/>
            <a:chOff x="2973992" y="2119865"/>
            <a:chExt cx="2354580" cy="518795"/>
          </a:xfrm>
        </p:grpSpPr>
        <p:sp>
          <p:nvSpPr>
            <p:cNvPr id="75" name="object 75"/>
            <p:cNvSpPr/>
            <p:nvPr/>
          </p:nvSpPr>
          <p:spPr>
            <a:xfrm>
              <a:off x="2979053" y="2124926"/>
              <a:ext cx="2344420" cy="508634"/>
            </a:xfrm>
            <a:custGeom>
              <a:avLst/>
              <a:gdLst/>
              <a:ahLst/>
              <a:cxnLst/>
              <a:rect l="l" t="t" r="r" b="b"/>
              <a:pathLst>
                <a:path w="2344420" h="508635">
                  <a:moveTo>
                    <a:pt x="2318641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83175"/>
                  </a:lnTo>
                  <a:lnTo>
                    <a:pt x="1988" y="493025"/>
                  </a:lnTo>
                  <a:lnTo>
                    <a:pt x="7411" y="501068"/>
                  </a:lnTo>
                  <a:lnTo>
                    <a:pt x="15455" y="506491"/>
                  </a:lnTo>
                  <a:lnTo>
                    <a:pt x="25305" y="508480"/>
                  </a:lnTo>
                  <a:lnTo>
                    <a:pt x="2318641" y="508480"/>
                  </a:lnTo>
                  <a:lnTo>
                    <a:pt x="2328491" y="506491"/>
                  </a:lnTo>
                  <a:lnTo>
                    <a:pt x="2336534" y="501068"/>
                  </a:lnTo>
                  <a:lnTo>
                    <a:pt x="2341958" y="493025"/>
                  </a:lnTo>
                  <a:lnTo>
                    <a:pt x="2343946" y="483175"/>
                  </a:lnTo>
                  <a:lnTo>
                    <a:pt x="2343946" y="25305"/>
                  </a:lnTo>
                  <a:lnTo>
                    <a:pt x="2341958" y="15455"/>
                  </a:lnTo>
                  <a:lnTo>
                    <a:pt x="2336534" y="7411"/>
                  </a:lnTo>
                  <a:lnTo>
                    <a:pt x="2328491" y="1988"/>
                  </a:lnTo>
                  <a:lnTo>
                    <a:pt x="2318641" y="0"/>
                  </a:lnTo>
                  <a:close/>
                </a:path>
              </a:pathLst>
            </a:custGeom>
            <a:solidFill>
              <a:srgbClr val="CCFA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979053" y="2124926"/>
              <a:ext cx="2344420" cy="508634"/>
            </a:xfrm>
            <a:custGeom>
              <a:avLst/>
              <a:gdLst/>
              <a:ahLst/>
              <a:cxnLst/>
              <a:rect l="l" t="t" r="r" b="b"/>
              <a:pathLst>
                <a:path w="2344420" h="508635">
                  <a:moveTo>
                    <a:pt x="2318641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83175"/>
                  </a:lnTo>
                  <a:lnTo>
                    <a:pt x="1988" y="493025"/>
                  </a:lnTo>
                  <a:lnTo>
                    <a:pt x="7411" y="501068"/>
                  </a:lnTo>
                  <a:lnTo>
                    <a:pt x="15455" y="506491"/>
                  </a:lnTo>
                  <a:lnTo>
                    <a:pt x="25305" y="508480"/>
                  </a:lnTo>
                  <a:lnTo>
                    <a:pt x="2318641" y="508480"/>
                  </a:lnTo>
                  <a:lnTo>
                    <a:pt x="2328491" y="506491"/>
                  </a:lnTo>
                  <a:lnTo>
                    <a:pt x="2336534" y="501068"/>
                  </a:lnTo>
                  <a:lnTo>
                    <a:pt x="2341958" y="493025"/>
                  </a:lnTo>
                  <a:lnTo>
                    <a:pt x="2343946" y="483175"/>
                  </a:lnTo>
                  <a:lnTo>
                    <a:pt x="2343946" y="25305"/>
                  </a:lnTo>
                  <a:lnTo>
                    <a:pt x="2341958" y="15455"/>
                  </a:lnTo>
                  <a:lnTo>
                    <a:pt x="2336534" y="7411"/>
                  </a:lnTo>
                  <a:lnTo>
                    <a:pt x="2328491" y="1988"/>
                  </a:lnTo>
                  <a:lnTo>
                    <a:pt x="2318641" y="0"/>
                  </a:lnTo>
                  <a:close/>
                </a:path>
              </a:pathLst>
            </a:custGeom>
            <a:ln w="10122">
              <a:solidFill>
                <a:srgbClr val="0D8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004311" y="2120136"/>
            <a:ext cx="2286635" cy="5253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On confirmation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com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munity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credits,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Proof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Participation,</a:t>
            </a:r>
            <a:r>
              <a:rPr sz="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reputation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800" dirty="0" err="1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 to </a:t>
            </a:r>
            <a:r>
              <a:rPr lang="it-IT" sz="800" dirty="0" err="1">
                <a:solidFill>
                  <a:srgbClr val="3F3F3F"/>
                </a:solidFill>
                <a:latin typeface="Calibri"/>
                <a:cs typeface="Calibri"/>
              </a:rPr>
              <a:t>actual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 performers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r>
              <a:rPr sz="800" spc="1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mbria"/>
                <a:cs typeface="Cambria"/>
              </a:rPr>
              <a:t>ReimbursementDue</a:t>
            </a:r>
            <a:r>
              <a:rPr sz="800" spc="4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event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triggers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3F3F3F"/>
                </a:solidFill>
                <a:latin typeface="Calibri"/>
                <a:cs typeface="Calibri"/>
              </a:rPr>
              <a:t>off-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chain</a:t>
            </a:r>
            <a:r>
              <a:rPr sz="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3F3F3F"/>
                </a:solidFill>
                <a:latin typeface="Calibri"/>
                <a:cs typeface="Calibri"/>
              </a:rPr>
              <a:t>euro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refund.</a:t>
            </a:r>
            <a:endParaRPr sz="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5541322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/>
              <a:t>Public</a:t>
            </a:r>
            <a:r>
              <a:rPr spc="65" dirty="0"/>
              <a:t> </a:t>
            </a:r>
            <a:r>
              <a:rPr dirty="0"/>
              <a:t>flow:</a:t>
            </a:r>
            <a:r>
              <a:rPr spc="190" dirty="0"/>
              <a:t> </a:t>
            </a:r>
            <a:r>
              <a:rPr dirty="0"/>
              <a:t>participatory</a:t>
            </a:r>
            <a:r>
              <a:rPr spc="65" dirty="0"/>
              <a:t> </a:t>
            </a:r>
            <a:r>
              <a:rPr spc="-10" dirty="0"/>
              <a:t>budgeting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3 Design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xfrm>
            <a:off x="321894" y="3022946"/>
            <a:ext cx="295275" cy="130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0" dirty="0"/>
              <a:t>28</a:t>
            </a:fld>
            <a:r>
              <a:rPr spc="-20" dirty="0"/>
              <a:t>/17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7954" y="1091343"/>
            <a:ext cx="734695" cy="478790"/>
            <a:chOff x="397954" y="1091343"/>
            <a:chExt cx="734695" cy="478790"/>
          </a:xfrm>
        </p:grpSpPr>
        <p:sp>
          <p:nvSpPr>
            <p:cNvPr id="4" name="object 4"/>
            <p:cNvSpPr/>
            <p:nvPr/>
          </p:nvSpPr>
          <p:spPr>
            <a:xfrm>
              <a:off x="403034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19" y="468006"/>
                  </a:lnTo>
                  <a:lnTo>
                    <a:pt x="708469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69" y="1988"/>
                  </a:lnTo>
                  <a:lnTo>
                    <a:pt x="698619" y="0"/>
                  </a:lnTo>
                  <a:close/>
                </a:path>
              </a:pathLst>
            </a:custGeom>
            <a:solidFill>
              <a:srgbClr val="F5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3034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19" y="468006"/>
                  </a:lnTo>
                  <a:lnTo>
                    <a:pt x="708469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69" y="1988"/>
                  </a:lnTo>
                  <a:lnTo>
                    <a:pt x="698619" y="0"/>
                  </a:lnTo>
                  <a:close/>
                </a:path>
              </a:pathLst>
            </a:custGeom>
            <a:ln w="10122">
              <a:solidFill>
                <a:srgbClr val="C89A1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8772" y="1131441"/>
            <a:ext cx="45275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 algn="ctr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Budget</a:t>
            </a:r>
            <a:r>
              <a:rPr lang="it-IT"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800" dirty="0">
                <a:solidFill>
                  <a:srgbClr val="3F3F3F"/>
                </a:solidFill>
                <a:latin typeface="Calibri"/>
                <a:cs typeface="Calibri"/>
              </a:rPr>
              <a:t>scope</a:t>
            </a:r>
            <a:r>
              <a:rPr lang="it-IT" sz="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800" spc="-2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lang="it-IT"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lang="it-IT" sz="800" spc="-10" dirty="0" err="1">
                <a:solidFill>
                  <a:srgbClr val="3F3F3F"/>
                </a:solidFill>
                <a:latin typeface="Calibri"/>
                <a:cs typeface="Calibri"/>
              </a:rPr>
              <a:t>resources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43967" y="1091343"/>
            <a:ext cx="734695" cy="478790"/>
            <a:chOff x="1243967" y="1091343"/>
            <a:chExt cx="734695" cy="478790"/>
          </a:xfrm>
        </p:grpSpPr>
        <p:sp>
          <p:nvSpPr>
            <p:cNvPr id="8" name="object 8"/>
            <p:cNvSpPr/>
            <p:nvPr/>
          </p:nvSpPr>
          <p:spPr>
            <a:xfrm>
              <a:off x="1249047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19" y="468006"/>
                  </a:lnTo>
                  <a:lnTo>
                    <a:pt x="708470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19" y="0"/>
                  </a:lnTo>
                  <a:close/>
                </a:path>
              </a:pathLst>
            </a:custGeom>
            <a:solidFill>
              <a:srgbClr val="EA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49047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19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19" y="468006"/>
                  </a:lnTo>
                  <a:lnTo>
                    <a:pt x="708470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19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43977" y="1123656"/>
            <a:ext cx="53403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50165" algn="just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Proposals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submitted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residents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89974" y="1091343"/>
            <a:ext cx="734695" cy="478790"/>
            <a:chOff x="2089974" y="1091343"/>
            <a:chExt cx="734695" cy="478790"/>
          </a:xfrm>
        </p:grpSpPr>
        <p:sp>
          <p:nvSpPr>
            <p:cNvPr id="12" name="object 12"/>
            <p:cNvSpPr/>
            <p:nvPr/>
          </p:nvSpPr>
          <p:spPr>
            <a:xfrm>
              <a:off x="2095054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20" y="468006"/>
                  </a:lnTo>
                  <a:lnTo>
                    <a:pt x="708470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20" y="0"/>
                  </a:lnTo>
                  <a:close/>
                </a:path>
              </a:pathLst>
            </a:custGeom>
            <a:solidFill>
              <a:srgbClr val="F5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95054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20" y="468006"/>
                  </a:lnTo>
                  <a:lnTo>
                    <a:pt x="708470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20" y="0"/>
                  </a:lnTo>
                  <a:close/>
                </a:path>
              </a:pathLst>
            </a:custGeom>
            <a:ln w="10122">
              <a:solidFill>
                <a:srgbClr val="C89A1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48001" y="1131467"/>
            <a:ext cx="41846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810" algn="just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Eligibility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feasibility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review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41066" y="1096423"/>
            <a:ext cx="724535" cy="468630"/>
          </a:xfrm>
          <a:custGeom>
            <a:avLst/>
            <a:gdLst/>
            <a:ahLst/>
            <a:cxnLst/>
            <a:rect l="l" t="t" r="r" b="b"/>
            <a:pathLst>
              <a:path w="724535" h="468630">
                <a:moveTo>
                  <a:pt x="698620" y="0"/>
                </a:moveTo>
                <a:lnTo>
                  <a:pt x="25305" y="0"/>
                </a:lnTo>
                <a:lnTo>
                  <a:pt x="15455" y="1988"/>
                </a:lnTo>
                <a:lnTo>
                  <a:pt x="7411" y="7411"/>
                </a:lnTo>
                <a:lnTo>
                  <a:pt x="1988" y="15455"/>
                </a:lnTo>
                <a:lnTo>
                  <a:pt x="0" y="25305"/>
                </a:lnTo>
                <a:lnTo>
                  <a:pt x="0" y="442701"/>
                </a:lnTo>
                <a:lnTo>
                  <a:pt x="1988" y="452551"/>
                </a:lnTo>
                <a:lnTo>
                  <a:pt x="7411" y="460594"/>
                </a:lnTo>
                <a:lnTo>
                  <a:pt x="15455" y="466018"/>
                </a:lnTo>
                <a:lnTo>
                  <a:pt x="25305" y="468006"/>
                </a:lnTo>
                <a:lnTo>
                  <a:pt x="698620" y="468006"/>
                </a:lnTo>
                <a:lnTo>
                  <a:pt x="708470" y="466018"/>
                </a:lnTo>
                <a:lnTo>
                  <a:pt x="716513" y="460594"/>
                </a:lnTo>
                <a:lnTo>
                  <a:pt x="721936" y="452551"/>
                </a:lnTo>
                <a:lnTo>
                  <a:pt x="723925" y="442701"/>
                </a:lnTo>
                <a:lnTo>
                  <a:pt x="723925" y="25305"/>
                </a:lnTo>
                <a:lnTo>
                  <a:pt x="721936" y="15455"/>
                </a:lnTo>
                <a:lnTo>
                  <a:pt x="716513" y="7411"/>
                </a:lnTo>
                <a:lnTo>
                  <a:pt x="708470" y="1988"/>
                </a:lnTo>
                <a:lnTo>
                  <a:pt x="698620" y="0"/>
                </a:lnTo>
                <a:close/>
              </a:path>
            </a:pathLst>
          </a:custGeom>
          <a:ln w="10122">
            <a:solidFill>
              <a:srgbClr val="8C8C8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99155" y="1123123"/>
            <a:ext cx="60833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610" marR="5080" indent="-4254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Snapshot</a:t>
            </a:r>
            <a:r>
              <a:rPr sz="800" b="1" spc="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20" dirty="0">
                <a:solidFill>
                  <a:srgbClr val="3F3F3F"/>
                </a:solidFill>
                <a:latin typeface="Calibri"/>
                <a:cs typeface="Calibri"/>
              </a:rPr>
              <a:t>poll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3F3F3F"/>
                </a:solidFill>
                <a:latin typeface="Calibri"/>
                <a:cs typeface="Calibri"/>
              </a:rPr>
              <a:t>off-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chain,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non-binding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81994" y="1062802"/>
            <a:ext cx="734695" cy="535305"/>
            <a:chOff x="3781994" y="1062802"/>
            <a:chExt cx="734695" cy="535305"/>
          </a:xfrm>
        </p:grpSpPr>
        <p:sp>
          <p:nvSpPr>
            <p:cNvPr id="18" name="object 18"/>
            <p:cNvSpPr/>
            <p:nvPr/>
          </p:nvSpPr>
          <p:spPr>
            <a:xfrm>
              <a:off x="3787074" y="1067882"/>
              <a:ext cx="724535" cy="525145"/>
            </a:xfrm>
            <a:custGeom>
              <a:avLst/>
              <a:gdLst/>
              <a:ahLst/>
              <a:cxnLst/>
              <a:rect l="l" t="t" r="r" b="b"/>
              <a:pathLst>
                <a:path w="724535" h="525144">
                  <a:moveTo>
                    <a:pt x="698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99781"/>
                  </a:lnTo>
                  <a:lnTo>
                    <a:pt x="1988" y="509631"/>
                  </a:lnTo>
                  <a:lnTo>
                    <a:pt x="7411" y="517675"/>
                  </a:lnTo>
                  <a:lnTo>
                    <a:pt x="15455" y="523098"/>
                  </a:lnTo>
                  <a:lnTo>
                    <a:pt x="25305" y="525087"/>
                  </a:lnTo>
                  <a:lnTo>
                    <a:pt x="698620" y="525087"/>
                  </a:lnTo>
                  <a:lnTo>
                    <a:pt x="708470" y="523098"/>
                  </a:lnTo>
                  <a:lnTo>
                    <a:pt x="716513" y="517675"/>
                  </a:lnTo>
                  <a:lnTo>
                    <a:pt x="721936" y="509631"/>
                  </a:lnTo>
                  <a:lnTo>
                    <a:pt x="723925" y="49978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20" y="0"/>
                  </a:lnTo>
                  <a:close/>
                </a:path>
              </a:pathLst>
            </a:custGeom>
            <a:solidFill>
              <a:srgbClr val="00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87074" y="1067882"/>
              <a:ext cx="724535" cy="525145"/>
            </a:xfrm>
            <a:custGeom>
              <a:avLst/>
              <a:gdLst/>
              <a:ahLst/>
              <a:cxnLst/>
              <a:rect l="l" t="t" r="r" b="b"/>
              <a:pathLst>
                <a:path w="724535" h="525144">
                  <a:moveTo>
                    <a:pt x="698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99781"/>
                  </a:lnTo>
                  <a:lnTo>
                    <a:pt x="1988" y="509631"/>
                  </a:lnTo>
                  <a:lnTo>
                    <a:pt x="7411" y="517675"/>
                  </a:lnTo>
                  <a:lnTo>
                    <a:pt x="15455" y="523098"/>
                  </a:lnTo>
                  <a:lnTo>
                    <a:pt x="25305" y="525087"/>
                  </a:lnTo>
                  <a:lnTo>
                    <a:pt x="698620" y="525087"/>
                  </a:lnTo>
                  <a:lnTo>
                    <a:pt x="708470" y="523098"/>
                  </a:lnTo>
                  <a:lnTo>
                    <a:pt x="716513" y="517675"/>
                  </a:lnTo>
                  <a:lnTo>
                    <a:pt x="721936" y="509631"/>
                  </a:lnTo>
                  <a:lnTo>
                    <a:pt x="723925" y="49978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20" y="0"/>
                  </a:lnTo>
                  <a:close/>
                </a:path>
              </a:pathLst>
            </a:custGeom>
            <a:ln w="10122">
              <a:solidFill>
                <a:srgbClr val="0034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48199" y="1107296"/>
            <a:ext cx="438150" cy="39709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670" marR="5080" indent="-14604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Quadratic</a:t>
            </a:r>
            <a:r>
              <a:rPr sz="8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Voting</a:t>
            </a:r>
            <a:r>
              <a:rPr sz="8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on-chain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28007" y="1091343"/>
            <a:ext cx="734695" cy="478790"/>
            <a:chOff x="4628007" y="1091343"/>
            <a:chExt cx="734695" cy="478790"/>
          </a:xfrm>
        </p:grpSpPr>
        <p:sp>
          <p:nvSpPr>
            <p:cNvPr id="22" name="object 22"/>
            <p:cNvSpPr/>
            <p:nvPr/>
          </p:nvSpPr>
          <p:spPr>
            <a:xfrm>
              <a:off x="4633087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20" y="468006"/>
                  </a:lnTo>
                  <a:lnTo>
                    <a:pt x="708470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20" y="0"/>
                  </a:lnTo>
                  <a:close/>
                </a:path>
              </a:pathLst>
            </a:custGeom>
            <a:solidFill>
              <a:srgbClr val="F5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33087" y="1096423"/>
              <a:ext cx="724535" cy="468630"/>
            </a:xfrm>
            <a:custGeom>
              <a:avLst/>
              <a:gdLst/>
              <a:ahLst/>
              <a:cxnLst/>
              <a:rect l="l" t="t" r="r" b="b"/>
              <a:pathLst>
                <a:path w="724535" h="468630">
                  <a:moveTo>
                    <a:pt x="69862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442701"/>
                  </a:lnTo>
                  <a:lnTo>
                    <a:pt x="1988" y="452551"/>
                  </a:lnTo>
                  <a:lnTo>
                    <a:pt x="7411" y="460594"/>
                  </a:lnTo>
                  <a:lnTo>
                    <a:pt x="15455" y="466018"/>
                  </a:lnTo>
                  <a:lnTo>
                    <a:pt x="25305" y="468006"/>
                  </a:lnTo>
                  <a:lnTo>
                    <a:pt x="698620" y="468006"/>
                  </a:lnTo>
                  <a:lnTo>
                    <a:pt x="708470" y="466018"/>
                  </a:lnTo>
                  <a:lnTo>
                    <a:pt x="716513" y="460594"/>
                  </a:lnTo>
                  <a:lnTo>
                    <a:pt x="721936" y="452551"/>
                  </a:lnTo>
                  <a:lnTo>
                    <a:pt x="723925" y="442701"/>
                  </a:lnTo>
                  <a:lnTo>
                    <a:pt x="723925" y="25305"/>
                  </a:lnTo>
                  <a:lnTo>
                    <a:pt x="721936" y="15455"/>
                  </a:lnTo>
                  <a:lnTo>
                    <a:pt x="716513" y="7411"/>
                  </a:lnTo>
                  <a:lnTo>
                    <a:pt x="708470" y="1988"/>
                  </a:lnTo>
                  <a:lnTo>
                    <a:pt x="698620" y="0"/>
                  </a:lnTo>
                  <a:close/>
                </a:path>
              </a:pathLst>
            </a:custGeom>
            <a:ln w="10122">
              <a:solidFill>
                <a:srgbClr val="C89A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75339" y="1121535"/>
            <a:ext cx="63944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algn="ctr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Outcome</a:t>
            </a:r>
            <a:r>
              <a:rPr sz="800" b="1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F3F3F"/>
                </a:solidFill>
                <a:latin typeface="Calibri"/>
                <a:cs typeface="Calibri"/>
              </a:rPr>
              <a:t>execution</a:t>
            </a:r>
            <a:r>
              <a:rPr sz="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800" spc="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3F3F3F"/>
                </a:solidFill>
                <a:latin typeface="Calibri"/>
                <a:cs typeface="Calibri"/>
              </a:rPr>
              <a:t>public</a:t>
            </a:r>
            <a:r>
              <a:rPr sz="800" b="1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F3F3F"/>
                </a:solidFill>
                <a:latin typeface="Calibri"/>
                <a:cs typeface="Calibri"/>
              </a:rPr>
              <a:t>reasons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32020" y="1309734"/>
            <a:ext cx="3486785" cy="41910"/>
            <a:chOff x="1132020" y="1309734"/>
            <a:chExt cx="3486785" cy="41910"/>
          </a:xfrm>
        </p:grpSpPr>
        <p:sp>
          <p:nvSpPr>
            <p:cNvPr id="26" name="object 26"/>
            <p:cNvSpPr/>
            <p:nvPr/>
          </p:nvSpPr>
          <p:spPr>
            <a:xfrm>
              <a:off x="1132020" y="1330426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88328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88328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78033" y="1330426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525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34336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34336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24040" y="1330426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80348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80348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70053" y="1330426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5">
                  <a:moveTo>
                    <a:pt x="0" y="0"/>
                  </a:moveTo>
                  <a:lnTo>
                    <a:pt x="67525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26356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26356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16060" y="1330426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5">
                  <a:moveTo>
                    <a:pt x="0" y="0"/>
                  </a:moveTo>
                  <a:lnTo>
                    <a:pt x="67530" y="0"/>
                  </a:lnTo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72368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2368" y="1314795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003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7944" y="848360"/>
            <a:ext cx="118123" cy="100122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665008" y="830051"/>
            <a:ext cx="408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Municipality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9953" y="848360"/>
            <a:ext cx="118122" cy="10012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457018" y="829810"/>
            <a:ext cx="384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Community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9962" y="848360"/>
            <a:ext cx="118122" cy="10012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3177032" y="835880"/>
            <a:ext cx="3067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3F3F3F"/>
                </a:solidFill>
                <a:latin typeface="Calibri"/>
                <a:cs typeface="Calibri"/>
              </a:rPr>
              <a:t>Off-</a:t>
            </a: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chain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7" name="object 4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29971" y="848360"/>
            <a:ext cx="118122" cy="10012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3897045" y="835880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3F3F3F"/>
                </a:solidFill>
                <a:latin typeface="Calibri"/>
                <a:cs typeface="Calibri"/>
              </a:rPr>
              <a:t>On-chain</a:t>
            </a:r>
            <a:endParaRPr sz="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4750970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43570"/>
            <a:ext cx="3903345" cy="3507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dirty="0" err="1"/>
              <a:t>CivicProject: the project state machine</a:t>
            </a:r>
            <a:endParaRPr dirty="0"/>
          </a:p>
          <a:p>
            <a:pPr marL="12700">
              <a:lnSpc>
                <a:spcPts val="1040"/>
              </a:lnSpc>
            </a:pPr>
            <a:r>
              <a:rPr sz="900" b="0" dirty="0">
                <a:latin typeface="Calibri"/>
                <a:cs typeface="Calibri"/>
              </a:rPr>
              <a:t>7 Backup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750" name="Entry"/>
          <p:cNvSpPr/>
          <p:nvPr/>
        </p:nvSpPr>
        <p:spPr>
          <a:xfrm>
            <a:off x="342900" y="1270000"/>
            <a:ext cx="101600" cy="101600"/>
          </a:xfrm>
          <a:prstGeom prst="ellipse">
            <a:avLst/>
          </a:prstGeom>
          <a:solidFill>
            <a:srgbClr val="003576"/>
          </a:solidFill>
          <a:ln>
            <a:noFill/>
          </a:ln>
        </p:spPr>
        <p:txBody>
          <a:bodyPr/>
          <a:lstStyle/>
          <a:p>
            <a:endParaRPr lang="en-US" sz="500"/>
          </a:p>
        </p:txBody>
      </p:sp>
      <p:sp>
        <p:nvSpPr>
          <p:cNvPr id="751" name="State Proposed"/>
          <p:cNvSpPr/>
          <p:nvPr/>
        </p:nvSpPr>
        <p:spPr>
          <a:xfrm>
            <a:off x="635000" y="11684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Proposed</a:t>
            </a:r>
          </a:p>
        </p:txBody>
      </p:sp>
      <p:sp>
        <p:nvSpPr>
          <p:cNvPr id="752" name="State Voting"/>
          <p:cNvSpPr/>
          <p:nvPr/>
        </p:nvSpPr>
        <p:spPr>
          <a:xfrm>
            <a:off x="1638300" y="11684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Voting</a:t>
            </a:r>
          </a:p>
        </p:txBody>
      </p:sp>
      <p:sp>
        <p:nvSpPr>
          <p:cNvPr id="753" name="State Funded"/>
          <p:cNvSpPr/>
          <p:nvPr/>
        </p:nvSpPr>
        <p:spPr>
          <a:xfrm>
            <a:off x="2641600" y="11684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Funded</a:t>
            </a:r>
          </a:p>
        </p:txBody>
      </p:sp>
      <p:sp>
        <p:nvSpPr>
          <p:cNvPr id="754" name="State Submitted"/>
          <p:cNvSpPr/>
          <p:nvPr/>
        </p:nvSpPr>
        <p:spPr>
          <a:xfrm>
            <a:off x="3644900" y="11684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Submitted</a:t>
            </a:r>
          </a:p>
        </p:txBody>
      </p:sp>
      <p:sp>
        <p:nvSpPr>
          <p:cNvPr id="755" name="State Confirmed"/>
          <p:cNvSpPr/>
          <p:nvPr/>
        </p:nvSpPr>
        <p:spPr>
          <a:xfrm>
            <a:off x="4648200" y="11684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CDFAE1"/>
          </a:solidFill>
          <a:ln w="9525">
            <a:solidFill>
              <a:srgbClr val="0E8A58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4628"/>
                </a:solidFill>
                <a:latin typeface="Calibri"/>
                <a:cs typeface="Calibri"/>
              </a:rPr>
              <a:t>Confirmed</a:t>
            </a:r>
          </a:p>
        </p:txBody>
      </p:sp>
      <p:sp>
        <p:nvSpPr>
          <p:cNvPr id="756" name="State Archived"/>
          <p:cNvSpPr/>
          <p:nvPr/>
        </p:nvSpPr>
        <p:spPr>
          <a:xfrm>
            <a:off x="1638300" y="20320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 w="9525">
            <a:solidFill>
              <a:srgbClr val="7F7F7F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Calibri"/>
                <a:cs typeface="Calibri"/>
              </a:rPr>
              <a:t>Archived</a:t>
            </a:r>
          </a:p>
        </p:txBody>
      </p:sp>
      <p:sp>
        <p:nvSpPr>
          <p:cNvPr id="757" name="State Expired"/>
          <p:cNvSpPr/>
          <p:nvPr/>
        </p:nvSpPr>
        <p:spPr>
          <a:xfrm>
            <a:off x="2641600" y="20320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 w="9525">
            <a:solidFill>
              <a:srgbClr val="7F7F7F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Calibri"/>
                <a:cs typeface="Calibri"/>
              </a:rPr>
              <a:t>Expired</a:t>
            </a:r>
          </a:p>
        </p:txBody>
      </p:sp>
      <p:sp>
        <p:nvSpPr>
          <p:cNvPr id="758" name="State Challenged"/>
          <p:cNvSpPr/>
          <p:nvPr/>
        </p:nvSpPr>
        <p:spPr>
          <a:xfrm>
            <a:off x="3644900" y="20320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FF5"/>
          </a:solidFill>
          <a:ln w="9525">
            <a:solidFill>
              <a:srgbClr val="003576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003576"/>
                </a:solidFill>
                <a:latin typeface="Calibri"/>
                <a:cs typeface="Calibri"/>
              </a:rPr>
              <a:t>Challenged</a:t>
            </a:r>
          </a:p>
        </p:txBody>
      </p:sp>
      <p:sp>
        <p:nvSpPr>
          <p:cNvPr id="759" name="State Rejected"/>
          <p:cNvSpPr/>
          <p:nvPr/>
        </p:nvSpPr>
        <p:spPr>
          <a:xfrm>
            <a:off x="4648200" y="2032000"/>
            <a:ext cx="787400" cy="3048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 w="9525">
            <a:solidFill>
              <a:srgbClr val="7F7F7F"/>
            </a:solidFill>
          </a:ln>
        </p:spPr>
        <p:txBody>
          <a:bodyPr wrap="square" lIns="12700" tIns="12700" rIns="12700" bIns="12700" anchor="ctr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Calibri"/>
                <a:cs typeface="Calibri"/>
              </a:rPr>
              <a:t>Rejected</a:t>
            </a:r>
          </a:p>
        </p:txBody>
      </p:sp>
      <p:sp>
        <p:nvSpPr>
          <p:cNvPr id="760" name="Transition"/>
          <p:cNvSpPr/>
          <p:nvPr/>
        </p:nvSpPr>
        <p:spPr>
          <a:xfrm>
            <a:off x="469900" y="1320800"/>
            <a:ext cx="1397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61" name="Label"/>
          <p:cNvSpPr/>
          <p:nvPr/>
        </p:nvSpPr>
        <p:spPr>
          <a:xfrm>
            <a:off x="177800" y="965200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propose()</a:t>
            </a:r>
          </a:p>
        </p:txBody>
      </p:sp>
      <p:sp>
        <p:nvSpPr>
          <p:cNvPr id="762" name="Transition"/>
          <p:cNvSpPr/>
          <p:nvPr/>
        </p:nvSpPr>
        <p:spPr>
          <a:xfrm>
            <a:off x="1422400" y="1320800"/>
            <a:ext cx="203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63" name="Transition"/>
          <p:cNvSpPr/>
          <p:nvPr/>
        </p:nvSpPr>
        <p:spPr>
          <a:xfrm>
            <a:off x="2425700" y="1320800"/>
            <a:ext cx="203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64" name="Transition"/>
          <p:cNvSpPr/>
          <p:nvPr/>
        </p:nvSpPr>
        <p:spPr>
          <a:xfrm>
            <a:off x="3429000" y="1320800"/>
            <a:ext cx="203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65" name="Transition"/>
          <p:cNvSpPr/>
          <p:nvPr/>
        </p:nvSpPr>
        <p:spPr>
          <a:xfrm>
            <a:off x="4432300" y="1320800"/>
            <a:ext cx="203200" cy="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66" name="Label"/>
          <p:cNvSpPr/>
          <p:nvPr/>
        </p:nvSpPr>
        <p:spPr>
          <a:xfrm>
            <a:off x="1047750" y="9652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consentToTeam()</a:t>
            </a:r>
          </a:p>
        </p:txBody>
      </p:sp>
      <p:sp>
        <p:nvSpPr>
          <p:cNvPr id="767" name="Label"/>
          <p:cNvSpPr/>
          <p:nvPr/>
        </p:nvSpPr>
        <p:spPr>
          <a:xfrm>
            <a:off x="2051050" y="9652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closeVoting()</a:t>
            </a:r>
          </a:p>
        </p:txBody>
      </p:sp>
      <p:sp>
        <p:nvSpPr>
          <p:cNvPr id="768" name="Label"/>
          <p:cNvSpPr/>
          <p:nvPr/>
        </p:nvSpPr>
        <p:spPr>
          <a:xfrm>
            <a:off x="3054350" y="9652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submitEvidence()</a:t>
            </a:r>
          </a:p>
        </p:txBody>
      </p:sp>
      <p:sp>
        <p:nvSpPr>
          <p:cNvPr id="769" name="Label"/>
          <p:cNvSpPr/>
          <p:nvPr/>
        </p:nvSpPr>
        <p:spPr>
          <a:xfrm>
            <a:off x="4057650" y="965200"/>
            <a:ext cx="965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confirmOptimistic()</a:t>
            </a:r>
          </a:p>
        </p:txBody>
      </p:sp>
      <p:sp>
        <p:nvSpPr>
          <p:cNvPr id="770" name="Transition"/>
          <p:cNvSpPr/>
          <p:nvPr/>
        </p:nvSpPr>
        <p:spPr>
          <a:xfrm>
            <a:off x="2032000" y="1473200"/>
            <a:ext cx="0" cy="546100"/>
          </a:xfrm>
          <a:prstGeom prst="line">
            <a:avLst/>
          </a:prstGeom>
          <a:ln w="9525" cap="rnd">
            <a:solidFill>
              <a:srgbClr val="7F7F7F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71" name="Label"/>
          <p:cNvSpPr/>
          <p:nvPr/>
        </p:nvSpPr>
        <p:spPr>
          <a:xfrm>
            <a:off x="2070099" y="1689100"/>
            <a:ext cx="673099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onsolas"/>
                <a:cs typeface="Consolas"/>
              </a:rPr>
              <a:t>closeVoting()</a:t>
            </a:r>
          </a:p>
        </p:txBody>
      </p:sp>
      <p:sp>
        <p:nvSpPr>
          <p:cNvPr id="772" name="Transition"/>
          <p:cNvSpPr/>
          <p:nvPr/>
        </p:nvSpPr>
        <p:spPr>
          <a:xfrm>
            <a:off x="3035300" y="1473200"/>
            <a:ext cx="0" cy="546100"/>
          </a:xfrm>
          <a:prstGeom prst="line">
            <a:avLst/>
          </a:prstGeom>
          <a:ln w="9525" cap="rnd">
            <a:solidFill>
              <a:srgbClr val="7F7F7F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73" name="Label"/>
          <p:cNvSpPr/>
          <p:nvPr/>
        </p:nvSpPr>
        <p:spPr>
          <a:xfrm>
            <a:off x="3073400" y="16891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onsolas"/>
                <a:cs typeface="Consolas"/>
              </a:rPr>
              <a:t>expire()</a:t>
            </a:r>
          </a:p>
        </p:txBody>
      </p:sp>
      <p:sp>
        <p:nvSpPr>
          <p:cNvPr id="774" name="Transition"/>
          <p:cNvSpPr/>
          <p:nvPr/>
        </p:nvSpPr>
        <p:spPr>
          <a:xfrm>
            <a:off x="4038600" y="1473200"/>
            <a:ext cx="0" cy="54610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75" name="Label"/>
          <p:cNvSpPr/>
          <p:nvPr/>
        </p:nvSpPr>
        <p:spPr>
          <a:xfrm>
            <a:off x="4057650" y="16891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challenge()</a:t>
            </a:r>
          </a:p>
        </p:txBody>
      </p:sp>
      <p:sp>
        <p:nvSpPr>
          <p:cNvPr id="776" name="Transition"/>
          <p:cNvSpPr/>
          <p:nvPr/>
        </p:nvSpPr>
        <p:spPr>
          <a:xfrm flipV="1">
            <a:off x="4432300" y="1485900"/>
            <a:ext cx="292100" cy="622300"/>
          </a:xfrm>
          <a:prstGeom prst="line">
            <a:avLst/>
          </a:prstGeom>
          <a:ln w="9525" cap="rnd">
            <a:solidFill>
              <a:srgbClr val="003576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77" name="Label"/>
          <p:cNvSpPr/>
          <p:nvPr/>
        </p:nvSpPr>
        <p:spPr>
          <a:xfrm>
            <a:off x="4691495" y="1620693"/>
            <a:ext cx="1139537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700" dirty="0">
                <a:solidFill>
                  <a:srgbClr val="003576"/>
                </a:solidFill>
                <a:latin typeface="Consolas"/>
                <a:cs typeface="Consolas"/>
              </a:rPr>
              <a:t>resolveChallenge(true)</a:t>
            </a:r>
          </a:p>
        </p:txBody>
      </p:sp>
      <p:sp>
        <p:nvSpPr>
          <p:cNvPr id="778" name="Transition"/>
          <p:cNvSpPr/>
          <p:nvPr/>
        </p:nvSpPr>
        <p:spPr>
          <a:xfrm>
            <a:off x="4432300" y="2184400"/>
            <a:ext cx="203200" cy="0"/>
          </a:xfrm>
          <a:prstGeom prst="line">
            <a:avLst/>
          </a:prstGeom>
          <a:ln w="9525" cap="rnd">
            <a:solidFill>
              <a:srgbClr val="7F7F7F"/>
            </a:solidFill>
            <a:tailEnd type="triangle" w="sm" len="sm"/>
          </a:ln>
        </p:spPr>
        <p:txBody>
          <a:bodyPr/>
          <a:lstStyle/>
          <a:p>
            <a:endParaRPr lang="en-US" sz="500"/>
          </a:p>
        </p:txBody>
      </p:sp>
      <p:sp>
        <p:nvSpPr>
          <p:cNvPr id="779" name="Label"/>
          <p:cNvSpPr/>
          <p:nvPr/>
        </p:nvSpPr>
        <p:spPr>
          <a:xfrm>
            <a:off x="3810000" y="2438400"/>
            <a:ext cx="1460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onsolas"/>
                <a:cs typeface="Consolas"/>
              </a:rPr>
              <a:t>resolveChallenge(false)</a:t>
            </a:r>
          </a:p>
        </p:txBody>
      </p:sp>
    </p:spTree>
    <p:extLst>
      <p:ext uri="{BB962C8B-B14F-4D97-AF65-F5344CB8AC3E}">
        <p14:creationId xmlns:p14="http://schemas.microsoft.com/office/powerpoint/2010/main" val="2522676403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 [1789664768769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E93DEED-C570-4A04-8A9F-E2A943F7CD68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a2ced25e-9abb-4ec6-85ba-7bd636914ec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D6F0157-ED67-4219-8D4B-AE9882F80AF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a1231bb3-e440-480f-8289-822e90d8c1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2189</Words>
  <Application>Microsoft Office PowerPoint</Application>
  <PresentationFormat>Custom</PresentationFormat>
  <Paragraphs>482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PMingLiU-ExtB</vt:lpstr>
      <vt:lpstr>Arial</vt:lpstr>
      <vt:lpstr>Calibri</vt:lpstr>
      <vt:lpstr>Cambria</vt:lpstr>
      <vt:lpstr>Consolas</vt:lpstr>
      <vt:lpstr>Times New Roman</vt:lpstr>
      <vt:lpstr>Office Theme [1789664768769]</vt:lpstr>
      <vt:lpstr>CivicDAO</vt:lpstr>
      <vt:lpstr>Outline</vt:lpstr>
      <vt:lpstr>DAOs in a nutshell 1 Background</vt:lpstr>
      <vt:lpstr>Existing approaches and their limits 2 State of the art</vt:lpstr>
      <vt:lpstr>Research question 2 State of the art</vt:lpstr>
      <vt:lpstr>CivicDAO</vt:lpstr>
      <vt:lpstr>What can a neighborhood do with CivicDAO?</vt:lpstr>
      <vt:lpstr>Architecture 4 Implementation</vt:lpstr>
      <vt:lpstr>CitizenshipSBT.sol 4 Implementation</vt:lpstr>
      <vt:lpstr>ParticipatoryBudget.sol 4 Implementation</vt:lpstr>
      <vt:lpstr>CivicProject.sol 4 Implementation</vt:lpstr>
      <vt:lpstr>Rewards and the closed-loop economy 4 Implementation</vt:lpstr>
      <vt:lpstr>Limitations and future work 6 Conclusions</vt:lpstr>
      <vt:lpstr>CivicDAO</vt:lpstr>
      <vt:lpstr>Limitations 7 Backup</vt:lpstr>
      <vt:lpstr>Why blockchain, if the Municipality can still refuse? 7 Backup</vt:lpstr>
      <vt:lpstr>Tokens and MiCA 7 Backup</vt:lpstr>
      <vt:lpstr>Closed-loop community credit 7 Backup</vt:lpstr>
      <vt:lpstr>Reputation: lazy decay 7 Backup</vt:lpstr>
      <vt:lpstr>Ballot secrecy and collusion 7 Backup</vt:lpstr>
      <vt:lpstr>Organizational bodies 7 Backup</vt:lpstr>
      <vt:lpstr>Parameters 7 Backup</vt:lpstr>
      <vt:lpstr>Onboarding: one resident, one token 4 Implementation</vt:lpstr>
      <vt:lpstr>Keeping the Municipality in check</vt:lpstr>
      <vt:lpstr>Answering the research questions 7 Backup</vt:lpstr>
      <vt:lpstr>ParticipatoryBudget: round and outcome states 7 Backup</vt:lpstr>
      <vt:lpstr>Private flow 3 Design</vt:lpstr>
      <vt:lpstr>Public flow: participatory budgeting 3 Design</vt:lpstr>
      <vt:lpstr>CivicProject: the project state machine 7 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CivicDAO - Design and Implementation of a Neighbourhood DAO for the Participatory Governance of Common Goods</dc:title>
  <dc:creator>Andrea Bobò</dc:creator>
  <cp:lastModifiedBy>Andrea Bobo</cp:lastModifiedBy>
  <cp:revision>11</cp:revision>
  <dcterms:created xsi:type="dcterms:W3CDTF">2026-09-16T11:46:35Z</dcterms:created>
  <dcterms:modified xsi:type="dcterms:W3CDTF">2026-09-23T17:11:27Z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2026-09-16T00:00:00Z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(20220710)</vt:lpwstr>
  </property>
  <property fmtid="{D5CDD505-2E9C-101B-9397-08002B2CF9AE}" pid="6" name="LastSaved">
    <vt:filetime>2026-09-16T00:00:00Z</vt:filetime>
  </property>
</Properties>
</file>